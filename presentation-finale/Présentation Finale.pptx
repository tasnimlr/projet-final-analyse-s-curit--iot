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70" r:id="rId4"/>
    <p:sldId id="258" r:id="rId5"/>
    <p:sldId id="259" r:id="rId6"/>
    <p:sldId id="269" r:id="rId7"/>
    <p:sldId id="275" r:id="rId8"/>
    <p:sldId id="272" r:id="rId9"/>
    <p:sldId id="281" r:id="rId10"/>
    <p:sldId id="273" r:id="rId11"/>
    <p:sldId id="265" r:id="rId12"/>
    <p:sldId id="279" r:id="rId13"/>
    <p:sldId id="280" r:id="rId14"/>
    <p:sldId id="266" r:id="rId15"/>
    <p:sldId id="276" r:id="rId16"/>
    <p:sldId id="277" r:id="rId17"/>
    <p:sldId id="278"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5882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Nous allons plonger dans un audit de sécurité critique d'OpenPLC Runtime v3, une plateforme open-source au cœur de nombreux environnements IIoT. Ce rapport, classifié confidentiel, révèle des vulnérabilités majeures, dont une avec un score CVSS de 9.8, soulignant l'urgence de nos découvertes. Nous avons analysé la version OpenPLC v3 sur un environnement Ubuntu 24.04 LTS, en nous basant sur un commit spécifique pour garantir la reproductibilité de nos résultats. Notre objectif est de vous présenter une analyse technique approfondie des risques et des implications pour la sécurité industrielle. Nous allons maintenant examiner de plus près ce qu'est OpenPLC v3 et pourquoi il est une cible d'étude si pertinente.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OpenPLC v3 est une alternative open-source aux automates programmables industriels propriétaires, largement adoptée dans le monde académique et certains déploiements industriels. Sa double architecture, combinant une interface web Flask et un runtime C/C++, offre une surface d'attaque complexe et intéressante. Nous voyons ici les détails techniques de cette plateforme, y compris les ports exposés pour Modbus/TCP et EtherNet/IP, des protocoles cruciaux en environnement OT. Le fait qu'il soit utilisé dans l'enseignement et la recherche, mais aussi dans des déploiements réels, rend ses vulnérabilités particulièrement préoccupantes pour la sécurité de l'IIoT. Comprendre cette architecture est fondamental pour appréhender les risques que nous avons identifiés. Passons maintenant à la méthodologie que nous avons employée pour cet audit.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audit a suivi une méthodologie rigoureuse en trois phases, alignée sur les bonnes pratiques CISA pour les systèmes de contrôle industriels. La première phase, l'analyse statique, a consisté à scruter le code source pour y déceler des patterns dangereux et des configurations non sécurisées. Ensuite, la reconnaissance réseau a permis d'identifier les services exposés et de tester leur robustesse. Enfin, la corrélation CVE a validé nos découvertes par rapport aux bases de données de vulnérabilités existantes. Les résultats de nos scripts automatisés confirment la profondeur de notre analyse, avec un rapport détaillé de 413 lignes. Cette approche structurée nous a permis de découvrir un nombre significatif de vulnérabilités. Voyons maintenant le tableau de bord des risques que nous avons compilé.</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tableau de bord synthétise nos découvertes : nous avons documenté neuf vulnérabilités CVE, ce qui nous donne un score de maturité global de 4.2 sur 10, un niveau clairement insuffisant pour un environnement de production. Parmi ces vulnérabilités, deux sont critiques, avec des scores CVSS supérieurs à 9.0, et cinq sont élevées. Il est alarmant de constater que la majorité des vecteurs d'attaque sont réseau et non authentifiés, ce qui expose l'OpenPLC à des attaques sans prérequis d'accès. Cela signifie qu'un attaquant peut potentiellement compromettre le système sans même avoir de compte. Nous allons maintenant nous concentrer sur la première de ces vulnérabilités critiques, la CVE-2021-31630.</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32467440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EB0DA-EF23-5286-65DB-B994BFC63E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E11322-E660-CDF9-3DD1-773F1E942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AC746D-4A35-9A4A-C931-06C1A2F90E19}"/>
              </a:ext>
            </a:extLst>
          </p:cNvPr>
          <p:cNvSpPr>
            <a:spLocks noGrp="1"/>
          </p:cNvSpPr>
          <p:nvPr>
            <p:ph type="body" idx="1"/>
          </p:nvPr>
        </p:nvSpPr>
        <p:spPr/>
        <p:txBody>
          <a:bodyPr/>
          <a:lstStyle/>
          <a:p>
            <a:r>
              <a:rPr lang="en-US" dirty="0"/>
              <a:t>Nous avons découvert une vulnérabilité critique d'une gravité extrême : un accès root sans mot de passe. L'extraction du firmware a révélé que le fichier /etc/shadow contient une entrée vide pour l'utilisateur root. Cela signifie que n'importe qui peut obtenir les privilèges les plus élevés sur le système sans aucune authentification. Cette faille représente une élévation de privilèges (STRIDE) avec un score CVSS de 9.8. Un attaquant, même avec un accès local limité, peut instantanément devenir root, compromettant l'intégralité du système. C'est une erreur de configuration fondamentale qui ouvre la porte à un contrôle total. Nous allons maintenant voir comment toutes ces vulnérabilités impactent le modèle Purdue.</a:t>
            </a:r>
          </a:p>
        </p:txBody>
      </p:sp>
      <p:sp>
        <p:nvSpPr>
          <p:cNvPr id="4" name="Slide Number Placeholder 3">
            <a:extLst>
              <a:ext uri="{FF2B5EF4-FFF2-40B4-BE49-F238E27FC236}">
                <a16:creationId xmlns:a16="http://schemas.microsoft.com/office/drawing/2014/main" id="{95E732E1-0FB9-EBD4-C867-1E7ECD854FFA}"/>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541961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allons maintenant explorer une menace très concrète : le sabotage Modbus par altération des registres. Cette vulnérabilité est classée comme du Tampering, une altération des données qui peut avoir des conséquences physiques désastreuses. L'absence d'authentification sur le protocole Modbus/TCP permet à un attaquant d'écrire directement dans les registres de l'automate. Cela peut entraîner une manipulation directe des vannes et des actionneurs, provoquant un arrêt de production immédiat ou un risque cinétique majeur. Pour notre preuve de concept, nous avons utilisé pymodbus pour simuler un environnement industriel et manipuler ces registres. Cela met en lumière un risque critique avec un score CVSS de 9.0, menaçant directement la sécurité physique des installations. Nous allons maintenant voir une démonstration concrète de cet accès direct aux registres PLC.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facilité de découverte des failles est un point crucial. Un simple scan Nmap nous a permis d'identifier l'interface d'administration Flask sur le port 8080. Plus inquiétant, les ports industriels 502 et 44818, bien que fermés par défaut, sont configurables via cette même interface. Le fingerprinting du serveur révèle la version exacte de Werkzeug et Python, des informations précieuses pour un attaquant. Ces données peuvent être utilisées pour cibler des vulnérabilités connues spécifiques à ces versions. Cette exposition de services et de versions est une porte ouverte pour des attaques ciblées. Et ce n'est pas le seul problème lié à l'interface web.</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chaîne d'attaque critique démontre comment un attaquant peut passer d'un simple déni de service à une prise de contrôle totale. L'attaquant commence par saboter le processus industriel en arrêtant le PLC et en effaçant sa logique de contrôle. Il remplace le programme par un programme vide, ce qui a un impact direct et potentiellement irréversible sur la production. Ensuite, il exploite une vulnérabilité dans la fonction popen() via /start_plc pour exécuter du code arbitraire. Cela lui permet d'obtenir des privilèges root, comme le prouve le contenu de /tmp/pwned.txt. Cette escalade est rendue possible par l'absence de vérification CSRF et le fait que le service s'exécute avec des privilèges root, violant ainsi le principe de moindre privilège. C'est une combinaison dévastatrice qui permet un sabotage physique et une persistance sur le réseau industriel. Et ce n'est pas la seule faille de sécurité que nous avons découverte.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L'absence critique de headers de sécurité HTTP est une faille inacceptable pour une interface d'administration. Notre analyse des réponses HTTP montre une absence totale de ces protections modernes. Cela signifie que l'interface ne respecte pas les standards de sécurité web de l'OWASP, ce qui facilite l'exploitation de failles classiques. Sans X-Frame-Options, le clickjacking est possible. L'absence de Content-Security-Policy ouvre la porte aux attaques XSS. De même, l'absence de X-Content-Type-Options et de Strict-Transport-Security expose à des risques de MIME sniffing et de downgrade HTTPS. Ces lacunes sont des invitations ouvertes pour les attaquants. Et ce n'est pas le seul problème de configuration que nous avons trouvé.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Purdue est un standard pour la segmentation des réseaux industriels, mais ici, nous voyons une violation flagrante de ses principes. L'architecture d'OpenPLC v3 fusionne les niveaux de supervision et de contrôle, créant un point de défaillance unique. Une compromission de l'interface web au niveau 2, par exemple via la CVE-2021-47770, expose directement le runtime PLC au niveau 1. Cela signifie que l'attaquant peut manipuler les sorties physiques, comme des vannes ou des moteurs, ce qui peut entraîner des dommages matériels ou humains. De plus, les vulnérabilités de déni de service peuvent crasher le PLC, arrêtant la production et causant des pertes financières. Enfin, l'accès à la base de données SQLite permet le vol de propriété intellectuelle, comme les programmes ladder, ce qui constitue un risque d'espionnage industriel. Nous devons donc mettre en place une défense en profondeur pour protéger ces systèmes critiques.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693034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section justifie nos choix d'infrastructure pour la simulation, en mettant l'accent sur la scalabilité. Nous avons opté pour la conteneurisation via Docker pour isoler chaque instance OpenPLC, ce qui facilite un déploiement massif et une gestion indépendante. Cette approche permet une scalabilité horizontale, essentielle pour des environnements IIoT complexes. Le positionnement en Edge Computing assure une latence minimale, cruciale pour les protocoles industriels comme Modbus et EtherNet/IP. Il est important de noter que ces tests sont réalisés dans un environnement virtuel, ce qui nous permet d'étudier les vulnérabilités sans aucun risque pour une infrastructure de production réelle. Nous allons maintenant aborder les contrôles de sécurité spécifiques que nous avons mis en place pour réduire la surface d'exposition.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réduire la surface d'exposition dans un environnement IIoT, nous avons identifié trois vecteurs d'attaque majeurs : l'interface web, Modbus et EtherNet/IP. Une segmentation réseau stricte est primordiale, utilisant des VLANs et des pare-feux industriels pour séparer les réseaux IT et OT. Nous déployons des contrôles de protection actifs comme un WAF pour l'interface Flask, un VPN industriel pour l'accès distant sécurisé, et des IDS/IPS OT pour surveiller le trafic Modbus. L'authentification multi-facteurs est également essentielle pour l'administration. Ces mesures réduisent drastiquement la surface d'attaque et confinent les menaces, empêchant toute propagation latérale. Passons maintenant aux commandes d'audit et de reconnaissance web que nous avons utilisées.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contrer ces menaces, nous proposons un plan de remédiation structuré en trois horizons temporels, basé sur le principe de défense en profondeur. Immédiatement, dans les sept jours, il est crucial de changer les identifiants par défaut et d'isoler les ports Modbus et EtherNet/IP via des règles de pare-feu. À court terme, dans les trois mois, nous devons sécuriser l'interface web avec des en-têtes HTTP appropriés et segmenter le réseau en plaçant le PLC dans un VLAN OT dédié. À moyen terme, sur six mois, une refonte du code C/C++ est nécessaire pour remplacer les fonctions dangereuses par leurs équivalents sécurisés, et nous devons déployer des solutions de monitoring ICS. Ces mesures sont essentielles pour élever le niveau de sécurité d'OpenPLC v3 et le rendre acceptable pour un environnement de production.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54545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détaillé les risques, nous passons maintenant aux annexes techniques, en commençant par la boîte à outils utilisée pour cet audit. Ces outils sont les piliers de toute évaluation de sécurité ICS/SCADA. Nmap nous a permis une reconnaissance réseau approfondie, identifiant les services et leurs versions. Nikto a ciblé les vulnérabilités web, tandis que Curl a été essentiel pour interagir directement avec l'interface HTTP. Enfin, Sqlite3 nous a donné un accès direct à la base de données interne pour extraire des informations cruciales. Ces instruments sont indispensables pour une analyse rigoureuse. Nous allons maintenant voir les commandes spécifiques utilisées avec ces outils.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la continuité de notre boîte à outils, voici les commandes d'audit et de reconnaissance web que nous avons exécutées. Ces exemples concrets illustrent comment nous avons appliqué les outils précédemment mentionnés pour identifier les vulnérabilités. Vous voyez ici des commandes Nmap pour le scan de ports, des requêtes Curl pour analyser les headers HTTP et tester l'authentification, et enfin Nikto pour un scan de vulnérabilités web automatisé. Ces commandes sont cruciales pour comprendre les étapes pratiques de notre audit. Ensuite, nous examinerons les informations extraites des dumps de configuration et de base de données.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Enfin, cette annexe présente des extraits des dumps de configuration et de base de données, des artefacts essentiels pour l'analyse post-mortem. Ces dumps confirment la présence des identifiants par défaut et des configurations de ports que nous avons exploitées. Vous pouvez voir la structure de la table 'Users' et les données réelles, y compris les identifiants 'openplc/openplc'. De même, la table 'Settings' révèle les ports Modbus et EtherNet/IP configurés. Ces informations sont vitales pour comprendre l'état initial du système et valider nos découvertes. Elles soulignent l'importance de ne jamais laisser de configurations par défaut dans un environnement de production.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1.jpe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jpeg"/><Relationship Id="rId7" Type="http://schemas.openxmlformats.org/officeDocument/2006/relationships/image" Target="../media/image4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0.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0.jpeg"/><Relationship Id="rId7" Type="http://schemas.openxmlformats.org/officeDocument/2006/relationships/image" Target="../media/image5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56.png"/></Relationships>
</file>

<file path=ppt/slides/_rels/slide11.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11.jpeg"/><Relationship Id="rId7"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 Id="rId9" Type="http://schemas.openxmlformats.org/officeDocument/2006/relationships/image" Target="../media/image62.png"/></Relationships>
</file>

<file path=ppt/slides/_rels/slide1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5.png"/><Relationship Id="rId4" Type="http://schemas.openxmlformats.org/officeDocument/2006/relationships/image" Target="../media/image64.png"/></Relationships>
</file>

<file path=ppt/slides/_rels/slide13.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11.jpe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_rels/slide14.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8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86.png"/><Relationship Id="rId4" Type="http://schemas.openxmlformats.org/officeDocument/2006/relationships/image" Target="../media/image85.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7034"/>
            <a:ext cx="9144000" cy="5143500"/>
          </a:xfrm>
          <a:prstGeom prst="rect">
            <a:avLst/>
          </a:prstGeom>
        </p:spPr>
      </p:pic>
      <p:pic>
        <p:nvPicPr>
          <p:cNvPr id="7" name="Image 2" descr="preencoded.png"/>
          <p:cNvPicPr>
            <a:picLocks noChangeAspect="1"/>
          </p:cNvPicPr>
          <p:nvPr/>
        </p:nvPicPr>
        <p:blipFill>
          <a:blip r:embed="rId4"/>
          <a:stretch>
            <a:fillRect/>
          </a:stretch>
        </p:blipFill>
        <p:spPr>
          <a:xfrm>
            <a:off x="7286625" y="2428875"/>
            <a:ext cx="1285875" cy="1285875"/>
          </a:xfrm>
          <a:prstGeom prst="rect">
            <a:avLst/>
          </a:prstGeom>
        </p:spPr>
      </p:pic>
      <p:pic>
        <p:nvPicPr>
          <p:cNvPr id="8" name="Image 3" descr="preencoded.png"/>
          <p:cNvPicPr>
            <a:picLocks noChangeAspect="1"/>
          </p:cNvPicPr>
          <p:nvPr/>
        </p:nvPicPr>
        <p:blipFill>
          <a:blip r:embed="rId5"/>
          <a:stretch>
            <a:fillRect/>
          </a:stretch>
        </p:blipFill>
        <p:spPr>
          <a:xfrm>
            <a:off x="1143000" y="1317129"/>
            <a:ext cx="200025" cy="171450"/>
          </a:xfrm>
          <a:prstGeom prst="rect">
            <a:avLst/>
          </a:prstGeom>
        </p:spPr>
      </p:pic>
      <p:sp>
        <p:nvSpPr>
          <p:cNvPr id="9" name="Text 2"/>
          <p:cNvSpPr/>
          <p:nvPr/>
        </p:nvSpPr>
        <p:spPr>
          <a:xfrm>
            <a:off x="1450181" y="1285875"/>
            <a:ext cx="1384353" cy="194092"/>
          </a:xfrm>
          <a:prstGeom prst="rect">
            <a:avLst/>
          </a:prstGeom>
          <a:noFill/>
          <a:ln/>
        </p:spPr>
        <p:txBody>
          <a:bodyPr wrap="none" lIns="0" tIns="0" rIns="0" bIns="0" rtlCol="0" anchor="t">
            <a:spAutoFit/>
          </a:bodyPr>
          <a:lstStyle/>
          <a:p>
            <a:pPr marL="0" indent="0" algn="l">
              <a:lnSpc>
                <a:spcPts val="1600"/>
              </a:lnSpc>
              <a:buNone/>
            </a:pPr>
            <a:r>
              <a:rPr lang="en-US" sz="1193" b="1" kern="0" spc="3" dirty="0">
                <a:solidFill>
                  <a:srgbClr val="D32F2F"/>
                </a:solidFill>
                <a:latin typeface="Open Sans" pitchFamily="34" charset="0"/>
                <a:ea typeface="Open Sans" pitchFamily="34" charset="-122"/>
                <a:cs typeface="Open Sans" pitchFamily="34" charset="-120"/>
              </a:rPr>
              <a:t>RAPPORT D'AUDIT</a:t>
            </a:r>
            <a:endParaRPr lang="en-US" sz="1193" dirty="0"/>
          </a:p>
        </p:txBody>
      </p:sp>
      <p:sp>
        <p:nvSpPr>
          <p:cNvPr id="10" name="Text 3"/>
          <p:cNvSpPr/>
          <p:nvPr/>
        </p:nvSpPr>
        <p:spPr>
          <a:xfrm>
            <a:off x="1143000" y="1662708"/>
            <a:ext cx="7429500" cy="1697338"/>
          </a:xfrm>
          <a:prstGeom prst="rect">
            <a:avLst/>
          </a:prstGeom>
          <a:noFill/>
          <a:ln/>
        </p:spPr>
        <p:txBody>
          <a:bodyPr wrap="square" lIns="0" tIns="0" rIns="0" bIns="0" rtlCol="0" anchor="t">
            <a:spAutoFit/>
          </a:bodyPr>
          <a:lstStyle/>
          <a:p>
            <a:pPr marL="0" indent="0" algn="l">
              <a:lnSpc>
                <a:spcPts val="4500"/>
              </a:lnSpc>
              <a:buNone/>
            </a:pPr>
            <a:r>
              <a:rPr lang="en-US" sz="3731" b="1" dirty="0">
                <a:solidFill>
                  <a:srgbClr val="F5F5F5"/>
                </a:solidFill>
                <a:latin typeface="Roboto" pitchFamily="34" charset="0"/>
                <a:ea typeface="Roboto" pitchFamily="34" charset="-122"/>
                <a:cs typeface="Roboto" pitchFamily="34" charset="-120"/>
              </a:rPr>
              <a:t>AUDIT DE SÉCURITÉ
ICS/SCADA
</a:t>
            </a:r>
            <a:r>
              <a:rPr lang="en-US" sz="3731" b="1" dirty="0">
                <a:solidFill>
                  <a:srgbClr val="D32F2F"/>
                </a:solidFill>
                <a:latin typeface="Roboto" pitchFamily="34" charset="0"/>
                <a:ea typeface="Roboto" pitchFamily="34" charset="-122"/>
                <a:cs typeface="Roboto" pitchFamily="34" charset="-120"/>
              </a:rPr>
              <a:t>OPENPLC RUNTIME V3</a:t>
            </a:r>
            <a:endParaRPr lang="en-US" sz="3731" dirty="0"/>
          </a:p>
        </p:txBody>
      </p:sp>
      <p:sp>
        <p:nvSpPr>
          <p:cNvPr id="11" name="Text 4"/>
          <p:cNvSpPr/>
          <p:nvPr/>
        </p:nvSpPr>
        <p:spPr>
          <a:xfrm>
            <a:off x="1143000" y="3792410"/>
            <a:ext cx="5715000" cy="235129"/>
          </a:xfrm>
          <a:prstGeom prst="rect">
            <a:avLst/>
          </a:prstGeom>
          <a:noFill/>
          <a:ln/>
        </p:spPr>
        <p:txBody>
          <a:bodyPr wrap="square" lIns="170053" tIns="0" rIns="0" bIns="0" rtlCol="0" anchor="t">
            <a:spAutoFit/>
          </a:bodyPr>
          <a:lstStyle/>
          <a:p>
            <a:pPr marL="0" indent="0" algn="l">
              <a:lnSpc>
                <a:spcPts val="2000"/>
              </a:lnSpc>
              <a:buNone/>
            </a:pPr>
            <a:r>
              <a:rPr lang="en-US" sz="1269" dirty="0">
                <a:solidFill>
                  <a:srgbClr val="A0A0A0"/>
                </a:solidFill>
                <a:latin typeface="Open Sans" pitchFamily="34" charset="0"/>
                <a:ea typeface="Open Sans" pitchFamily="34" charset="-122"/>
                <a:cs typeface="Open Sans" pitchFamily="34" charset="-120"/>
              </a:rPr>
              <a:t>Analyse des </a:t>
            </a:r>
            <a:r>
              <a:rPr lang="en-US" sz="1269" dirty="0" err="1">
                <a:solidFill>
                  <a:srgbClr val="A0A0A0"/>
                </a:solidFill>
                <a:latin typeface="Open Sans" pitchFamily="34" charset="0"/>
                <a:ea typeface="Open Sans" pitchFamily="34" charset="-122"/>
                <a:cs typeface="Open Sans" pitchFamily="34" charset="-120"/>
              </a:rPr>
              <a:t>vulnérabilités</a:t>
            </a:r>
            <a:r>
              <a:rPr lang="en-US" sz="1269" dirty="0">
                <a:solidFill>
                  <a:srgbClr val="A0A0A0"/>
                </a:solidFill>
                <a:latin typeface="Open Sans" pitchFamily="34" charset="0"/>
                <a:ea typeface="Open Sans" pitchFamily="34" charset="-122"/>
                <a:cs typeface="Open Sans" pitchFamily="34" charset="-120"/>
              </a:rPr>
              <a:t> </a:t>
            </a:r>
            <a:r>
              <a:rPr lang="en-US" sz="1269" dirty="0" err="1">
                <a:solidFill>
                  <a:srgbClr val="A0A0A0"/>
                </a:solidFill>
                <a:latin typeface="Open Sans" pitchFamily="34" charset="0"/>
                <a:ea typeface="Open Sans" pitchFamily="34" charset="-122"/>
                <a:cs typeface="Open Sans" pitchFamily="34" charset="-120"/>
              </a:rPr>
              <a:t>d’OpenPLC</a:t>
            </a:r>
            <a:r>
              <a:rPr lang="en-US" sz="1269" dirty="0">
                <a:solidFill>
                  <a:srgbClr val="A0A0A0"/>
                </a:solidFill>
                <a:latin typeface="Open Sans" pitchFamily="34" charset="0"/>
                <a:ea typeface="Open Sans" pitchFamily="34" charset="-122"/>
                <a:cs typeface="Open Sans" pitchFamily="34" charset="-120"/>
              </a:rPr>
              <a:t> V3 – </a:t>
            </a:r>
            <a:r>
              <a:rPr lang="en-US" sz="1269" dirty="0" err="1">
                <a:solidFill>
                  <a:srgbClr val="A0A0A0"/>
                </a:solidFill>
                <a:latin typeface="Open Sans" pitchFamily="34" charset="0"/>
                <a:ea typeface="Open Sans" pitchFamily="34" charset="-122"/>
                <a:cs typeface="Open Sans" pitchFamily="34" charset="-120"/>
              </a:rPr>
              <a:t>Raffinerie</a:t>
            </a:r>
            <a:r>
              <a:rPr lang="en-US" sz="1269" dirty="0">
                <a:solidFill>
                  <a:srgbClr val="A0A0A0"/>
                </a:solidFill>
                <a:latin typeface="Open Sans" pitchFamily="34" charset="0"/>
                <a:ea typeface="Open Sans" pitchFamily="34" charset="-122"/>
                <a:cs typeface="Open Sans" pitchFamily="34" charset="-120"/>
              </a:rPr>
              <a:t> SCADA</a:t>
            </a:r>
            <a:endParaRPr lang="en-US" sz="1269" dirty="0"/>
          </a:p>
        </p:txBody>
      </p:sp>
      <p:sp>
        <p:nvSpPr>
          <p:cNvPr id="12" name="Shape 5"/>
          <p:cNvSpPr/>
          <p:nvPr/>
        </p:nvSpPr>
        <p:spPr>
          <a:xfrm>
            <a:off x="0" y="4221956"/>
            <a:ext cx="9144000" cy="921544"/>
          </a:xfrm>
          <a:prstGeom prst="rect">
            <a:avLst/>
          </a:prstGeom>
          <a:solidFill>
            <a:srgbClr val="242424"/>
          </a:solidFill>
          <a:ln/>
        </p:spPr>
        <p:txBody>
          <a:bodyPr/>
          <a:lstStyle/>
          <a:p>
            <a:endParaRPr lang="fr-FR" dirty="0"/>
          </a:p>
        </p:txBody>
      </p:sp>
      <p:sp>
        <p:nvSpPr>
          <p:cNvPr id="13" name="Shape 6"/>
          <p:cNvSpPr/>
          <p:nvPr/>
        </p:nvSpPr>
        <p:spPr>
          <a:xfrm>
            <a:off x="0" y="4221956"/>
            <a:ext cx="9144000" cy="14288"/>
          </a:xfrm>
          <a:prstGeom prst="rect">
            <a:avLst/>
          </a:prstGeom>
          <a:solidFill>
            <a:srgbClr val="D32F2F"/>
          </a:solidFill>
          <a:ln/>
        </p:spPr>
        <p:txBody>
          <a:bodyPr/>
          <a:lstStyle/>
          <a:p>
            <a:endParaRPr lang="fr-FR"/>
          </a:p>
        </p:txBody>
      </p:sp>
      <p:pic>
        <p:nvPicPr>
          <p:cNvPr id="14" name="Image 4" descr="preencoded.png"/>
          <p:cNvPicPr>
            <a:picLocks noChangeAspect="1"/>
          </p:cNvPicPr>
          <p:nvPr/>
        </p:nvPicPr>
        <p:blipFill>
          <a:blip r:embed="rId6"/>
          <a:stretch>
            <a:fillRect/>
          </a:stretch>
        </p:blipFill>
        <p:spPr>
          <a:xfrm>
            <a:off x="5081759" y="4600575"/>
            <a:ext cx="171450" cy="142875"/>
          </a:xfrm>
          <a:prstGeom prst="rect">
            <a:avLst/>
          </a:prstGeom>
        </p:spPr>
      </p:pic>
      <p:sp>
        <p:nvSpPr>
          <p:cNvPr id="15" name="Text 7"/>
          <p:cNvSpPr/>
          <p:nvPr/>
        </p:nvSpPr>
        <p:spPr>
          <a:xfrm>
            <a:off x="5336982" y="4612183"/>
            <a:ext cx="1053703" cy="155377"/>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E0E0E0"/>
                </a:solidFill>
                <a:latin typeface="Open Sans" pitchFamily="34" charset="0"/>
                <a:ea typeface="Open Sans" pitchFamily="34" charset="-122"/>
                <a:cs typeface="Open Sans" pitchFamily="34" charset="-120"/>
              </a:rPr>
              <a:t>Date :</a:t>
            </a:r>
            <a:r>
              <a:rPr lang="en-US" sz="834" dirty="0">
                <a:solidFill>
                  <a:srgbClr val="E0E0E0"/>
                </a:solidFill>
                <a:latin typeface="Open Sans" pitchFamily="34" charset="0"/>
                <a:ea typeface="Open Sans" pitchFamily="34" charset="-122"/>
                <a:cs typeface="Open Sans" pitchFamily="34" charset="-120"/>
              </a:rPr>
              <a:t> 03 Avril 2026</a:t>
            </a:r>
            <a:endParaRPr lang="en-US" sz="784" dirty="0"/>
          </a:p>
        </p:txBody>
      </p:sp>
      <p:pic>
        <p:nvPicPr>
          <p:cNvPr id="18" name="Image 6" descr="preencoded.png"/>
          <p:cNvPicPr>
            <a:picLocks noChangeAspect="1"/>
          </p:cNvPicPr>
          <p:nvPr/>
        </p:nvPicPr>
        <p:blipFill>
          <a:blip r:embed="rId7"/>
          <a:stretch>
            <a:fillRect/>
          </a:stretch>
        </p:blipFill>
        <p:spPr>
          <a:xfrm>
            <a:off x="5086350" y="4901950"/>
            <a:ext cx="162269" cy="142875"/>
          </a:xfrm>
          <a:prstGeom prst="rect">
            <a:avLst/>
          </a:prstGeom>
        </p:spPr>
      </p:pic>
      <p:sp>
        <p:nvSpPr>
          <p:cNvPr id="19" name="Text 9"/>
          <p:cNvSpPr/>
          <p:nvPr/>
        </p:nvSpPr>
        <p:spPr>
          <a:xfrm>
            <a:off x="5336982" y="4889449"/>
            <a:ext cx="3409606" cy="310753"/>
          </a:xfrm>
          <a:prstGeom prst="rect">
            <a:avLst/>
          </a:prstGeom>
          <a:noFill/>
          <a:ln/>
        </p:spPr>
        <p:txBody>
          <a:bodyPr wrap="square" lIns="0" tIns="0" rIns="0" bIns="0" rtlCol="0" anchor="t">
            <a:spAutoFit/>
          </a:bodyPr>
          <a:lstStyle/>
          <a:p>
            <a:pPr marL="0" indent="0" algn="l">
              <a:lnSpc>
                <a:spcPts val="1100"/>
              </a:lnSpc>
              <a:buNone/>
            </a:pPr>
            <a:r>
              <a:rPr lang="en-US" sz="784" b="1" dirty="0">
                <a:solidFill>
                  <a:srgbClr val="E0E0E0"/>
                </a:solidFill>
                <a:latin typeface="Open Sans" pitchFamily="34" charset="0"/>
                <a:ea typeface="Open Sans" pitchFamily="34" charset="-122"/>
                <a:cs typeface="Open Sans" pitchFamily="34" charset="-120"/>
              </a:rPr>
              <a:t>Environnement :</a:t>
            </a:r>
            <a:r>
              <a:rPr lang="en-US" sz="834" dirty="0">
                <a:solidFill>
                  <a:srgbClr val="E0E0E0"/>
                </a:solidFill>
                <a:latin typeface="Open Sans" pitchFamily="34" charset="0"/>
                <a:ea typeface="Open Sans" pitchFamily="34" charset="-122"/>
                <a:cs typeface="Open Sans" pitchFamily="34" charset="-120"/>
              </a:rPr>
              <a:t> Ubuntu 24.04 LTS — Machine Virtuelle VirtualBox</a:t>
            </a:r>
            <a:endParaRPr lang="en-US" sz="784" dirty="0"/>
          </a:p>
        </p:txBody>
      </p:sp>
      <p:sp>
        <p:nvSpPr>
          <p:cNvPr id="2" name="Text 7">
            <a:extLst>
              <a:ext uri="{FF2B5EF4-FFF2-40B4-BE49-F238E27FC236}">
                <a16:creationId xmlns:a16="http://schemas.microsoft.com/office/drawing/2014/main" id="{B280BECF-A6AB-7F31-FAEB-2A6AD39A6B88}"/>
              </a:ext>
            </a:extLst>
          </p:cNvPr>
          <p:cNvSpPr/>
          <p:nvPr/>
        </p:nvSpPr>
        <p:spPr>
          <a:xfrm>
            <a:off x="549671" y="4313396"/>
            <a:ext cx="2981319" cy="738664"/>
          </a:xfrm>
          <a:prstGeom prst="rect">
            <a:avLst/>
          </a:prstGeom>
          <a:noFill/>
          <a:ln/>
        </p:spPr>
        <p:txBody>
          <a:bodyPr wrap="square" lIns="0" tIns="0" rIns="0" bIns="0" rtlCol="0" anchor="t">
            <a:spAutoFit/>
          </a:bodyPr>
          <a:lstStyle/>
          <a:p>
            <a:r>
              <a:rPr lang="fr-FR" sz="120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Tasnim</a:t>
            </a:r>
            <a:r>
              <a:rPr lang="fr-FR" sz="12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 Responsable mobile</a:t>
            </a:r>
          </a:p>
          <a:p>
            <a:r>
              <a:rPr lang="fr-FR" sz="12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Raphaël - Responsable </a:t>
            </a:r>
            <a:r>
              <a:rPr lang="fr-FR" sz="120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firemware</a:t>
            </a:r>
            <a:endParaRPr lang="fr-FR" sz="12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endParaRPr>
          </a:p>
          <a:p>
            <a:r>
              <a:rPr lang="fr-FR" sz="1200" dirty="0" err="1">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Schems</a:t>
            </a:r>
            <a:r>
              <a:rPr lang="fr-FR" sz="12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 - Responsable rapport</a:t>
            </a:r>
          </a:p>
          <a:p>
            <a:r>
              <a:rPr lang="fr-FR" sz="1200" dirty="0">
                <a:solidFill>
                  <a:schemeClr val="bg1">
                    <a:lumMod val="95000"/>
                  </a:schemeClr>
                </a:solidFill>
                <a:latin typeface="Open Sans" panose="020B0606030504020204" pitchFamily="34" charset="0"/>
                <a:ea typeface="Open Sans" panose="020B0606030504020204" pitchFamily="34" charset="0"/>
                <a:cs typeface="Open Sans" panose="020B0606030504020204" pitchFamily="34" charset="0"/>
              </a:rPr>
              <a:t>Jérémy - Responsable infra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357188"/>
            <a:ext cx="8001000" cy="389274"/>
          </a:xfrm>
          <a:prstGeom prst="rect">
            <a:avLst/>
          </a:prstGeom>
          <a:noFill/>
          <a:ln/>
        </p:spPr>
        <p:txBody>
          <a:bodyPr wrap="square" lIns="0" tIns="0" rIns="0" bIns="0" rtlCol="0" anchor="t">
            <a:spAutoFit/>
          </a:bodyPr>
          <a:lstStyle/>
          <a:p>
            <a:pPr marL="0" indent="0" algn="l">
              <a:lnSpc>
                <a:spcPts val="3200"/>
              </a:lnSpc>
              <a:buNone/>
            </a:pPr>
            <a:r>
              <a:rPr lang="en-US" sz="2436" b="1" dirty="0">
                <a:solidFill>
                  <a:srgbClr val="0A0A0A"/>
                </a:solidFill>
                <a:latin typeface="Roboto" pitchFamily="34" charset="0"/>
                <a:ea typeface="Roboto" pitchFamily="34" charset="-122"/>
                <a:cs typeface="Roboto" pitchFamily="34" charset="-120"/>
              </a:rPr>
              <a:t>CONTEXTE : OPENPLC V3</a:t>
            </a:r>
            <a:endParaRPr lang="en-US" sz="2436" dirty="0"/>
          </a:p>
        </p:txBody>
      </p:sp>
      <p:sp>
        <p:nvSpPr>
          <p:cNvPr id="5" name="Text 1"/>
          <p:cNvSpPr/>
          <p:nvPr/>
        </p:nvSpPr>
        <p:spPr>
          <a:xfrm>
            <a:off x="714375" y="1251552"/>
            <a:ext cx="3857625" cy="670120"/>
          </a:xfrm>
          <a:prstGeom prst="rect">
            <a:avLst/>
          </a:prstGeom>
          <a:noFill/>
          <a:ln/>
        </p:spPr>
        <p:txBody>
          <a:bodyPr wrap="square" lIns="0" tIns="0" rIns="0" bIns="0" rtlCol="0" anchor="t">
            <a:spAutoFit/>
          </a:bodyPr>
          <a:lstStyle/>
          <a:p>
            <a:pPr marL="0" indent="0" algn="l">
              <a:lnSpc>
                <a:spcPts val="1800"/>
              </a:lnSpc>
              <a:buNone/>
            </a:pPr>
            <a:r>
              <a:rPr lang="en-US" sz="987" b="1" dirty="0">
                <a:solidFill>
                  <a:srgbClr val="242424"/>
                </a:solidFill>
                <a:latin typeface="Open Sans" pitchFamily="34" charset="0"/>
                <a:ea typeface="Open Sans" pitchFamily="34" charset="-122"/>
                <a:cs typeface="Open Sans" pitchFamily="34" charset="-120"/>
              </a:rPr>
              <a:t>OpenPLC Runtime v3</a:t>
            </a:r>
            <a:r>
              <a:rPr lang="en-US" sz="1050" dirty="0">
                <a:solidFill>
                  <a:srgbClr val="242424"/>
                </a:solidFill>
                <a:latin typeface="Open Sans" pitchFamily="34" charset="0"/>
                <a:ea typeface="Open Sans" pitchFamily="34" charset="-122"/>
                <a:cs typeface="Open Sans" pitchFamily="34" charset="-120"/>
              </a:rPr>
              <a:t> est un automate programmable industriel open-source. Il </a:t>
            </a:r>
            <a:r>
              <a:rPr lang="en-US" sz="1050" dirty="0" err="1">
                <a:solidFill>
                  <a:srgbClr val="242424"/>
                </a:solidFill>
                <a:latin typeface="Open Sans" pitchFamily="34" charset="0"/>
                <a:ea typeface="Open Sans" pitchFamily="34" charset="-122"/>
                <a:cs typeface="Open Sans" pitchFamily="34" charset="-120"/>
              </a:rPr>
              <a:t>fonctionne</a:t>
            </a:r>
            <a:r>
              <a:rPr lang="en-US" sz="1050" dirty="0">
                <a:solidFill>
                  <a:srgbClr val="242424"/>
                </a:solidFill>
                <a:latin typeface="Open Sans" pitchFamily="34" charset="0"/>
                <a:ea typeface="Open Sans" pitchFamily="34" charset="-122"/>
                <a:cs typeface="Open Sans" pitchFamily="34" charset="-120"/>
              </a:rPr>
              <a:t> sur Linux, Windows, Raspberry Pi et plateformes embarquées.</a:t>
            </a:r>
            <a:endParaRPr lang="en-US" sz="987" dirty="0"/>
          </a:p>
        </p:txBody>
      </p:sp>
      <p:sp>
        <p:nvSpPr>
          <p:cNvPr id="6" name="Text 2"/>
          <p:cNvSpPr/>
          <p:nvPr/>
        </p:nvSpPr>
        <p:spPr>
          <a:xfrm>
            <a:off x="714375" y="2165952"/>
            <a:ext cx="3857625" cy="685800"/>
          </a:xfrm>
          <a:prstGeom prst="rect">
            <a:avLst/>
          </a:prstGeom>
          <a:noFill/>
          <a:ln/>
        </p:spPr>
        <p:txBody>
          <a:bodyPr wrap="square" lIns="0" tIns="0" rIns="0" bIns="0" rtlCol="0" anchor="t">
            <a:spAutoFit/>
          </a:bodyPr>
          <a:lstStyle/>
          <a:p>
            <a:pPr marL="0" indent="0" algn="l">
              <a:lnSpc>
                <a:spcPts val="1800"/>
              </a:lnSpc>
              <a:buNone/>
            </a:pPr>
            <a:r>
              <a:rPr lang="en-US" sz="1050" dirty="0">
                <a:solidFill>
                  <a:srgbClr val="242424"/>
                </a:solidFill>
                <a:latin typeface="Open Sans" pitchFamily="34" charset="0"/>
                <a:ea typeface="Open Sans" pitchFamily="34" charset="-122"/>
                <a:cs typeface="Open Sans" pitchFamily="34" charset="-120"/>
              </a:rPr>
              <a:t>Son architecture — interface web Flask et runtime C/C++ — en fait une cible d'étude idéale pour les risques ICS/SCADA modernes.</a:t>
            </a:r>
            <a:endParaRPr lang="en-US" sz="1050" dirty="0"/>
          </a:p>
        </p:txBody>
      </p:sp>
      <p:sp>
        <p:nvSpPr>
          <p:cNvPr id="7" name="Shape 3"/>
          <p:cNvSpPr/>
          <p:nvPr/>
        </p:nvSpPr>
        <p:spPr>
          <a:xfrm>
            <a:off x="714375" y="2923189"/>
            <a:ext cx="3857625" cy="1007269"/>
          </a:xfrm>
          <a:prstGeom prst="rect">
            <a:avLst/>
          </a:prstGeom>
          <a:solidFill>
            <a:srgbClr val="E0E0E0"/>
          </a:solidFill>
          <a:ln/>
        </p:spPr>
        <p:txBody>
          <a:bodyPr/>
          <a:lstStyle/>
          <a:p>
            <a:endParaRPr lang="fr-FR"/>
          </a:p>
        </p:txBody>
      </p:sp>
      <p:sp>
        <p:nvSpPr>
          <p:cNvPr id="8" name="Shape 4"/>
          <p:cNvSpPr/>
          <p:nvPr/>
        </p:nvSpPr>
        <p:spPr>
          <a:xfrm>
            <a:off x="714375" y="2923189"/>
            <a:ext cx="42863" cy="1007269"/>
          </a:xfrm>
          <a:prstGeom prst="rect">
            <a:avLst/>
          </a:prstGeom>
          <a:solidFill>
            <a:srgbClr val="D32F2F"/>
          </a:solidFill>
          <a:ln/>
        </p:spPr>
        <p:txBody>
          <a:bodyPr/>
          <a:lstStyle/>
          <a:p>
            <a:endParaRPr lang="fr-FR"/>
          </a:p>
        </p:txBody>
      </p:sp>
      <p:pic>
        <p:nvPicPr>
          <p:cNvPr id="9" name="Image 1" descr="preencoded.png"/>
          <p:cNvPicPr>
            <a:picLocks noChangeAspect="1"/>
          </p:cNvPicPr>
          <p:nvPr/>
        </p:nvPicPr>
        <p:blipFill>
          <a:blip r:embed="rId4"/>
          <a:stretch>
            <a:fillRect/>
          </a:stretch>
        </p:blipFill>
        <p:spPr>
          <a:xfrm>
            <a:off x="800100" y="3017844"/>
            <a:ext cx="192881" cy="171450"/>
          </a:xfrm>
          <a:prstGeom prst="rect">
            <a:avLst/>
          </a:prstGeom>
        </p:spPr>
      </p:pic>
      <p:sp>
        <p:nvSpPr>
          <p:cNvPr id="10" name="Text 5"/>
          <p:cNvSpPr/>
          <p:nvPr/>
        </p:nvSpPr>
        <p:spPr>
          <a:xfrm>
            <a:off x="992981" y="3008914"/>
            <a:ext cx="1637705" cy="20002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D32F2F"/>
                </a:solidFill>
                <a:latin typeface="Roboto" pitchFamily="34" charset="0"/>
                <a:ea typeface="Roboto" pitchFamily="34" charset="-122"/>
                <a:cs typeface="Roboto" pitchFamily="34" charset="-120"/>
              </a:rPr>
              <a:t>CONTEXTE D'USAGE</a:t>
            </a:r>
            <a:endParaRPr lang="en-US" sz="1193" dirty="0"/>
          </a:p>
        </p:txBody>
      </p:sp>
      <p:sp>
        <p:nvSpPr>
          <p:cNvPr id="11" name="Text 6"/>
          <p:cNvSpPr/>
          <p:nvPr/>
        </p:nvSpPr>
        <p:spPr>
          <a:xfrm>
            <a:off x="800100" y="3266089"/>
            <a:ext cx="3686175" cy="560859"/>
          </a:xfrm>
          <a:prstGeom prst="rect">
            <a:avLst/>
          </a:prstGeom>
          <a:noFill/>
          <a:ln/>
        </p:spPr>
        <p:txBody>
          <a:bodyPr wrap="square" lIns="0" tIns="0" rIns="0" bIns="0" rtlCol="0" anchor="t">
            <a:spAutoFit/>
          </a:bodyPr>
          <a:lstStyle/>
          <a:p>
            <a:pPr marL="0" indent="0" algn="l">
              <a:lnSpc>
                <a:spcPts val="1500"/>
              </a:lnSpc>
              <a:buNone/>
            </a:pPr>
            <a:r>
              <a:rPr lang="en-US" sz="942" dirty="0">
                <a:solidFill>
                  <a:srgbClr val="0A0A0A"/>
                </a:solidFill>
                <a:latin typeface="Open Sans" pitchFamily="34" charset="0"/>
                <a:ea typeface="Open Sans" pitchFamily="34" charset="-122"/>
                <a:cs typeface="Open Sans" pitchFamily="34" charset="-120"/>
              </a:rPr>
              <a:t>Utilisé dans l'enseignement, la recherche et </a:t>
            </a:r>
            <a:r>
              <a:rPr lang="en-US" sz="942" dirty="0" err="1">
                <a:solidFill>
                  <a:srgbClr val="0A0A0A"/>
                </a:solidFill>
                <a:latin typeface="Open Sans" pitchFamily="34" charset="0"/>
                <a:ea typeface="Open Sans" pitchFamily="34" charset="-122"/>
                <a:cs typeface="Open Sans" pitchFamily="34" charset="-120"/>
              </a:rPr>
              <a:t>desdéploiements</a:t>
            </a:r>
            <a:r>
              <a:rPr lang="en-US" sz="942" dirty="0">
                <a:solidFill>
                  <a:srgbClr val="0A0A0A"/>
                </a:solidFill>
                <a:latin typeface="Open Sans" pitchFamily="34" charset="0"/>
                <a:ea typeface="Open Sans" pitchFamily="34" charset="-122"/>
                <a:cs typeface="Open Sans" pitchFamily="34" charset="-120"/>
              </a:rPr>
              <a:t> </a:t>
            </a:r>
            <a:r>
              <a:rPr lang="en-US" sz="942" dirty="0" err="1">
                <a:solidFill>
                  <a:srgbClr val="0A0A0A"/>
                </a:solidFill>
                <a:latin typeface="Open Sans" pitchFamily="34" charset="0"/>
                <a:ea typeface="Open Sans" pitchFamily="34" charset="-122"/>
                <a:cs typeface="Open Sans" pitchFamily="34" charset="-120"/>
              </a:rPr>
              <a:t>industriels</a:t>
            </a:r>
            <a:r>
              <a:rPr lang="en-US" sz="942" dirty="0">
                <a:solidFill>
                  <a:srgbClr val="0A0A0A"/>
                </a:solidFill>
                <a:latin typeface="Open Sans" pitchFamily="34" charset="0"/>
                <a:ea typeface="Open Sans" pitchFamily="34" charset="-122"/>
                <a:cs typeface="Open Sans" pitchFamily="34" charset="-120"/>
              </a:rPr>
              <a:t>.</a:t>
            </a:r>
          </a:p>
          <a:p>
            <a:pPr>
              <a:lnSpc>
                <a:spcPts val="1500"/>
              </a:lnSpc>
            </a:pPr>
            <a:r>
              <a:rPr lang="en-US" sz="942" dirty="0" err="1">
                <a:solidFill>
                  <a:srgbClr val="0A0A0A"/>
                </a:solidFill>
                <a:latin typeface="Open Sans" pitchFamily="34" charset="0"/>
                <a:ea typeface="Open Sans" pitchFamily="34" charset="-122"/>
                <a:cs typeface="Open Sans" pitchFamily="34" charset="-120"/>
              </a:rPr>
              <a:t>Utilisé</a:t>
            </a:r>
            <a:r>
              <a:rPr lang="en-US" sz="942" dirty="0">
                <a:solidFill>
                  <a:srgbClr val="0A0A0A"/>
                </a:solidFill>
                <a:latin typeface="Open Sans" pitchFamily="34" charset="0"/>
                <a:ea typeface="Open Sans" pitchFamily="34" charset="-122"/>
                <a:cs typeface="Open Sans" pitchFamily="34" charset="-120"/>
              </a:rPr>
              <a:t> </a:t>
            </a:r>
            <a:r>
              <a:rPr lang="en-US" sz="942" dirty="0" err="1">
                <a:solidFill>
                  <a:srgbClr val="0A0A0A"/>
                </a:solidFill>
                <a:latin typeface="Open Sans" pitchFamily="34" charset="0"/>
                <a:ea typeface="Open Sans" pitchFamily="34" charset="-122"/>
                <a:cs typeface="Open Sans" pitchFamily="34" charset="-120"/>
              </a:rPr>
              <a:t>en</a:t>
            </a:r>
            <a:r>
              <a:rPr lang="en-US" sz="942" dirty="0">
                <a:solidFill>
                  <a:srgbClr val="0A0A0A"/>
                </a:solidFill>
                <a:latin typeface="Open Sans" pitchFamily="34" charset="0"/>
                <a:ea typeface="Open Sans" pitchFamily="34" charset="-122"/>
                <a:cs typeface="Open Sans" pitchFamily="34" charset="-120"/>
              </a:rPr>
              <a:t> </a:t>
            </a:r>
            <a:r>
              <a:rPr lang="en-US" sz="942" dirty="0" err="1">
                <a:solidFill>
                  <a:srgbClr val="0A0A0A"/>
                </a:solidFill>
                <a:latin typeface="Open Sans" pitchFamily="34" charset="0"/>
                <a:ea typeface="Open Sans" pitchFamily="34" charset="-122"/>
                <a:cs typeface="Open Sans" pitchFamily="34" charset="-120"/>
              </a:rPr>
              <a:t>l’occurrence</a:t>
            </a:r>
            <a:r>
              <a:rPr lang="en-US" sz="942" dirty="0">
                <a:solidFill>
                  <a:srgbClr val="0A0A0A"/>
                </a:solidFill>
                <a:latin typeface="Open Sans" pitchFamily="34" charset="0"/>
                <a:ea typeface="Open Sans" pitchFamily="34" charset="-122"/>
                <a:cs typeface="Open Sans" pitchFamily="34" charset="-120"/>
              </a:rPr>
              <a:t> pour le </a:t>
            </a:r>
            <a:r>
              <a:rPr lang="en-US" sz="942" dirty="0" err="1">
                <a:solidFill>
                  <a:srgbClr val="0A0A0A"/>
                </a:solidFill>
                <a:latin typeface="Open Sans" pitchFamily="34" charset="0"/>
                <a:ea typeface="Open Sans" pitchFamily="34" charset="-122"/>
                <a:cs typeface="Open Sans" pitchFamily="34" charset="-120"/>
              </a:rPr>
              <a:t>domaine</a:t>
            </a:r>
            <a:r>
              <a:rPr lang="en-US" sz="942" dirty="0">
                <a:solidFill>
                  <a:srgbClr val="0A0A0A"/>
                </a:solidFill>
                <a:latin typeface="Open Sans" pitchFamily="34" charset="0"/>
                <a:ea typeface="Open Sans" pitchFamily="34" charset="-122"/>
                <a:cs typeface="Open Sans" pitchFamily="34" charset="-120"/>
              </a:rPr>
              <a:t> </a:t>
            </a:r>
            <a:r>
              <a:rPr lang="en-US" sz="942" b="1" dirty="0" err="1">
                <a:solidFill>
                  <a:srgbClr val="0A0A0A"/>
                </a:solidFill>
                <a:latin typeface="Open Sans" pitchFamily="34" charset="0"/>
                <a:ea typeface="Open Sans" pitchFamily="34" charset="-122"/>
                <a:cs typeface="Open Sans" pitchFamily="34" charset="-120"/>
              </a:rPr>
              <a:t>raffinerie</a:t>
            </a:r>
            <a:r>
              <a:rPr lang="en-US" sz="942" b="1" dirty="0">
                <a:solidFill>
                  <a:srgbClr val="0A0A0A"/>
                </a:solidFill>
                <a:latin typeface="Open Sans" pitchFamily="34" charset="0"/>
                <a:ea typeface="Open Sans" pitchFamily="34" charset="-122"/>
                <a:cs typeface="Open Sans" pitchFamily="34" charset="-120"/>
              </a:rPr>
              <a:t>/SCADA</a:t>
            </a:r>
            <a:endParaRPr lang="en-US" sz="942" b="1" dirty="0"/>
          </a:p>
        </p:txBody>
      </p:sp>
      <p:sp>
        <p:nvSpPr>
          <p:cNvPr id="12" name="Shape 7"/>
          <p:cNvSpPr/>
          <p:nvPr/>
        </p:nvSpPr>
        <p:spPr>
          <a:xfrm>
            <a:off x="4857750" y="1251552"/>
            <a:ext cx="3857625" cy="1632347"/>
          </a:xfrm>
          <a:prstGeom prst="rect">
            <a:avLst/>
          </a:prstGeom>
          <a:solidFill>
            <a:srgbClr val="FFFFFF"/>
          </a:solidFill>
          <a:ln/>
        </p:spPr>
        <p:txBody>
          <a:bodyPr/>
          <a:lstStyle/>
          <a:p>
            <a:endParaRPr lang="fr-FR"/>
          </a:p>
        </p:txBody>
      </p:sp>
      <p:sp>
        <p:nvSpPr>
          <p:cNvPr id="13" name="Shape 8"/>
          <p:cNvSpPr/>
          <p:nvPr/>
        </p:nvSpPr>
        <p:spPr>
          <a:xfrm>
            <a:off x="4857750" y="1251552"/>
            <a:ext cx="3857625" cy="251817"/>
          </a:xfrm>
          <a:prstGeom prst="rect">
            <a:avLst/>
          </a:prstGeom>
          <a:solidFill>
            <a:srgbClr val="242424"/>
          </a:solidFill>
          <a:ln/>
        </p:spPr>
        <p:txBody>
          <a:bodyPr/>
          <a:lstStyle/>
          <a:p>
            <a:endParaRPr lang="fr-FR"/>
          </a:p>
        </p:txBody>
      </p:sp>
      <p:sp>
        <p:nvSpPr>
          <p:cNvPr id="14" name="Shape 9"/>
          <p:cNvSpPr/>
          <p:nvPr/>
        </p:nvSpPr>
        <p:spPr>
          <a:xfrm>
            <a:off x="4857750" y="1496225"/>
            <a:ext cx="3857625" cy="7144"/>
          </a:xfrm>
          <a:prstGeom prst="rect">
            <a:avLst/>
          </a:prstGeom>
          <a:solidFill>
            <a:srgbClr val="E0E0E0"/>
          </a:solidFill>
          <a:ln/>
        </p:spPr>
        <p:txBody>
          <a:bodyPr/>
          <a:lstStyle/>
          <a:p>
            <a:endParaRPr lang="fr-FR"/>
          </a:p>
        </p:txBody>
      </p:sp>
      <p:pic>
        <p:nvPicPr>
          <p:cNvPr id="15" name="Image 2" descr="preencoded.png"/>
          <p:cNvPicPr>
            <a:picLocks noChangeAspect="1"/>
          </p:cNvPicPr>
          <p:nvPr/>
        </p:nvPicPr>
        <p:blipFill>
          <a:blip r:embed="rId5"/>
          <a:stretch>
            <a:fillRect/>
          </a:stretch>
        </p:blipFill>
        <p:spPr>
          <a:xfrm>
            <a:off x="4929188" y="1314059"/>
            <a:ext cx="114300" cy="114300"/>
          </a:xfrm>
          <a:prstGeom prst="rect">
            <a:avLst/>
          </a:prstGeom>
        </p:spPr>
      </p:pic>
      <p:sp>
        <p:nvSpPr>
          <p:cNvPr id="16" name="Text 10"/>
          <p:cNvSpPr/>
          <p:nvPr/>
        </p:nvSpPr>
        <p:spPr>
          <a:xfrm>
            <a:off x="5043488" y="1308702"/>
            <a:ext cx="1168003" cy="133945"/>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FFFFFF"/>
                </a:solidFill>
                <a:latin typeface="Roboto" pitchFamily="34" charset="0"/>
                <a:ea typeface="Roboto" pitchFamily="34" charset="-122"/>
                <a:cs typeface="Roboto" pitchFamily="34" charset="-120"/>
              </a:rPr>
              <a:t>IDENTITÉ TECHNIQUE</a:t>
            </a:r>
            <a:endParaRPr lang="en-US" sz="784" dirty="0"/>
          </a:p>
        </p:txBody>
      </p:sp>
      <p:sp>
        <p:nvSpPr>
          <p:cNvPr id="17" name="Text 11"/>
          <p:cNvSpPr/>
          <p:nvPr/>
        </p:nvSpPr>
        <p:spPr>
          <a:xfrm>
            <a:off x="4857750" y="1499797"/>
            <a:ext cx="1350169" cy="273248"/>
          </a:xfrm>
          <a:prstGeom prst="rect">
            <a:avLst/>
          </a:prstGeom>
          <a:noFill/>
          <a:ln/>
        </p:spPr>
        <p:txBody>
          <a:bodyPr wrap="square" lIns="85090" tIns="68072" rIns="85090" bIns="68072" rtlCol="0" anchor="ctr">
            <a:spAutoFit/>
          </a:bodyPr>
          <a:lstStyle/>
          <a:p>
            <a:pPr marL="0" indent="0" algn="l">
              <a:lnSpc>
                <a:spcPts val="1100"/>
              </a:lnSpc>
              <a:buNone/>
            </a:pPr>
            <a:r>
              <a:rPr lang="en-US" sz="784" b="1" dirty="0">
                <a:solidFill>
                  <a:srgbClr val="D32F2F"/>
                </a:solidFill>
                <a:latin typeface="Open Sans" pitchFamily="34" charset="0"/>
                <a:ea typeface="Open Sans" pitchFamily="34" charset="-122"/>
                <a:cs typeface="Open Sans" pitchFamily="34" charset="-120"/>
              </a:rPr>
              <a:t>Dépôt GitHub</a:t>
            </a:r>
            <a:endParaRPr lang="en-US" sz="784" dirty="0"/>
          </a:p>
        </p:txBody>
      </p:sp>
      <p:sp>
        <p:nvSpPr>
          <p:cNvPr id="18" name="Text 12"/>
          <p:cNvSpPr/>
          <p:nvPr/>
        </p:nvSpPr>
        <p:spPr>
          <a:xfrm>
            <a:off x="6207919" y="1499797"/>
            <a:ext cx="2507456" cy="273248"/>
          </a:xfrm>
          <a:prstGeom prst="rect">
            <a:avLst/>
          </a:prstGeom>
          <a:noFill/>
          <a:ln/>
        </p:spPr>
        <p:txBody>
          <a:bodyPr wrap="square" lIns="85090" tIns="68072" rIns="85090" bIns="68072" rtlCol="0" anchor="ctr">
            <a:spAutoFit/>
          </a:bodyPr>
          <a:lstStyle/>
          <a:p>
            <a:pPr marL="0" indent="0" algn="l">
              <a:lnSpc>
                <a:spcPts val="1100"/>
              </a:lnSpc>
              <a:buNone/>
            </a:pPr>
            <a:r>
              <a:rPr lang="en-US" sz="834" dirty="0">
                <a:solidFill>
                  <a:srgbClr val="242424"/>
                </a:solidFill>
                <a:latin typeface="Open Sans" pitchFamily="34" charset="0"/>
                <a:ea typeface="Open Sans" pitchFamily="34" charset="-122"/>
                <a:cs typeface="Open Sans" pitchFamily="34" charset="-120"/>
              </a:rPr>
              <a:t>thiagoralves/OpenPLC_v3</a:t>
            </a:r>
            <a:endParaRPr lang="en-US" sz="834" dirty="0"/>
          </a:p>
        </p:txBody>
      </p:sp>
      <p:sp>
        <p:nvSpPr>
          <p:cNvPr id="19" name="Text 13"/>
          <p:cNvSpPr/>
          <p:nvPr/>
        </p:nvSpPr>
        <p:spPr>
          <a:xfrm>
            <a:off x="4857750" y="1773045"/>
            <a:ext cx="1350169" cy="276820"/>
          </a:xfrm>
          <a:prstGeom prst="rect">
            <a:avLst/>
          </a:prstGeom>
          <a:noFill/>
          <a:ln/>
        </p:spPr>
        <p:txBody>
          <a:bodyPr wrap="square" lIns="85090" tIns="68072" rIns="85090" bIns="68072" rtlCol="0" anchor="ctr">
            <a:spAutoFit/>
          </a:bodyPr>
          <a:lstStyle/>
          <a:p>
            <a:pPr marL="0" indent="0" algn="l">
              <a:lnSpc>
                <a:spcPts val="1100"/>
              </a:lnSpc>
              <a:buNone/>
            </a:pPr>
            <a:r>
              <a:rPr lang="en-US" sz="784" b="1" dirty="0">
                <a:solidFill>
                  <a:srgbClr val="D32F2F"/>
                </a:solidFill>
                <a:latin typeface="Open Sans" pitchFamily="34" charset="0"/>
                <a:ea typeface="Open Sans" pitchFamily="34" charset="-122"/>
                <a:cs typeface="Open Sans" pitchFamily="34" charset="-120"/>
              </a:rPr>
              <a:t>Interface web</a:t>
            </a:r>
            <a:endParaRPr lang="en-US" sz="784" dirty="0"/>
          </a:p>
        </p:txBody>
      </p:sp>
      <p:sp>
        <p:nvSpPr>
          <p:cNvPr id="20" name="Text 14"/>
          <p:cNvSpPr/>
          <p:nvPr/>
        </p:nvSpPr>
        <p:spPr>
          <a:xfrm>
            <a:off x="6207919" y="1773045"/>
            <a:ext cx="2507456" cy="276820"/>
          </a:xfrm>
          <a:prstGeom prst="rect">
            <a:avLst/>
          </a:prstGeom>
          <a:noFill/>
          <a:ln/>
        </p:spPr>
        <p:txBody>
          <a:bodyPr wrap="square" lIns="85090" tIns="68072" rIns="85090" bIns="68072" rtlCol="0" anchor="ctr">
            <a:spAutoFit/>
          </a:bodyPr>
          <a:lstStyle/>
          <a:p>
            <a:pPr marL="0" indent="0" algn="l">
              <a:lnSpc>
                <a:spcPts val="1100"/>
              </a:lnSpc>
              <a:buNone/>
            </a:pPr>
            <a:r>
              <a:rPr lang="en-US" sz="834" dirty="0">
                <a:solidFill>
                  <a:srgbClr val="242424"/>
                </a:solidFill>
                <a:latin typeface="Open Sans" pitchFamily="34" charset="0"/>
                <a:ea typeface="Open Sans" pitchFamily="34" charset="-122"/>
                <a:cs typeface="Open Sans" pitchFamily="34" charset="-120"/>
              </a:rPr>
              <a:t>Flask HTTP — Port 8080</a:t>
            </a:r>
            <a:endParaRPr lang="en-US" sz="834" dirty="0"/>
          </a:p>
        </p:txBody>
      </p:sp>
      <p:sp>
        <p:nvSpPr>
          <p:cNvPr id="21" name="Text 15"/>
          <p:cNvSpPr/>
          <p:nvPr/>
        </p:nvSpPr>
        <p:spPr>
          <a:xfrm>
            <a:off x="4857750" y="2049866"/>
            <a:ext cx="1350169" cy="276820"/>
          </a:xfrm>
          <a:prstGeom prst="rect">
            <a:avLst/>
          </a:prstGeom>
          <a:noFill/>
          <a:ln/>
        </p:spPr>
        <p:txBody>
          <a:bodyPr wrap="square" lIns="85090" tIns="68072" rIns="85090" bIns="68072" rtlCol="0" anchor="ctr">
            <a:spAutoFit/>
          </a:bodyPr>
          <a:lstStyle/>
          <a:p>
            <a:pPr marL="0" indent="0" algn="l">
              <a:lnSpc>
                <a:spcPts val="1100"/>
              </a:lnSpc>
              <a:buNone/>
            </a:pPr>
            <a:r>
              <a:rPr lang="en-US" sz="784" b="1" dirty="0">
                <a:solidFill>
                  <a:srgbClr val="D32F2F"/>
                </a:solidFill>
                <a:latin typeface="Open Sans" pitchFamily="34" charset="0"/>
                <a:ea typeface="Open Sans" pitchFamily="34" charset="-122"/>
                <a:cs typeface="Open Sans" pitchFamily="34" charset="-120"/>
              </a:rPr>
              <a:t>Protocoles ICS</a:t>
            </a:r>
            <a:endParaRPr lang="en-US" sz="784" dirty="0"/>
          </a:p>
        </p:txBody>
      </p:sp>
      <p:sp>
        <p:nvSpPr>
          <p:cNvPr id="22" name="Text 16"/>
          <p:cNvSpPr/>
          <p:nvPr/>
        </p:nvSpPr>
        <p:spPr>
          <a:xfrm>
            <a:off x="6207919" y="2049866"/>
            <a:ext cx="2507456" cy="276820"/>
          </a:xfrm>
          <a:prstGeom prst="rect">
            <a:avLst/>
          </a:prstGeom>
          <a:noFill/>
          <a:ln/>
        </p:spPr>
        <p:txBody>
          <a:bodyPr wrap="square" lIns="85090" tIns="68072" rIns="85090" bIns="68072" rtlCol="0" anchor="ctr">
            <a:spAutoFit/>
          </a:bodyPr>
          <a:lstStyle/>
          <a:p>
            <a:pPr marL="0" indent="0" algn="l">
              <a:lnSpc>
                <a:spcPts val="1100"/>
              </a:lnSpc>
              <a:buNone/>
            </a:pPr>
            <a:r>
              <a:rPr lang="en-US" sz="834" dirty="0">
                <a:solidFill>
                  <a:srgbClr val="242424"/>
                </a:solidFill>
                <a:latin typeface="Open Sans" pitchFamily="34" charset="0"/>
                <a:ea typeface="Open Sans" pitchFamily="34" charset="-122"/>
                <a:cs typeface="Open Sans" pitchFamily="34" charset="-120"/>
              </a:rPr>
              <a:t>Modbus/TCP (502) · EtherNet/IP (44818)</a:t>
            </a:r>
            <a:endParaRPr lang="en-US" sz="834" dirty="0"/>
          </a:p>
        </p:txBody>
      </p:sp>
      <p:sp>
        <p:nvSpPr>
          <p:cNvPr id="23" name="Text 17"/>
          <p:cNvSpPr/>
          <p:nvPr/>
        </p:nvSpPr>
        <p:spPr>
          <a:xfrm>
            <a:off x="4857750" y="2326686"/>
            <a:ext cx="1350169" cy="276820"/>
          </a:xfrm>
          <a:prstGeom prst="rect">
            <a:avLst/>
          </a:prstGeom>
          <a:noFill/>
          <a:ln/>
        </p:spPr>
        <p:txBody>
          <a:bodyPr wrap="square" lIns="85090" tIns="68072" rIns="85090" bIns="68072" rtlCol="0" anchor="ctr">
            <a:spAutoFit/>
          </a:bodyPr>
          <a:lstStyle/>
          <a:p>
            <a:pPr marL="0" indent="0" algn="l">
              <a:lnSpc>
                <a:spcPts val="1100"/>
              </a:lnSpc>
              <a:buNone/>
            </a:pPr>
            <a:r>
              <a:rPr lang="en-US" sz="784" b="1" dirty="0">
                <a:solidFill>
                  <a:srgbClr val="D32F2F"/>
                </a:solidFill>
                <a:latin typeface="Open Sans" pitchFamily="34" charset="0"/>
                <a:ea typeface="Open Sans" pitchFamily="34" charset="-122"/>
                <a:cs typeface="Open Sans" pitchFamily="34" charset="-120"/>
              </a:rPr>
              <a:t>Base de données</a:t>
            </a:r>
            <a:endParaRPr lang="en-US" sz="784" dirty="0"/>
          </a:p>
        </p:txBody>
      </p:sp>
      <p:sp>
        <p:nvSpPr>
          <p:cNvPr id="24" name="Text 18"/>
          <p:cNvSpPr/>
          <p:nvPr/>
        </p:nvSpPr>
        <p:spPr>
          <a:xfrm>
            <a:off x="6207919" y="2326686"/>
            <a:ext cx="2507456" cy="276820"/>
          </a:xfrm>
          <a:prstGeom prst="rect">
            <a:avLst/>
          </a:prstGeom>
          <a:noFill/>
          <a:ln/>
        </p:spPr>
        <p:txBody>
          <a:bodyPr wrap="square" lIns="85090" tIns="68072" rIns="85090" bIns="68072" rtlCol="0" anchor="ctr">
            <a:spAutoFit/>
          </a:bodyPr>
          <a:lstStyle/>
          <a:p>
            <a:pPr marL="0" indent="0" algn="l">
              <a:lnSpc>
                <a:spcPts val="1100"/>
              </a:lnSpc>
              <a:buNone/>
            </a:pPr>
            <a:r>
              <a:rPr lang="en-US" sz="834" dirty="0">
                <a:solidFill>
                  <a:srgbClr val="242424"/>
                </a:solidFill>
                <a:latin typeface="Open Sans" pitchFamily="34" charset="0"/>
                <a:ea typeface="Open Sans" pitchFamily="34" charset="-122"/>
                <a:cs typeface="Open Sans" pitchFamily="34" charset="-120"/>
              </a:rPr>
              <a:t>SQLite (users, programmes, logs)</a:t>
            </a:r>
            <a:endParaRPr lang="en-US" sz="834" dirty="0"/>
          </a:p>
        </p:txBody>
      </p:sp>
      <p:sp>
        <p:nvSpPr>
          <p:cNvPr id="25" name="Text 19"/>
          <p:cNvSpPr/>
          <p:nvPr/>
        </p:nvSpPr>
        <p:spPr>
          <a:xfrm>
            <a:off x="4857750" y="2603506"/>
            <a:ext cx="1350169" cy="273248"/>
          </a:xfrm>
          <a:prstGeom prst="rect">
            <a:avLst/>
          </a:prstGeom>
          <a:noFill/>
          <a:ln/>
        </p:spPr>
        <p:txBody>
          <a:bodyPr wrap="square" lIns="85090" tIns="68072" rIns="85090" bIns="68072" rtlCol="0" anchor="ctr">
            <a:spAutoFit/>
          </a:bodyPr>
          <a:lstStyle/>
          <a:p>
            <a:pPr marL="0" indent="0" algn="l">
              <a:lnSpc>
                <a:spcPts val="1100"/>
              </a:lnSpc>
              <a:buNone/>
            </a:pPr>
            <a:r>
              <a:rPr lang="en-US" sz="784" b="1" dirty="0">
                <a:solidFill>
                  <a:srgbClr val="D32F2F"/>
                </a:solidFill>
                <a:latin typeface="Open Sans" pitchFamily="34" charset="0"/>
                <a:ea typeface="Open Sans" pitchFamily="34" charset="-122"/>
                <a:cs typeface="Open Sans" pitchFamily="34" charset="-120"/>
              </a:rPr>
              <a:t>Langage runtime</a:t>
            </a:r>
            <a:endParaRPr lang="en-US" sz="784" dirty="0"/>
          </a:p>
        </p:txBody>
      </p:sp>
      <p:sp>
        <p:nvSpPr>
          <p:cNvPr id="26" name="Text 20"/>
          <p:cNvSpPr/>
          <p:nvPr/>
        </p:nvSpPr>
        <p:spPr>
          <a:xfrm>
            <a:off x="6207919" y="2603506"/>
            <a:ext cx="2507456" cy="273248"/>
          </a:xfrm>
          <a:prstGeom prst="rect">
            <a:avLst/>
          </a:prstGeom>
          <a:noFill/>
          <a:ln/>
        </p:spPr>
        <p:txBody>
          <a:bodyPr wrap="square" lIns="85090" tIns="68072" rIns="85090" bIns="68072" rtlCol="0" anchor="ctr">
            <a:spAutoFit/>
          </a:bodyPr>
          <a:lstStyle/>
          <a:p>
            <a:pPr marL="0" indent="0" algn="l">
              <a:lnSpc>
                <a:spcPts val="1100"/>
              </a:lnSpc>
              <a:buNone/>
            </a:pPr>
            <a:r>
              <a:rPr lang="en-US" sz="834" dirty="0">
                <a:solidFill>
                  <a:srgbClr val="242424"/>
                </a:solidFill>
                <a:latin typeface="Open Sans" pitchFamily="34" charset="0"/>
                <a:ea typeface="Open Sans" pitchFamily="34" charset="-122"/>
                <a:cs typeface="Open Sans" pitchFamily="34" charset="-120"/>
              </a:rPr>
              <a:t>C/C++ (webserver.cpp, enip.cpp)</a:t>
            </a:r>
            <a:endParaRPr lang="en-US" sz="834" dirty="0"/>
          </a:p>
        </p:txBody>
      </p:sp>
      <p:sp>
        <p:nvSpPr>
          <p:cNvPr id="27" name="Shape 21"/>
          <p:cNvSpPr/>
          <p:nvPr/>
        </p:nvSpPr>
        <p:spPr>
          <a:xfrm>
            <a:off x="4857750" y="2948192"/>
            <a:ext cx="3857625" cy="1607344"/>
          </a:xfrm>
          <a:prstGeom prst="rect">
            <a:avLst/>
          </a:prstGeom>
          <a:solidFill>
            <a:srgbClr val="FFFFFF"/>
          </a:solidFill>
          <a:ln/>
        </p:spPr>
        <p:txBody>
          <a:bodyPr/>
          <a:lstStyle/>
          <a:p>
            <a:endParaRPr lang="fr-FR"/>
          </a:p>
        </p:txBody>
      </p:sp>
      <p:pic>
        <p:nvPicPr>
          <p:cNvPr id="28" name="Image 3" descr="preencoded.png"/>
          <p:cNvPicPr>
            <a:picLocks noChangeAspect="1"/>
          </p:cNvPicPr>
          <p:nvPr/>
        </p:nvPicPr>
        <p:blipFill>
          <a:blip r:embed="rId6"/>
          <a:stretch>
            <a:fillRect/>
          </a:stretch>
        </p:blipFill>
        <p:spPr>
          <a:xfrm>
            <a:off x="4943475" y="3041061"/>
            <a:ext cx="160734" cy="142875"/>
          </a:xfrm>
          <a:prstGeom prst="rect">
            <a:avLst/>
          </a:prstGeom>
        </p:spPr>
      </p:pic>
      <p:sp>
        <p:nvSpPr>
          <p:cNvPr id="29" name="Text 22"/>
          <p:cNvSpPr/>
          <p:nvPr/>
        </p:nvSpPr>
        <p:spPr>
          <a:xfrm>
            <a:off x="5104209" y="3033917"/>
            <a:ext cx="1864519"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A0A0A"/>
                </a:solidFill>
                <a:latin typeface="Roboto" pitchFamily="34" charset="0"/>
                <a:ea typeface="Roboto" pitchFamily="34" charset="-122"/>
                <a:cs typeface="Roboto" pitchFamily="34" charset="-120"/>
              </a:rPr>
              <a:t>ARCHITECTURE SIMPLIFIÉE</a:t>
            </a:r>
            <a:endParaRPr lang="en-US" sz="987" dirty="0"/>
          </a:p>
        </p:txBody>
      </p:sp>
      <p:sp>
        <p:nvSpPr>
          <p:cNvPr id="30" name="Shape 23"/>
          <p:cNvSpPr/>
          <p:nvPr/>
        </p:nvSpPr>
        <p:spPr>
          <a:xfrm>
            <a:off x="4943475" y="3301808"/>
            <a:ext cx="3686175" cy="462558"/>
          </a:xfrm>
          <a:prstGeom prst="rect">
            <a:avLst/>
          </a:prstGeom>
          <a:solidFill>
            <a:srgbClr val="D32F2F"/>
          </a:solidFill>
          <a:ln/>
        </p:spPr>
        <p:txBody>
          <a:bodyPr/>
          <a:lstStyle/>
          <a:p>
            <a:endParaRPr lang="fr-FR"/>
          </a:p>
        </p:txBody>
      </p:sp>
      <p:sp>
        <p:nvSpPr>
          <p:cNvPr id="31" name="Text 24"/>
          <p:cNvSpPr/>
          <p:nvPr/>
        </p:nvSpPr>
        <p:spPr>
          <a:xfrm>
            <a:off x="5896273" y="3373245"/>
            <a:ext cx="1780580" cy="155377"/>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FFFFFF"/>
                </a:solidFill>
                <a:latin typeface="Open Sans" pitchFamily="34" charset="0"/>
                <a:ea typeface="Open Sans" pitchFamily="34" charset="-122"/>
                <a:cs typeface="Open Sans" pitchFamily="34" charset="-120"/>
              </a:rPr>
              <a:t>Interface Web Flask (Port 8080)</a:t>
            </a:r>
            <a:endParaRPr lang="en-US" sz="784" dirty="0"/>
          </a:p>
        </p:txBody>
      </p:sp>
      <p:sp>
        <p:nvSpPr>
          <p:cNvPr id="32" name="Text 25"/>
          <p:cNvSpPr/>
          <p:nvPr/>
        </p:nvSpPr>
        <p:spPr>
          <a:xfrm>
            <a:off x="5014913" y="3557197"/>
            <a:ext cx="3543300"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alpha val="90000"/>
                  </a:srgbClr>
                </a:solidFill>
                <a:latin typeface="Open Sans" pitchFamily="34" charset="0"/>
                <a:ea typeface="Open Sans" pitchFamily="34" charset="-122"/>
                <a:cs typeface="Open Sans" pitchFamily="34" charset="-120"/>
              </a:rPr>
              <a:t>Auth, upload &amp; administration</a:t>
            </a:r>
            <a:endParaRPr lang="en-US" sz="727" dirty="0"/>
          </a:p>
        </p:txBody>
      </p:sp>
      <p:pic>
        <p:nvPicPr>
          <p:cNvPr id="33" name="Image 4" descr="preencoded.png"/>
          <p:cNvPicPr>
            <a:picLocks noChangeAspect="1"/>
          </p:cNvPicPr>
          <p:nvPr/>
        </p:nvPicPr>
        <p:blipFill>
          <a:blip r:embed="rId7"/>
          <a:stretch>
            <a:fillRect/>
          </a:stretch>
        </p:blipFill>
        <p:spPr>
          <a:xfrm>
            <a:off x="6754416" y="3821516"/>
            <a:ext cx="64294" cy="128588"/>
          </a:xfrm>
          <a:prstGeom prst="rect">
            <a:avLst/>
          </a:prstGeom>
        </p:spPr>
      </p:pic>
      <p:sp>
        <p:nvSpPr>
          <p:cNvPr id="34" name="Shape 26"/>
          <p:cNvSpPr/>
          <p:nvPr/>
        </p:nvSpPr>
        <p:spPr>
          <a:xfrm>
            <a:off x="4943475" y="4007253"/>
            <a:ext cx="3686175" cy="462558"/>
          </a:xfrm>
          <a:prstGeom prst="rect">
            <a:avLst/>
          </a:prstGeom>
          <a:solidFill>
            <a:srgbClr val="242424"/>
          </a:solidFill>
          <a:ln/>
        </p:spPr>
        <p:txBody>
          <a:bodyPr/>
          <a:lstStyle/>
          <a:p>
            <a:endParaRPr lang="fr-FR"/>
          </a:p>
        </p:txBody>
      </p:sp>
      <p:sp>
        <p:nvSpPr>
          <p:cNvPr id="35" name="Text 27"/>
          <p:cNvSpPr/>
          <p:nvPr/>
        </p:nvSpPr>
        <p:spPr>
          <a:xfrm>
            <a:off x="6303466" y="4078691"/>
            <a:ext cx="966192" cy="155377"/>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FFFFFF"/>
                </a:solidFill>
                <a:latin typeface="Open Sans" pitchFamily="34" charset="0"/>
                <a:ea typeface="Open Sans" pitchFamily="34" charset="-122"/>
                <a:cs typeface="Open Sans" pitchFamily="34" charset="-120"/>
              </a:rPr>
              <a:t>Runtime C++ PLC</a:t>
            </a:r>
            <a:endParaRPr lang="en-US" sz="784" dirty="0"/>
          </a:p>
        </p:txBody>
      </p:sp>
      <p:sp>
        <p:nvSpPr>
          <p:cNvPr id="36" name="Text 28"/>
          <p:cNvSpPr/>
          <p:nvPr/>
        </p:nvSpPr>
        <p:spPr>
          <a:xfrm>
            <a:off x="5014913" y="4262642"/>
            <a:ext cx="3543300" cy="135731"/>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FFFFFF">
                    <a:alpha val="90000"/>
                  </a:srgbClr>
                </a:solidFill>
                <a:latin typeface="Open Sans" pitchFamily="34" charset="0"/>
                <a:ea typeface="Open Sans" pitchFamily="34" charset="-122"/>
                <a:cs typeface="Open Sans" pitchFamily="34" charset="-120"/>
              </a:rPr>
              <a:t>Modbus/TCP, EtherNet/IP, exécution ladder</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714375" y="285750"/>
            <a:ext cx="1251946" cy="291362"/>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PÉRIMÈTRE</a:t>
            </a:r>
            <a:endParaRPr lang="en-US" sz="1808" dirty="0"/>
          </a:p>
        </p:txBody>
      </p:sp>
      <p:sp>
        <p:nvSpPr>
          <p:cNvPr id="4" name="Shape 1"/>
          <p:cNvSpPr/>
          <p:nvPr/>
        </p:nvSpPr>
        <p:spPr>
          <a:xfrm>
            <a:off x="714375" y="737229"/>
            <a:ext cx="3857625" cy="2414141"/>
          </a:xfrm>
          <a:prstGeom prst="rect">
            <a:avLst/>
          </a:prstGeom>
          <a:solidFill>
            <a:srgbClr val="FFFFFF"/>
          </a:solidFill>
          <a:ln/>
        </p:spPr>
        <p:txBody>
          <a:bodyPr/>
          <a:lstStyle/>
          <a:p>
            <a:endParaRPr lang="fr-FR"/>
          </a:p>
        </p:txBody>
      </p:sp>
      <p:sp>
        <p:nvSpPr>
          <p:cNvPr id="5" name="Shape 2"/>
          <p:cNvSpPr/>
          <p:nvPr/>
        </p:nvSpPr>
        <p:spPr>
          <a:xfrm>
            <a:off x="714375" y="737229"/>
            <a:ext cx="3857625" cy="42863"/>
          </a:xfrm>
          <a:prstGeom prst="rect">
            <a:avLst/>
          </a:prstGeom>
          <a:solidFill>
            <a:srgbClr val="4CAF50"/>
          </a:solidFill>
          <a:ln/>
        </p:spPr>
        <p:txBody>
          <a:bodyPr/>
          <a:lstStyle/>
          <a:p>
            <a:endParaRPr lang="fr-FR"/>
          </a:p>
        </p:txBody>
      </p:sp>
      <p:pic>
        <p:nvPicPr>
          <p:cNvPr id="6" name="Image 1" descr="preencoded.png"/>
          <p:cNvPicPr>
            <a:picLocks noChangeAspect="1"/>
          </p:cNvPicPr>
          <p:nvPr/>
        </p:nvPicPr>
        <p:blipFill>
          <a:blip r:embed="rId4"/>
          <a:stretch>
            <a:fillRect/>
          </a:stretch>
        </p:blipFill>
        <p:spPr>
          <a:xfrm>
            <a:off x="857250" y="893499"/>
            <a:ext cx="157163" cy="157163"/>
          </a:xfrm>
          <a:prstGeom prst="rect">
            <a:avLst/>
          </a:prstGeom>
        </p:spPr>
      </p:pic>
      <p:sp>
        <p:nvSpPr>
          <p:cNvPr id="7" name="Text 3"/>
          <p:cNvSpPr/>
          <p:nvPr/>
        </p:nvSpPr>
        <p:spPr>
          <a:xfrm>
            <a:off x="1085850" y="880104"/>
            <a:ext cx="1643063"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4CAF50"/>
                </a:solidFill>
                <a:latin typeface="Roboto" pitchFamily="34" charset="0"/>
                <a:ea typeface="Roboto" pitchFamily="34" charset="-122"/>
                <a:cs typeface="Roboto" pitchFamily="34" charset="-120"/>
              </a:rPr>
              <a:t>ACTIONS AUTORISÉES</a:t>
            </a:r>
            <a:endParaRPr lang="en-US" sz="1090" dirty="0"/>
          </a:p>
        </p:txBody>
      </p:sp>
      <p:pic>
        <p:nvPicPr>
          <p:cNvPr id="8" name="Image 2" descr="preencoded.png"/>
          <p:cNvPicPr>
            <a:picLocks noChangeAspect="1"/>
          </p:cNvPicPr>
          <p:nvPr/>
        </p:nvPicPr>
        <p:blipFill>
          <a:blip r:embed="rId5"/>
          <a:stretch>
            <a:fillRect/>
          </a:stretch>
        </p:blipFill>
        <p:spPr>
          <a:xfrm>
            <a:off x="857250" y="1199787"/>
            <a:ext cx="160734" cy="128588"/>
          </a:xfrm>
          <a:prstGeom prst="rect">
            <a:avLst/>
          </a:prstGeom>
        </p:spPr>
      </p:pic>
      <p:sp>
        <p:nvSpPr>
          <p:cNvPr id="9" name="Text 4"/>
          <p:cNvSpPr/>
          <p:nvPr/>
        </p:nvSpPr>
        <p:spPr>
          <a:xfrm>
            <a:off x="1103709" y="1171212"/>
            <a:ext cx="3325416" cy="320018"/>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Analyse statique</a:t>
            </a:r>
            <a:r>
              <a:rPr lang="en-US" sz="834" dirty="0">
                <a:solidFill>
                  <a:srgbClr val="0A0A0A"/>
                </a:solidFill>
                <a:latin typeface="Open Sans" pitchFamily="34" charset="0"/>
                <a:ea typeface="Open Sans" pitchFamily="34" charset="-122"/>
                <a:cs typeface="Open Sans" pitchFamily="34" charset="-120"/>
              </a:rPr>
              <a:t> du code source (Python, C/C++, scripts shell).</a:t>
            </a:r>
            <a:endParaRPr lang="en-US" sz="784" dirty="0"/>
          </a:p>
        </p:txBody>
      </p:sp>
      <p:pic>
        <p:nvPicPr>
          <p:cNvPr id="10" name="Image 3" descr="preencoded.png"/>
          <p:cNvPicPr>
            <a:picLocks noChangeAspect="1"/>
          </p:cNvPicPr>
          <p:nvPr/>
        </p:nvPicPr>
        <p:blipFill>
          <a:blip r:embed="rId6"/>
          <a:stretch>
            <a:fillRect/>
          </a:stretch>
        </p:blipFill>
        <p:spPr>
          <a:xfrm>
            <a:off x="857250" y="1605530"/>
            <a:ext cx="160734" cy="128588"/>
          </a:xfrm>
          <a:prstGeom prst="rect">
            <a:avLst/>
          </a:prstGeom>
        </p:spPr>
      </p:pic>
      <p:sp>
        <p:nvSpPr>
          <p:cNvPr id="11" name="Text 5"/>
          <p:cNvSpPr/>
          <p:nvPr/>
        </p:nvSpPr>
        <p:spPr>
          <a:xfrm>
            <a:off x="1103709" y="1576955"/>
            <a:ext cx="2830711"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Reconnaissance réseau</a:t>
            </a:r>
            <a:r>
              <a:rPr lang="en-US" sz="834" dirty="0">
                <a:solidFill>
                  <a:srgbClr val="0A0A0A"/>
                </a:solidFill>
                <a:latin typeface="Open Sans" pitchFamily="34" charset="0"/>
                <a:ea typeface="Open Sans" pitchFamily="34" charset="-122"/>
                <a:cs typeface="Open Sans" pitchFamily="34" charset="-120"/>
              </a:rPr>
              <a:t> et scan de ports (nmap, ss).</a:t>
            </a:r>
            <a:endParaRPr lang="en-US" sz="784" dirty="0"/>
          </a:p>
        </p:txBody>
      </p:sp>
      <p:pic>
        <p:nvPicPr>
          <p:cNvPr id="12" name="Image 4" descr="preencoded.png"/>
          <p:cNvPicPr>
            <a:picLocks noChangeAspect="1"/>
          </p:cNvPicPr>
          <p:nvPr/>
        </p:nvPicPr>
        <p:blipFill>
          <a:blip r:embed="rId7"/>
          <a:stretch>
            <a:fillRect/>
          </a:stretch>
        </p:blipFill>
        <p:spPr>
          <a:xfrm>
            <a:off x="857250" y="1851264"/>
            <a:ext cx="128588" cy="128588"/>
          </a:xfrm>
          <a:prstGeom prst="rect">
            <a:avLst/>
          </a:prstGeom>
        </p:spPr>
      </p:pic>
      <p:sp>
        <p:nvSpPr>
          <p:cNvPr id="13" name="Text 6"/>
          <p:cNvSpPr/>
          <p:nvPr/>
        </p:nvSpPr>
        <p:spPr>
          <a:xfrm>
            <a:off x="1071563" y="1822689"/>
            <a:ext cx="3357563" cy="320018"/>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Analyse des headers HTTP</a:t>
            </a:r>
            <a:r>
              <a:rPr lang="en-US" sz="834" dirty="0">
                <a:solidFill>
                  <a:srgbClr val="0A0A0A"/>
                </a:solidFill>
                <a:latin typeface="Open Sans" pitchFamily="34" charset="0"/>
                <a:ea typeface="Open Sans" pitchFamily="34" charset="-122"/>
                <a:cs typeface="Open Sans" pitchFamily="34" charset="-120"/>
              </a:rPr>
              <a:t> et des mécanismes de sécurité web.</a:t>
            </a:r>
            <a:endParaRPr lang="en-US" sz="784" dirty="0"/>
          </a:p>
        </p:txBody>
      </p:sp>
      <p:pic>
        <p:nvPicPr>
          <p:cNvPr id="14" name="Image 5" descr="preencoded.png"/>
          <p:cNvPicPr>
            <a:picLocks noChangeAspect="1"/>
          </p:cNvPicPr>
          <p:nvPr/>
        </p:nvPicPr>
        <p:blipFill>
          <a:blip r:embed="rId8"/>
          <a:stretch>
            <a:fillRect/>
          </a:stretch>
        </p:blipFill>
        <p:spPr>
          <a:xfrm>
            <a:off x="857250" y="2257006"/>
            <a:ext cx="128588" cy="128588"/>
          </a:xfrm>
          <a:prstGeom prst="rect">
            <a:avLst/>
          </a:prstGeom>
        </p:spPr>
      </p:pic>
      <p:sp>
        <p:nvSpPr>
          <p:cNvPr id="15" name="Text 7"/>
          <p:cNvSpPr/>
          <p:nvPr/>
        </p:nvSpPr>
        <p:spPr>
          <a:xfrm>
            <a:off x="1071563" y="2228431"/>
            <a:ext cx="2982516"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Identification et documentation</a:t>
            </a:r>
            <a:r>
              <a:rPr lang="en-US" sz="834" dirty="0">
                <a:solidFill>
                  <a:srgbClr val="0A0A0A"/>
                </a:solidFill>
                <a:latin typeface="Open Sans" pitchFamily="34" charset="0"/>
                <a:ea typeface="Open Sans" pitchFamily="34" charset="-122"/>
                <a:cs typeface="Open Sans" pitchFamily="34" charset="-120"/>
              </a:rPr>
              <a:t> des CVEs référencés.</a:t>
            </a:r>
            <a:endParaRPr lang="en-US" sz="784" dirty="0"/>
          </a:p>
        </p:txBody>
      </p:sp>
      <p:pic>
        <p:nvPicPr>
          <p:cNvPr id="16" name="Image 6" descr="preencoded.png"/>
          <p:cNvPicPr>
            <a:picLocks noChangeAspect="1"/>
          </p:cNvPicPr>
          <p:nvPr/>
        </p:nvPicPr>
        <p:blipFill>
          <a:blip r:embed="rId9"/>
          <a:stretch>
            <a:fillRect/>
          </a:stretch>
        </p:blipFill>
        <p:spPr>
          <a:xfrm>
            <a:off x="857250" y="2502740"/>
            <a:ext cx="144661" cy="128588"/>
          </a:xfrm>
          <a:prstGeom prst="rect">
            <a:avLst/>
          </a:prstGeom>
        </p:spPr>
      </p:pic>
      <p:sp>
        <p:nvSpPr>
          <p:cNvPr id="17" name="Text 8"/>
          <p:cNvSpPr/>
          <p:nvPr/>
        </p:nvSpPr>
        <p:spPr>
          <a:xfrm>
            <a:off x="1087636" y="2474165"/>
            <a:ext cx="3139678"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Revue de la surface d'attaque</a:t>
            </a:r>
            <a:r>
              <a:rPr lang="en-US" sz="834" dirty="0">
                <a:solidFill>
                  <a:srgbClr val="0A0A0A"/>
                </a:solidFill>
                <a:latin typeface="Open Sans" pitchFamily="34" charset="0"/>
                <a:ea typeface="Open Sans" pitchFamily="34" charset="-122"/>
                <a:cs typeface="Open Sans" pitchFamily="34" charset="-120"/>
              </a:rPr>
              <a:t> des protocoles industriels.</a:t>
            </a:r>
            <a:endParaRPr lang="en-US" sz="784" dirty="0"/>
          </a:p>
        </p:txBody>
      </p:sp>
      <p:pic>
        <p:nvPicPr>
          <p:cNvPr id="18" name="Image 7" descr="preencoded.png"/>
          <p:cNvPicPr>
            <a:picLocks noChangeAspect="1"/>
          </p:cNvPicPr>
          <p:nvPr/>
        </p:nvPicPr>
        <p:blipFill>
          <a:blip r:embed="rId10"/>
          <a:stretch>
            <a:fillRect/>
          </a:stretch>
        </p:blipFill>
        <p:spPr>
          <a:xfrm>
            <a:off x="857250" y="2748474"/>
            <a:ext cx="128588" cy="128588"/>
          </a:xfrm>
          <a:prstGeom prst="rect">
            <a:avLst/>
          </a:prstGeom>
        </p:spPr>
      </p:pic>
      <p:sp>
        <p:nvSpPr>
          <p:cNvPr id="19" name="Text 9"/>
          <p:cNvSpPr/>
          <p:nvPr/>
        </p:nvSpPr>
        <p:spPr>
          <a:xfrm>
            <a:off x="1071563" y="2719899"/>
            <a:ext cx="2536031"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Test d'accessibilité</a:t>
            </a:r>
            <a:r>
              <a:rPr lang="en-US" sz="834" dirty="0">
                <a:solidFill>
                  <a:srgbClr val="0A0A0A"/>
                </a:solidFill>
                <a:latin typeface="Open Sans" pitchFamily="34" charset="0"/>
                <a:ea typeface="Open Sans" pitchFamily="34" charset="-122"/>
                <a:cs typeface="Open Sans" pitchFamily="34" charset="-120"/>
              </a:rPr>
              <a:t> des credentials par défaut.</a:t>
            </a:r>
            <a:endParaRPr lang="en-US" sz="784" dirty="0"/>
          </a:p>
        </p:txBody>
      </p:sp>
      <p:sp>
        <p:nvSpPr>
          <p:cNvPr id="20" name="Shape 10"/>
          <p:cNvSpPr/>
          <p:nvPr/>
        </p:nvSpPr>
        <p:spPr>
          <a:xfrm>
            <a:off x="4857750" y="737229"/>
            <a:ext cx="3857625" cy="1676940"/>
          </a:xfrm>
          <a:prstGeom prst="rect">
            <a:avLst/>
          </a:prstGeom>
          <a:solidFill>
            <a:srgbClr val="FFFFFF"/>
          </a:solidFill>
          <a:ln/>
        </p:spPr>
        <p:txBody>
          <a:bodyPr/>
          <a:lstStyle/>
          <a:p>
            <a:endParaRPr lang="fr-FR"/>
          </a:p>
        </p:txBody>
      </p:sp>
      <p:sp>
        <p:nvSpPr>
          <p:cNvPr id="21" name="Shape 11"/>
          <p:cNvSpPr/>
          <p:nvPr/>
        </p:nvSpPr>
        <p:spPr>
          <a:xfrm>
            <a:off x="4857750" y="737229"/>
            <a:ext cx="3857625" cy="42863"/>
          </a:xfrm>
          <a:prstGeom prst="rect">
            <a:avLst/>
          </a:prstGeom>
          <a:solidFill>
            <a:srgbClr val="D32F2F"/>
          </a:solidFill>
          <a:ln/>
        </p:spPr>
        <p:txBody>
          <a:bodyPr/>
          <a:lstStyle/>
          <a:p>
            <a:endParaRPr lang="fr-FR"/>
          </a:p>
        </p:txBody>
      </p:sp>
      <p:pic>
        <p:nvPicPr>
          <p:cNvPr id="22" name="Image 8" descr="preencoded.png"/>
          <p:cNvPicPr>
            <a:picLocks noChangeAspect="1"/>
          </p:cNvPicPr>
          <p:nvPr/>
        </p:nvPicPr>
        <p:blipFill>
          <a:blip r:embed="rId11"/>
          <a:stretch>
            <a:fillRect/>
          </a:stretch>
        </p:blipFill>
        <p:spPr>
          <a:xfrm>
            <a:off x="5000625" y="893499"/>
            <a:ext cx="157163" cy="157163"/>
          </a:xfrm>
          <a:prstGeom prst="rect">
            <a:avLst/>
          </a:prstGeom>
        </p:spPr>
      </p:pic>
      <p:sp>
        <p:nvSpPr>
          <p:cNvPr id="23" name="Text 12"/>
          <p:cNvSpPr/>
          <p:nvPr/>
        </p:nvSpPr>
        <p:spPr>
          <a:xfrm>
            <a:off x="5229225" y="880104"/>
            <a:ext cx="2012752"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ACTIONS NON AUTORISÉES</a:t>
            </a:r>
            <a:endParaRPr lang="en-US" sz="1090" dirty="0"/>
          </a:p>
        </p:txBody>
      </p:sp>
      <p:pic>
        <p:nvPicPr>
          <p:cNvPr id="24" name="Image 9" descr="preencoded.png"/>
          <p:cNvPicPr>
            <a:picLocks noChangeAspect="1"/>
          </p:cNvPicPr>
          <p:nvPr/>
        </p:nvPicPr>
        <p:blipFill>
          <a:blip r:embed="rId12"/>
          <a:stretch>
            <a:fillRect/>
          </a:stretch>
        </p:blipFill>
        <p:spPr>
          <a:xfrm>
            <a:off x="5000625" y="1199787"/>
            <a:ext cx="128588" cy="128588"/>
          </a:xfrm>
          <a:prstGeom prst="rect">
            <a:avLst/>
          </a:prstGeom>
        </p:spPr>
      </p:pic>
      <p:sp>
        <p:nvSpPr>
          <p:cNvPr id="25" name="Text 13"/>
          <p:cNvSpPr/>
          <p:nvPr/>
        </p:nvSpPr>
        <p:spPr>
          <a:xfrm>
            <a:off x="5214938" y="1171212"/>
            <a:ext cx="3357563" cy="320018"/>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Exploitation active</a:t>
            </a:r>
            <a:r>
              <a:rPr lang="en-US" sz="834" dirty="0">
                <a:solidFill>
                  <a:srgbClr val="0A0A0A"/>
                </a:solidFill>
                <a:latin typeface="Open Sans" pitchFamily="34" charset="0"/>
                <a:ea typeface="Open Sans" pitchFamily="34" charset="-122"/>
                <a:cs typeface="Open Sans" pitchFamily="34" charset="-120"/>
              </a:rPr>
              <a:t> des vulnérabilités (tests limités à la reconnaissance).</a:t>
            </a:r>
            <a:endParaRPr lang="en-US" sz="784" dirty="0"/>
          </a:p>
        </p:txBody>
      </p:sp>
      <p:pic>
        <p:nvPicPr>
          <p:cNvPr id="26" name="Image 10" descr="preencoded.png"/>
          <p:cNvPicPr>
            <a:picLocks noChangeAspect="1"/>
          </p:cNvPicPr>
          <p:nvPr/>
        </p:nvPicPr>
        <p:blipFill>
          <a:blip r:embed="rId13"/>
          <a:stretch>
            <a:fillRect/>
          </a:stretch>
        </p:blipFill>
        <p:spPr>
          <a:xfrm>
            <a:off x="5000625" y="1605530"/>
            <a:ext cx="128588" cy="128588"/>
          </a:xfrm>
          <a:prstGeom prst="rect">
            <a:avLst/>
          </a:prstGeom>
        </p:spPr>
      </p:pic>
      <p:sp>
        <p:nvSpPr>
          <p:cNvPr id="27" name="Text 14"/>
          <p:cNvSpPr/>
          <p:nvPr/>
        </p:nvSpPr>
        <p:spPr>
          <a:xfrm>
            <a:off x="5214938" y="1576955"/>
            <a:ext cx="3357563" cy="320018"/>
          </a:xfrm>
          <a:prstGeom prst="rect">
            <a:avLst/>
          </a:prstGeom>
          <a:noFill/>
          <a:ln/>
        </p:spPr>
        <p:txBody>
          <a:bodyPr wrap="squar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Tests en environnement de production</a:t>
            </a:r>
            <a:r>
              <a:rPr lang="en-US" sz="834" dirty="0">
                <a:solidFill>
                  <a:srgbClr val="0A0A0A"/>
                </a:solidFill>
                <a:latin typeface="Open Sans" pitchFamily="34" charset="0"/>
                <a:ea typeface="Open Sans" pitchFamily="34" charset="-122"/>
                <a:cs typeface="Open Sans" pitchFamily="34" charset="-120"/>
              </a:rPr>
              <a:t> (limité à la VM de test).</a:t>
            </a:r>
            <a:endParaRPr lang="en-US" sz="784" dirty="0"/>
          </a:p>
        </p:txBody>
      </p:sp>
      <p:pic>
        <p:nvPicPr>
          <p:cNvPr id="28" name="Image 11" descr="preencoded.png"/>
          <p:cNvPicPr>
            <a:picLocks noChangeAspect="1"/>
          </p:cNvPicPr>
          <p:nvPr/>
        </p:nvPicPr>
        <p:blipFill>
          <a:blip r:embed="rId14"/>
          <a:stretch>
            <a:fillRect/>
          </a:stretch>
        </p:blipFill>
        <p:spPr>
          <a:xfrm>
            <a:off x="5000625" y="2011273"/>
            <a:ext cx="128588" cy="128588"/>
          </a:xfrm>
          <a:prstGeom prst="rect">
            <a:avLst/>
          </a:prstGeom>
        </p:spPr>
      </p:pic>
      <p:sp>
        <p:nvSpPr>
          <p:cNvPr id="29" name="Text 15"/>
          <p:cNvSpPr/>
          <p:nvPr/>
        </p:nvSpPr>
        <p:spPr>
          <a:xfrm>
            <a:off x="5214938" y="1982698"/>
            <a:ext cx="3077170" cy="160009"/>
          </a:xfrm>
          <a:prstGeom prst="rect">
            <a:avLst/>
          </a:prstGeom>
          <a:noFill/>
          <a:ln/>
        </p:spPr>
        <p:txBody>
          <a:bodyPr wrap="none" lIns="0" tIns="0" rIns="0" bIns="0" rtlCol="0" anchor="t">
            <a:spAutoFit/>
          </a:bodyPr>
          <a:lstStyle/>
          <a:p>
            <a:pPr marL="0" indent="0" algn="l">
              <a:lnSpc>
                <a:spcPts val="1300"/>
              </a:lnSpc>
              <a:buNone/>
            </a:pPr>
            <a:r>
              <a:rPr lang="en-US" sz="784" b="1" dirty="0">
                <a:solidFill>
                  <a:srgbClr val="242424"/>
                </a:solidFill>
                <a:latin typeface="Open Sans" pitchFamily="34" charset="0"/>
                <a:ea typeface="Open Sans" pitchFamily="34" charset="-122"/>
                <a:cs typeface="Open Sans" pitchFamily="34" charset="-120"/>
              </a:rPr>
              <a:t>Fuzzing</a:t>
            </a:r>
            <a:r>
              <a:rPr lang="en-US" sz="834" dirty="0">
                <a:solidFill>
                  <a:srgbClr val="0A0A0A"/>
                </a:solidFill>
                <a:latin typeface="Open Sans" pitchFamily="34" charset="0"/>
                <a:ea typeface="Open Sans" pitchFamily="34" charset="-122"/>
                <a:cs typeface="Open Sans" pitchFamily="34" charset="-120"/>
              </a:rPr>
              <a:t> des protocoles industriels (Modbus, EtherNet/IP).</a:t>
            </a:r>
            <a:endParaRPr lang="en-US" sz="7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Grp="1" noRot="1" noChangeAspect="1" noMove="1" noResize="1" noEditPoints="1" noAdjustHandles="1" noChangeArrowheads="1" noChangeShapeType="1" noCrop="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327205"/>
          </a:xfrm>
          <a:prstGeom prst="rect">
            <a:avLst/>
          </a:prstGeom>
          <a:noFill/>
          <a:ln/>
        </p:spPr>
        <p:txBody>
          <a:bodyPr wrap="square" lIns="0" tIns="0" rIns="0" bIns="0" rtlCol="0" anchor="t">
            <a:spAutoFit/>
          </a:bodyPr>
          <a:lstStyle/>
          <a:p>
            <a:pPr marL="0" indent="0" algn="l">
              <a:lnSpc>
                <a:spcPts val="2700"/>
              </a:lnSpc>
              <a:buNone/>
            </a:pPr>
            <a:r>
              <a:rPr lang="en-US" sz="2016" b="1" dirty="0">
                <a:solidFill>
                  <a:srgbClr val="0A0A0A"/>
                </a:solidFill>
                <a:latin typeface="Roboto" pitchFamily="34" charset="0"/>
                <a:ea typeface="Roboto" pitchFamily="34" charset="-122"/>
                <a:cs typeface="Roboto" pitchFamily="34" charset="-120"/>
              </a:rPr>
              <a:t>MÉTHODOLOGIE EN 3 PHASES</a:t>
            </a:r>
            <a:endParaRPr lang="en-US" sz="2016" dirty="0"/>
          </a:p>
        </p:txBody>
      </p:sp>
      <p:sp>
        <p:nvSpPr>
          <p:cNvPr id="6" name="Shape 2"/>
          <p:cNvSpPr/>
          <p:nvPr/>
        </p:nvSpPr>
        <p:spPr>
          <a:xfrm>
            <a:off x="714375" y="1450181"/>
            <a:ext cx="2609841" cy="1864519"/>
          </a:xfrm>
          <a:prstGeom prst="rect">
            <a:avLst/>
          </a:prstGeom>
          <a:solidFill>
            <a:srgbClr val="FFFFFF"/>
          </a:solidFill>
          <a:ln/>
        </p:spPr>
        <p:txBody>
          <a:bodyPr/>
          <a:lstStyle/>
          <a:p>
            <a:endParaRPr lang="fr-FR"/>
          </a:p>
        </p:txBody>
      </p:sp>
      <p:sp>
        <p:nvSpPr>
          <p:cNvPr id="7" name="Shape 3"/>
          <p:cNvSpPr/>
          <p:nvPr/>
        </p:nvSpPr>
        <p:spPr>
          <a:xfrm>
            <a:off x="714375" y="1450181"/>
            <a:ext cx="2609841" cy="42863"/>
          </a:xfrm>
          <a:prstGeom prst="rect">
            <a:avLst/>
          </a:prstGeom>
          <a:solidFill>
            <a:srgbClr val="D32F2F"/>
          </a:solidFill>
          <a:ln/>
        </p:spPr>
        <p:txBody>
          <a:bodyPr/>
          <a:lstStyle/>
          <a:p>
            <a:endParaRPr lang="fr-FR"/>
          </a:p>
        </p:txBody>
      </p:sp>
      <p:sp>
        <p:nvSpPr>
          <p:cNvPr id="8" name="Text 4"/>
          <p:cNvSpPr/>
          <p:nvPr/>
        </p:nvSpPr>
        <p:spPr>
          <a:xfrm>
            <a:off x="1071563" y="1521619"/>
            <a:ext cx="1309092" cy="335756"/>
          </a:xfrm>
          <a:prstGeom prst="rect">
            <a:avLst/>
          </a:prstGeom>
          <a:noFill/>
          <a:ln/>
        </p:spPr>
        <p:txBody>
          <a:bodyPr wrap="square" lIns="0" tIns="0" rIns="0" bIns="0" rtlCol="0" anchor="t">
            <a:spAutoFit/>
          </a:bodyPr>
          <a:lstStyle/>
          <a:p>
            <a:pPr marL="0" indent="0" algn="l">
              <a:lnSpc>
                <a:spcPts val="1400"/>
              </a:lnSpc>
              <a:buNone/>
            </a:pPr>
            <a:r>
              <a:rPr lang="en-US" sz="987" b="1" dirty="0">
                <a:solidFill>
                  <a:srgbClr val="242424"/>
                </a:solidFill>
                <a:latin typeface="Roboto" pitchFamily="34" charset="0"/>
                <a:ea typeface="Roboto" pitchFamily="34" charset="-122"/>
                <a:cs typeface="Roboto" pitchFamily="34" charset="-120"/>
              </a:rPr>
              <a:t>PHASE 1
ANALYSE STATIQUE</a:t>
            </a:r>
            <a:endParaRPr lang="en-US" sz="987" dirty="0"/>
          </a:p>
        </p:txBody>
      </p:sp>
      <p:sp>
        <p:nvSpPr>
          <p:cNvPr id="9" name="Text 5"/>
          <p:cNvSpPr/>
          <p:nvPr/>
        </p:nvSpPr>
        <p:spPr>
          <a:xfrm>
            <a:off x="785813" y="1985963"/>
            <a:ext cx="2466966" cy="250031"/>
          </a:xfrm>
          <a:prstGeom prst="rect">
            <a:avLst/>
          </a:prstGeom>
          <a:noFill/>
          <a:ln/>
        </p:spPr>
        <p:txBody>
          <a:bodyPr wrap="squar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Grep automatisé sur patterns dangereux (strcpy, system, sprintf...)</a:t>
            </a:r>
            <a:endParaRPr lang="en-US" sz="727" dirty="0"/>
          </a:p>
        </p:txBody>
      </p:sp>
      <p:sp>
        <p:nvSpPr>
          <p:cNvPr id="10" name="Text 6"/>
          <p:cNvSpPr/>
          <p:nvPr/>
        </p:nvSpPr>
        <p:spPr>
          <a:xfrm>
            <a:off x="785813" y="2278856"/>
            <a:ext cx="2466966" cy="250031"/>
          </a:xfrm>
          <a:prstGeom prst="rect">
            <a:avLst/>
          </a:prstGeom>
          <a:noFill/>
          <a:ln/>
        </p:spPr>
        <p:txBody>
          <a:bodyPr wrap="squar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Recherche de credentials hardcodés dans fichiers de configuration</a:t>
            </a:r>
            <a:endParaRPr lang="en-US" sz="727" dirty="0"/>
          </a:p>
        </p:txBody>
      </p:sp>
      <p:sp>
        <p:nvSpPr>
          <p:cNvPr id="11" name="Text 7"/>
          <p:cNvSpPr/>
          <p:nvPr/>
        </p:nvSpPr>
        <p:spPr>
          <a:xfrm>
            <a:off x="785813" y="2571750"/>
            <a:ext cx="2466966" cy="250031"/>
          </a:xfrm>
          <a:prstGeom prst="rect">
            <a:avLst/>
          </a:prstGeom>
          <a:noFill/>
          <a:ln/>
        </p:spPr>
        <p:txBody>
          <a:bodyPr wrap="squar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Identification des endpoints Flask sans validation d'entrée</a:t>
            </a:r>
            <a:endParaRPr lang="en-US" sz="727" dirty="0"/>
          </a:p>
        </p:txBody>
      </p:sp>
      <p:sp>
        <p:nvSpPr>
          <p:cNvPr id="12" name="Text 8"/>
          <p:cNvSpPr/>
          <p:nvPr/>
        </p:nvSpPr>
        <p:spPr>
          <a:xfrm>
            <a:off x="785813" y="2864644"/>
            <a:ext cx="2466966"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Vérification des mécanismes de protection CSRF</a:t>
            </a:r>
            <a:endParaRPr lang="en-US" sz="727" dirty="0"/>
          </a:p>
        </p:txBody>
      </p:sp>
      <p:sp>
        <p:nvSpPr>
          <p:cNvPr id="13" name="Text 9"/>
          <p:cNvSpPr/>
          <p:nvPr/>
        </p:nvSpPr>
        <p:spPr>
          <a:xfrm>
            <a:off x="785813" y="3032522"/>
            <a:ext cx="2466966"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Inspection de la base de données SQLite</a:t>
            </a:r>
            <a:endParaRPr lang="en-US" sz="727" dirty="0"/>
          </a:p>
        </p:txBody>
      </p:sp>
      <p:sp>
        <p:nvSpPr>
          <p:cNvPr id="14" name="Shape 10"/>
          <p:cNvSpPr/>
          <p:nvPr/>
        </p:nvSpPr>
        <p:spPr>
          <a:xfrm>
            <a:off x="3409941" y="1450181"/>
            <a:ext cx="2609841" cy="1821656"/>
          </a:xfrm>
          <a:prstGeom prst="rect">
            <a:avLst/>
          </a:prstGeom>
          <a:solidFill>
            <a:srgbClr val="FFFFFF"/>
          </a:solidFill>
          <a:ln/>
        </p:spPr>
        <p:txBody>
          <a:bodyPr/>
          <a:lstStyle/>
          <a:p>
            <a:endParaRPr lang="fr-FR"/>
          </a:p>
        </p:txBody>
      </p:sp>
      <p:sp>
        <p:nvSpPr>
          <p:cNvPr id="15" name="Shape 11"/>
          <p:cNvSpPr/>
          <p:nvPr/>
        </p:nvSpPr>
        <p:spPr>
          <a:xfrm>
            <a:off x="3409941" y="1450181"/>
            <a:ext cx="2609841" cy="42863"/>
          </a:xfrm>
          <a:prstGeom prst="rect">
            <a:avLst/>
          </a:prstGeom>
          <a:solidFill>
            <a:srgbClr val="D32F2F"/>
          </a:solidFill>
          <a:ln/>
        </p:spPr>
        <p:txBody>
          <a:bodyPr/>
          <a:lstStyle/>
          <a:p>
            <a:endParaRPr lang="fr-FR"/>
          </a:p>
        </p:txBody>
      </p:sp>
      <p:sp>
        <p:nvSpPr>
          <p:cNvPr id="16" name="Text 12"/>
          <p:cNvSpPr/>
          <p:nvPr/>
        </p:nvSpPr>
        <p:spPr>
          <a:xfrm>
            <a:off x="785813" y="2014538"/>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17" name="Text 13"/>
          <p:cNvSpPr/>
          <p:nvPr/>
        </p:nvSpPr>
        <p:spPr>
          <a:xfrm>
            <a:off x="785813" y="2307431"/>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18" name="Text 14"/>
          <p:cNvSpPr/>
          <p:nvPr/>
        </p:nvSpPr>
        <p:spPr>
          <a:xfrm>
            <a:off x="785813" y="2600325"/>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19" name="Text 15"/>
          <p:cNvSpPr/>
          <p:nvPr/>
        </p:nvSpPr>
        <p:spPr>
          <a:xfrm>
            <a:off x="785813" y="2893219"/>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20" name="Text 16"/>
          <p:cNvSpPr/>
          <p:nvPr/>
        </p:nvSpPr>
        <p:spPr>
          <a:xfrm>
            <a:off x="785813" y="3061097"/>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pic>
        <p:nvPicPr>
          <p:cNvPr id="21" name="Image 1" descr="preencoded.png"/>
          <p:cNvPicPr>
            <a:picLocks noChangeAspect="1"/>
          </p:cNvPicPr>
          <p:nvPr/>
        </p:nvPicPr>
        <p:blipFill>
          <a:blip r:embed="rId4"/>
          <a:stretch>
            <a:fillRect/>
          </a:stretch>
        </p:blipFill>
        <p:spPr>
          <a:xfrm>
            <a:off x="3481378" y="1603772"/>
            <a:ext cx="214313" cy="171450"/>
          </a:xfrm>
          <a:prstGeom prst="rect">
            <a:avLst/>
          </a:prstGeom>
        </p:spPr>
      </p:pic>
      <p:sp>
        <p:nvSpPr>
          <p:cNvPr id="22" name="Text 17"/>
          <p:cNvSpPr/>
          <p:nvPr/>
        </p:nvSpPr>
        <p:spPr>
          <a:xfrm>
            <a:off x="3767128" y="1521619"/>
            <a:ext cx="1821656" cy="335756"/>
          </a:xfrm>
          <a:prstGeom prst="rect">
            <a:avLst/>
          </a:prstGeom>
          <a:noFill/>
          <a:ln/>
        </p:spPr>
        <p:txBody>
          <a:bodyPr wrap="square" lIns="0" tIns="0" rIns="0" bIns="0" rtlCol="0" anchor="t">
            <a:spAutoFit/>
          </a:bodyPr>
          <a:lstStyle/>
          <a:p>
            <a:pPr marL="0" indent="0" algn="l">
              <a:lnSpc>
                <a:spcPts val="1400"/>
              </a:lnSpc>
              <a:buNone/>
            </a:pPr>
            <a:r>
              <a:rPr lang="en-US" sz="987" b="1" dirty="0">
                <a:solidFill>
                  <a:srgbClr val="242424"/>
                </a:solidFill>
                <a:latin typeface="Roboto" pitchFamily="34" charset="0"/>
                <a:ea typeface="Roboto" pitchFamily="34" charset="-122"/>
                <a:cs typeface="Roboto" pitchFamily="34" charset="-120"/>
              </a:rPr>
              <a:t>PHASE 2
RECONNAISSANCE RÉSEAU</a:t>
            </a:r>
            <a:endParaRPr lang="en-US" sz="987" dirty="0"/>
          </a:p>
        </p:txBody>
      </p:sp>
      <p:sp>
        <p:nvSpPr>
          <p:cNvPr id="23" name="Text 18"/>
          <p:cNvSpPr/>
          <p:nvPr/>
        </p:nvSpPr>
        <p:spPr>
          <a:xfrm>
            <a:off x="3481378" y="1985963"/>
            <a:ext cx="2466966"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Scan de ports avec nmap (-sV, --script banner)</a:t>
            </a:r>
            <a:endParaRPr lang="en-US" sz="727" dirty="0"/>
          </a:p>
        </p:txBody>
      </p:sp>
      <p:sp>
        <p:nvSpPr>
          <p:cNvPr id="24" name="Text 19"/>
          <p:cNvSpPr/>
          <p:nvPr/>
        </p:nvSpPr>
        <p:spPr>
          <a:xfrm>
            <a:off x="3481378" y="2153841"/>
            <a:ext cx="2466966"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Analyse des headers HTTP de réponse (sécurité)</a:t>
            </a:r>
            <a:endParaRPr lang="en-US" sz="727" dirty="0"/>
          </a:p>
        </p:txBody>
      </p:sp>
      <p:sp>
        <p:nvSpPr>
          <p:cNvPr id="25" name="Text 20"/>
          <p:cNvSpPr/>
          <p:nvPr/>
        </p:nvSpPr>
        <p:spPr>
          <a:xfrm>
            <a:off x="3481378" y="2321719"/>
            <a:ext cx="2466966"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Test d'accessibilité de l'interface web et API REST</a:t>
            </a:r>
            <a:endParaRPr lang="en-US" sz="727" dirty="0"/>
          </a:p>
        </p:txBody>
      </p:sp>
      <p:sp>
        <p:nvSpPr>
          <p:cNvPr id="26" name="Text 21"/>
          <p:cNvSpPr/>
          <p:nvPr/>
        </p:nvSpPr>
        <p:spPr>
          <a:xfrm>
            <a:off x="3481378" y="2489597"/>
            <a:ext cx="2466966" cy="250031"/>
          </a:xfrm>
          <a:prstGeom prst="rect">
            <a:avLst/>
          </a:prstGeom>
          <a:noFill/>
          <a:ln/>
        </p:spPr>
        <p:txBody>
          <a:bodyPr wrap="squar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Vérification exposition ports Modbus (502) et EtherNet/IP (44818)</a:t>
            </a:r>
            <a:endParaRPr lang="en-US" sz="727" dirty="0"/>
          </a:p>
        </p:txBody>
      </p:sp>
      <p:sp>
        <p:nvSpPr>
          <p:cNvPr id="27" name="Text 22"/>
          <p:cNvSpPr/>
          <p:nvPr/>
        </p:nvSpPr>
        <p:spPr>
          <a:xfrm>
            <a:off x="3481378" y="2782491"/>
            <a:ext cx="2466966"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Scan de vulnérabilités web avec Nikto</a:t>
            </a:r>
            <a:endParaRPr lang="en-US" sz="727" dirty="0"/>
          </a:p>
        </p:txBody>
      </p:sp>
      <p:sp>
        <p:nvSpPr>
          <p:cNvPr id="28" name="Shape 23"/>
          <p:cNvSpPr/>
          <p:nvPr/>
        </p:nvSpPr>
        <p:spPr>
          <a:xfrm>
            <a:off x="6105506" y="1450181"/>
            <a:ext cx="2609869" cy="1821656"/>
          </a:xfrm>
          <a:prstGeom prst="rect">
            <a:avLst/>
          </a:prstGeom>
          <a:solidFill>
            <a:srgbClr val="FFFFFF"/>
          </a:solidFill>
          <a:ln/>
        </p:spPr>
        <p:txBody>
          <a:bodyPr/>
          <a:lstStyle/>
          <a:p>
            <a:endParaRPr lang="fr-FR"/>
          </a:p>
        </p:txBody>
      </p:sp>
      <p:sp>
        <p:nvSpPr>
          <p:cNvPr id="29" name="Shape 24"/>
          <p:cNvSpPr/>
          <p:nvPr/>
        </p:nvSpPr>
        <p:spPr>
          <a:xfrm>
            <a:off x="6105506" y="1450181"/>
            <a:ext cx="2609869" cy="42863"/>
          </a:xfrm>
          <a:prstGeom prst="rect">
            <a:avLst/>
          </a:prstGeom>
          <a:solidFill>
            <a:srgbClr val="D32F2F"/>
          </a:solidFill>
          <a:ln/>
        </p:spPr>
        <p:txBody>
          <a:bodyPr/>
          <a:lstStyle/>
          <a:p>
            <a:endParaRPr lang="fr-FR"/>
          </a:p>
        </p:txBody>
      </p:sp>
      <p:sp>
        <p:nvSpPr>
          <p:cNvPr id="30" name="Text 25"/>
          <p:cNvSpPr/>
          <p:nvPr/>
        </p:nvSpPr>
        <p:spPr>
          <a:xfrm>
            <a:off x="3481378" y="2014538"/>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31" name="Text 26"/>
          <p:cNvSpPr/>
          <p:nvPr/>
        </p:nvSpPr>
        <p:spPr>
          <a:xfrm>
            <a:off x="3481378" y="2182416"/>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32" name="Text 27"/>
          <p:cNvSpPr/>
          <p:nvPr/>
        </p:nvSpPr>
        <p:spPr>
          <a:xfrm>
            <a:off x="3481378" y="2350294"/>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33" name="Text 28"/>
          <p:cNvSpPr/>
          <p:nvPr/>
        </p:nvSpPr>
        <p:spPr>
          <a:xfrm>
            <a:off x="3481378" y="2518172"/>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34" name="Text 29"/>
          <p:cNvSpPr/>
          <p:nvPr/>
        </p:nvSpPr>
        <p:spPr>
          <a:xfrm>
            <a:off x="3481378" y="2811066"/>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pic>
        <p:nvPicPr>
          <p:cNvPr id="35" name="Image 2" descr="preencoded.png"/>
          <p:cNvPicPr>
            <a:picLocks noChangeAspect="1"/>
          </p:cNvPicPr>
          <p:nvPr/>
        </p:nvPicPr>
        <p:blipFill>
          <a:blip r:embed="rId5"/>
          <a:stretch>
            <a:fillRect/>
          </a:stretch>
        </p:blipFill>
        <p:spPr>
          <a:xfrm>
            <a:off x="6176944" y="1603772"/>
            <a:ext cx="214313" cy="171450"/>
          </a:xfrm>
          <a:prstGeom prst="rect">
            <a:avLst/>
          </a:prstGeom>
        </p:spPr>
      </p:pic>
      <p:sp>
        <p:nvSpPr>
          <p:cNvPr id="36" name="Text 30"/>
          <p:cNvSpPr/>
          <p:nvPr/>
        </p:nvSpPr>
        <p:spPr>
          <a:xfrm>
            <a:off x="6462694" y="1521619"/>
            <a:ext cx="1257300" cy="335756"/>
          </a:xfrm>
          <a:prstGeom prst="rect">
            <a:avLst/>
          </a:prstGeom>
          <a:noFill/>
          <a:ln/>
        </p:spPr>
        <p:txBody>
          <a:bodyPr wrap="square" lIns="0" tIns="0" rIns="0" bIns="0" rtlCol="0" anchor="t">
            <a:spAutoFit/>
          </a:bodyPr>
          <a:lstStyle/>
          <a:p>
            <a:pPr marL="0" indent="0" algn="l">
              <a:lnSpc>
                <a:spcPts val="1400"/>
              </a:lnSpc>
              <a:buNone/>
            </a:pPr>
            <a:r>
              <a:rPr lang="en-US" sz="987" b="1" dirty="0">
                <a:solidFill>
                  <a:srgbClr val="242424"/>
                </a:solidFill>
                <a:latin typeface="Roboto" pitchFamily="34" charset="0"/>
                <a:ea typeface="Roboto" pitchFamily="34" charset="-122"/>
                <a:cs typeface="Roboto" pitchFamily="34" charset="-120"/>
              </a:rPr>
              <a:t>PHASE 3
CORRÉLATION CVE</a:t>
            </a:r>
            <a:endParaRPr lang="en-US" sz="987" dirty="0"/>
          </a:p>
        </p:txBody>
      </p:sp>
      <p:sp>
        <p:nvSpPr>
          <p:cNvPr id="37" name="Text 31"/>
          <p:cNvSpPr/>
          <p:nvPr/>
        </p:nvSpPr>
        <p:spPr>
          <a:xfrm>
            <a:off x="6176944" y="1985963"/>
            <a:ext cx="2466994"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National Vulnerability Database (NVD/NIST)</a:t>
            </a:r>
            <a:endParaRPr lang="en-US" sz="727" dirty="0"/>
          </a:p>
        </p:txBody>
      </p:sp>
      <p:sp>
        <p:nvSpPr>
          <p:cNvPr id="38" name="Text 32"/>
          <p:cNvSpPr/>
          <p:nvPr/>
        </p:nvSpPr>
        <p:spPr>
          <a:xfrm>
            <a:off x="6176944" y="2153841"/>
            <a:ext cx="2466994"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CISA ICS Advisories (cisa.gov/ics)</a:t>
            </a:r>
            <a:endParaRPr lang="en-US" sz="727" dirty="0"/>
          </a:p>
        </p:txBody>
      </p:sp>
      <p:sp>
        <p:nvSpPr>
          <p:cNvPr id="39" name="Text 33"/>
          <p:cNvSpPr/>
          <p:nvPr/>
        </p:nvSpPr>
        <p:spPr>
          <a:xfrm>
            <a:off x="6176944" y="2321719"/>
            <a:ext cx="2466994"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Cisco Talos Intelligence</a:t>
            </a:r>
            <a:endParaRPr lang="en-US" sz="727" dirty="0"/>
          </a:p>
        </p:txBody>
      </p:sp>
      <p:sp>
        <p:nvSpPr>
          <p:cNvPr id="40" name="Text 34"/>
          <p:cNvSpPr/>
          <p:nvPr/>
        </p:nvSpPr>
        <p:spPr>
          <a:xfrm>
            <a:off x="6176944" y="2489597"/>
            <a:ext cx="2466994" cy="125016"/>
          </a:xfrm>
          <a:prstGeom prst="rect">
            <a:avLst/>
          </a:prstGeom>
          <a:noFill/>
          <a:ln/>
        </p:spPr>
        <p:txBody>
          <a:bodyPr wrap="none" lIns="127508" tIns="0" rIns="0" bIns="0" rtlCol="0" anchor="t">
            <a:spAutoFit/>
          </a:bodyPr>
          <a:lstStyle/>
          <a:p>
            <a:pPr marL="0" indent="0" algn="l">
              <a:lnSpc>
                <a:spcPts val="1000"/>
              </a:lnSpc>
              <a:buNone/>
            </a:pPr>
            <a:r>
              <a:rPr lang="en-US" sz="727" dirty="0">
                <a:solidFill>
                  <a:srgbClr val="242424"/>
                </a:solidFill>
                <a:latin typeface="Open Sans" pitchFamily="34" charset="0"/>
                <a:ea typeface="Open Sans" pitchFamily="34" charset="-122"/>
                <a:cs typeface="Open Sans" pitchFamily="34" charset="-120"/>
              </a:rPr>
              <a:t>CVEdetails.com — openplcproject</a:t>
            </a:r>
            <a:endParaRPr lang="en-US" sz="727" dirty="0"/>
          </a:p>
        </p:txBody>
      </p:sp>
      <p:sp>
        <p:nvSpPr>
          <p:cNvPr id="41" name="Text 35"/>
          <p:cNvSpPr/>
          <p:nvPr/>
        </p:nvSpPr>
        <p:spPr>
          <a:xfrm>
            <a:off x="6176944" y="2014538"/>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42" name="Text 36"/>
          <p:cNvSpPr/>
          <p:nvPr/>
        </p:nvSpPr>
        <p:spPr>
          <a:xfrm>
            <a:off x="6176944" y="2182416"/>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43" name="Text 37"/>
          <p:cNvSpPr/>
          <p:nvPr/>
        </p:nvSpPr>
        <p:spPr>
          <a:xfrm>
            <a:off x="6176944" y="2350294"/>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44" name="Text 38"/>
          <p:cNvSpPr/>
          <p:nvPr/>
        </p:nvSpPr>
        <p:spPr>
          <a:xfrm>
            <a:off x="6176944" y="2518172"/>
            <a:ext cx="34491" cy="71438"/>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49" name="Text 43"/>
          <p:cNvSpPr/>
          <p:nvPr/>
        </p:nvSpPr>
        <p:spPr>
          <a:xfrm>
            <a:off x="714375" y="3582591"/>
            <a:ext cx="2306566" cy="235744"/>
          </a:xfrm>
          <a:prstGeom prst="rect">
            <a:avLst/>
          </a:prstGeom>
          <a:noFill/>
          <a:ln/>
        </p:spPr>
        <p:txBody>
          <a:bodyPr wrap="square" lIns="102108" tIns="68072" rIns="102108" bIns="68072" rtlCol="0" anchor="ctr">
            <a:spAutoFit/>
          </a:bodyPr>
          <a:lstStyle/>
          <a:p>
            <a:pPr marL="0" indent="0" algn="l">
              <a:lnSpc>
                <a:spcPts val="900"/>
              </a:lnSpc>
              <a:buNone/>
            </a:pPr>
            <a:r>
              <a:rPr lang="en-US" sz="683" b="1" dirty="0">
                <a:solidFill>
                  <a:srgbClr val="FFFFFF"/>
                </a:solidFill>
                <a:latin typeface="Roboto" pitchFamily="34" charset="0"/>
                <a:ea typeface="Roboto" pitchFamily="34" charset="-122"/>
                <a:cs typeface="Roboto" pitchFamily="34" charset="-120"/>
              </a:rPr>
              <a:t>SCRIPT</a:t>
            </a:r>
            <a:endParaRPr lang="en-US" sz="683" dirty="0"/>
          </a:p>
        </p:txBody>
      </p:sp>
      <p:sp>
        <p:nvSpPr>
          <p:cNvPr id="55" name="Text 49"/>
          <p:cNvSpPr/>
          <p:nvPr/>
        </p:nvSpPr>
        <p:spPr>
          <a:xfrm>
            <a:off x="6419162" y="3582591"/>
            <a:ext cx="2296213" cy="235744"/>
          </a:xfrm>
          <a:prstGeom prst="rect">
            <a:avLst/>
          </a:prstGeom>
          <a:noFill/>
          <a:ln/>
        </p:spPr>
        <p:txBody>
          <a:bodyPr wrap="square" lIns="102108" tIns="68072" rIns="102108" bIns="68072" rtlCol="0" anchor="ctr">
            <a:spAutoFit/>
          </a:bodyPr>
          <a:lstStyle/>
          <a:p>
            <a:pPr marL="0" indent="0" algn="l">
              <a:lnSpc>
                <a:spcPts val="900"/>
              </a:lnSpc>
              <a:buNone/>
            </a:pPr>
            <a:r>
              <a:rPr lang="en-US" sz="683" b="1" dirty="0">
                <a:solidFill>
                  <a:srgbClr val="FFFFFF"/>
                </a:solidFill>
                <a:latin typeface="Roboto" pitchFamily="34" charset="0"/>
                <a:ea typeface="Roboto" pitchFamily="34" charset="-122"/>
                <a:cs typeface="Roboto" pitchFamily="34" charset="-120"/>
              </a:rPr>
              <a:t>RÉSULTAT</a:t>
            </a:r>
            <a:endParaRPr lang="en-US" sz="683"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685800"/>
          </a:xfrm>
          <a:prstGeom prst="rect">
            <a:avLst/>
          </a:prstGeom>
          <a:noFill/>
          <a:ln/>
        </p:spPr>
        <p:txBody>
          <a:bodyPr wrap="square" lIns="0" tIns="0" rIns="0" bIns="0" rtlCol="0" anchor="t">
            <a:spAutoFit/>
          </a:bodyPr>
          <a:lstStyle/>
          <a:p>
            <a:pPr marL="0" indent="0" algn="l">
              <a:lnSpc>
                <a:spcPts val="2700"/>
              </a:lnSpc>
              <a:buNone/>
            </a:pPr>
            <a:r>
              <a:rPr lang="en-US" sz="2016" b="1" dirty="0">
                <a:solidFill>
                  <a:srgbClr val="F5F5F5"/>
                </a:solidFill>
                <a:latin typeface="Roboto" pitchFamily="34" charset="0"/>
                <a:ea typeface="Roboto" pitchFamily="34" charset="-122"/>
                <a:cs typeface="Roboto" pitchFamily="34" charset="-120"/>
              </a:rPr>
              <a:t>9 VULNÉRABILITÉS CVE DOCUMENTÉES
SCORE DE MATURITÉ GLOBAL : </a:t>
            </a:r>
            <a:r>
              <a:rPr lang="en-US" sz="2016" b="1" dirty="0">
                <a:solidFill>
                  <a:srgbClr val="D32F2F"/>
                </a:solidFill>
                <a:latin typeface="Roboto" pitchFamily="34" charset="0"/>
                <a:ea typeface="Roboto" pitchFamily="34" charset="-122"/>
                <a:cs typeface="Roboto" pitchFamily="34" charset="-120"/>
              </a:rPr>
              <a:t>4.2/10</a:t>
            </a:r>
            <a:endParaRPr lang="en-US" sz="2016" dirty="0"/>
          </a:p>
        </p:txBody>
      </p:sp>
      <p:sp>
        <p:nvSpPr>
          <p:cNvPr id="5" name="Shape 1"/>
          <p:cNvSpPr/>
          <p:nvPr/>
        </p:nvSpPr>
        <p:spPr>
          <a:xfrm>
            <a:off x="714375" y="1057275"/>
            <a:ext cx="1935956" cy="798314"/>
          </a:xfrm>
          <a:prstGeom prst="rect">
            <a:avLst/>
          </a:prstGeom>
          <a:solidFill>
            <a:srgbClr val="1A1A1A"/>
          </a:solidFill>
          <a:ln/>
        </p:spPr>
        <p:txBody>
          <a:bodyPr/>
          <a:lstStyle/>
          <a:p>
            <a:endParaRPr lang="fr-FR"/>
          </a:p>
        </p:txBody>
      </p:sp>
      <p:sp>
        <p:nvSpPr>
          <p:cNvPr id="6" name="Shape 2"/>
          <p:cNvSpPr/>
          <p:nvPr/>
        </p:nvSpPr>
        <p:spPr>
          <a:xfrm>
            <a:off x="714375" y="1057275"/>
            <a:ext cx="1935956" cy="28575"/>
          </a:xfrm>
          <a:prstGeom prst="rect">
            <a:avLst/>
          </a:prstGeom>
          <a:solidFill>
            <a:srgbClr val="D32F2F"/>
          </a:solidFill>
          <a:ln/>
        </p:spPr>
        <p:txBody>
          <a:bodyPr/>
          <a:lstStyle/>
          <a:p>
            <a:endParaRPr lang="fr-FR"/>
          </a:p>
        </p:txBody>
      </p:sp>
      <p:sp>
        <p:nvSpPr>
          <p:cNvPr id="7" name="Text 3"/>
          <p:cNvSpPr/>
          <p:nvPr/>
        </p:nvSpPr>
        <p:spPr>
          <a:xfrm>
            <a:off x="1550194" y="1128713"/>
            <a:ext cx="264319"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D32F2F"/>
                </a:solidFill>
                <a:latin typeface="Roboto" pitchFamily="34" charset="0"/>
                <a:ea typeface="Roboto" pitchFamily="34" charset="-122"/>
                <a:cs typeface="Roboto" pitchFamily="34" charset="-120"/>
              </a:rPr>
              <a:t>2</a:t>
            </a:r>
            <a:endParaRPr lang="en-US" sz="3294" dirty="0"/>
          </a:p>
        </p:txBody>
      </p:sp>
      <p:sp>
        <p:nvSpPr>
          <p:cNvPr id="8" name="Text 4"/>
          <p:cNvSpPr/>
          <p:nvPr/>
        </p:nvSpPr>
        <p:spPr>
          <a:xfrm>
            <a:off x="1193899" y="1628775"/>
            <a:ext cx="976908"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A0A0A0"/>
                </a:solidFill>
                <a:latin typeface="Open Sans" pitchFamily="34" charset="0"/>
                <a:ea typeface="Open Sans" pitchFamily="34" charset="-122"/>
                <a:cs typeface="Open Sans" pitchFamily="34" charset="-120"/>
              </a:rPr>
              <a:t>CRITIQUE (≥9.0)</a:t>
            </a:r>
            <a:endParaRPr lang="en-US" sz="784" dirty="0"/>
          </a:p>
        </p:txBody>
      </p:sp>
      <p:sp>
        <p:nvSpPr>
          <p:cNvPr id="9" name="Shape 5"/>
          <p:cNvSpPr/>
          <p:nvPr/>
        </p:nvSpPr>
        <p:spPr>
          <a:xfrm>
            <a:off x="2736056" y="1057275"/>
            <a:ext cx="1935956" cy="798314"/>
          </a:xfrm>
          <a:prstGeom prst="rect">
            <a:avLst/>
          </a:prstGeom>
          <a:solidFill>
            <a:srgbClr val="1A1A1A"/>
          </a:solidFill>
          <a:ln/>
        </p:spPr>
        <p:txBody>
          <a:bodyPr/>
          <a:lstStyle/>
          <a:p>
            <a:endParaRPr lang="fr-FR"/>
          </a:p>
        </p:txBody>
      </p:sp>
      <p:sp>
        <p:nvSpPr>
          <p:cNvPr id="10" name="Shape 6"/>
          <p:cNvSpPr/>
          <p:nvPr/>
        </p:nvSpPr>
        <p:spPr>
          <a:xfrm>
            <a:off x="2736056" y="1057275"/>
            <a:ext cx="1935956" cy="28575"/>
          </a:xfrm>
          <a:prstGeom prst="rect">
            <a:avLst/>
          </a:prstGeom>
          <a:solidFill>
            <a:srgbClr val="FF5252"/>
          </a:solidFill>
          <a:ln/>
        </p:spPr>
        <p:txBody>
          <a:bodyPr/>
          <a:lstStyle/>
          <a:p>
            <a:endParaRPr lang="fr-FR"/>
          </a:p>
        </p:txBody>
      </p:sp>
      <p:sp>
        <p:nvSpPr>
          <p:cNvPr id="11" name="Text 7"/>
          <p:cNvSpPr/>
          <p:nvPr/>
        </p:nvSpPr>
        <p:spPr>
          <a:xfrm>
            <a:off x="3571875" y="1128713"/>
            <a:ext cx="264319"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FF5252"/>
                </a:solidFill>
                <a:latin typeface="Roboto" pitchFamily="34" charset="0"/>
                <a:ea typeface="Roboto" pitchFamily="34" charset="-122"/>
                <a:cs typeface="Roboto" pitchFamily="34" charset="-120"/>
              </a:rPr>
              <a:t>5</a:t>
            </a:r>
            <a:endParaRPr lang="en-US" sz="3294" dirty="0"/>
          </a:p>
        </p:txBody>
      </p:sp>
      <p:sp>
        <p:nvSpPr>
          <p:cNvPr id="12" name="Text 8"/>
          <p:cNvSpPr/>
          <p:nvPr/>
        </p:nvSpPr>
        <p:spPr>
          <a:xfrm>
            <a:off x="3246834" y="1628775"/>
            <a:ext cx="914400"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A0A0A0"/>
                </a:solidFill>
                <a:latin typeface="Open Sans" pitchFamily="34" charset="0"/>
                <a:ea typeface="Open Sans" pitchFamily="34" charset="-122"/>
                <a:cs typeface="Open Sans" pitchFamily="34" charset="-120"/>
              </a:rPr>
              <a:t>ÉLEVÉ (7.0-8.9)</a:t>
            </a:r>
            <a:endParaRPr lang="en-US" sz="784" dirty="0"/>
          </a:p>
        </p:txBody>
      </p:sp>
      <p:sp>
        <p:nvSpPr>
          <p:cNvPr id="13" name="Shape 9"/>
          <p:cNvSpPr/>
          <p:nvPr/>
        </p:nvSpPr>
        <p:spPr>
          <a:xfrm>
            <a:off x="4757738" y="1057275"/>
            <a:ext cx="1935956" cy="798314"/>
          </a:xfrm>
          <a:prstGeom prst="rect">
            <a:avLst/>
          </a:prstGeom>
          <a:solidFill>
            <a:srgbClr val="1A1A1A"/>
          </a:solidFill>
          <a:ln/>
        </p:spPr>
        <p:txBody>
          <a:bodyPr/>
          <a:lstStyle/>
          <a:p>
            <a:endParaRPr lang="fr-FR"/>
          </a:p>
        </p:txBody>
      </p:sp>
      <p:sp>
        <p:nvSpPr>
          <p:cNvPr id="14" name="Shape 10"/>
          <p:cNvSpPr/>
          <p:nvPr/>
        </p:nvSpPr>
        <p:spPr>
          <a:xfrm>
            <a:off x="4757738" y="1057275"/>
            <a:ext cx="1935956" cy="28575"/>
          </a:xfrm>
          <a:prstGeom prst="rect">
            <a:avLst/>
          </a:prstGeom>
          <a:solidFill>
            <a:srgbClr val="FFB74D"/>
          </a:solidFill>
          <a:ln/>
        </p:spPr>
        <p:txBody>
          <a:bodyPr/>
          <a:lstStyle/>
          <a:p>
            <a:endParaRPr lang="fr-FR"/>
          </a:p>
        </p:txBody>
      </p:sp>
      <p:sp>
        <p:nvSpPr>
          <p:cNvPr id="15" name="Text 11"/>
          <p:cNvSpPr/>
          <p:nvPr/>
        </p:nvSpPr>
        <p:spPr>
          <a:xfrm>
            <a:off x="5593556" y="1128713"/>
            <a:ext cx="264319"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FFB74D"/>
                </a:solidFill>
                <a:latin typeface="Roboto" pitchFamily="34" charset="0"/>
                <a:ea typeface="Roboto" pitchFamily="34" charset="-122"/>
                <a:cs typeface="Roboto" pitchFamily="34" charset="-120"/>
              </a:rPr>
              <a:t>2</a:t>
            </a:r>
            <a:endParaRPr lang="en-US" sz="3294" dirty="0"/>
          </a:p>
        </p:txBody>
      </p:sp>
      <p:sp>
        <p:nvSpPr>
          <p:cNvPr id="16" name="Text 12"/>
          <p:cNvSpPr/>
          <p:nvPr/>
        </p:nvSpPr>
        <p:spPr>
          <a:xfrm>
            <a:off x="5221188" y="1628775"/>
            <a:ext cx="1009055"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A0A0A0"/>
                </a:solidFill>
                <a:latin typeface="Open Sans" pitchFamily="34" charset="0"/>
                <a:ea typeface="Open Sans" pitchFamily="34" charset="-122"/>
                <a:cs typeface="Open Sans" pitchFamily="34" charset="-120"/>
              </a:rPr>
              <a:t>MOYEN (4.0-6.9)</a:t>
            </a:r>
            <a:endParaRPr lang="en-US" sz="784" dirty="0"/>
          </a:p>
        </p:txBody>
      </p:sp>
      <p:sp>
        <p:nvSpPr>
          <p:cNvPr id="17" name="Shape 13"/>
          <p:cNvSpPr/>
          <p:nvPr/>
        </p:nvSpPr>
        <p:spPr>
          <a:xfrm>
            <a:off x="6779419" y="1057275"/>
            <a:ext cx="1935956" cy="798314"/>
          </a:xfrm>
          <a:prstGeom prst="rect">
            <a:avLst/>
          </a:prstGeom>
          <a:solidFill>
            <a:srgbClr val="1A1A1A"/>
          </a:solidFill>
          <a:ln/>
        </p:spPr>
        <p:txBody>
          <a:bodyPr/>
          <a:lstStyle/>
          <a:p>
            <a:endParaRPr lang="fr-FR"/>
          </a:p>
        </p:txBody>
      </p:sp>
      <p:sp>
        <p:nvSpPr>
          <p:cNvPr id="18" name="Shape 14"/>
          <p:cNvSpPr/>
          <p:nvPr/>
        </p:nvSpPr>
        <p:spPr>
          <a:xfrm>
            <a:off x="6779419" y="1057275"/>
            <a:ext cx="1935956" cy="28575"/>
          </a:xfrm>
          <a:prstGeom prst="rect">
            <a:avLst/>
          </a:prstGeom>
          <a:solidFill>
            <a:srgbClr val="81C784"/>
          </a:solidFill>
          <a:ln/>
        </p:spPr>
        <p:txBody>
          <a:bodyPr/>
          <a:lstStyle/>
          <a:p>
            <a:endParaRPr lang="fr-FR"/>
          </a:p>
        </p:txBody>
      </p:sp>
      <p:sp>
        <p:nvSpPr>
          <p:cNvPr id="19" name="Text 15"/>
          <p:cNvSpPr/>
          <p:nvPr/>
        </p:nvSpPr>
        <p:spPr>
          <a:xfrm>
            <a:off x="7615238" y="1114425"/>
            <a:ext cx="264319" cy="457200"/>
          </a:xfrm>
          <a:prstGeom prst="rect">
            <a:avLst/>
          </a:prstGeom>
          <a:noFill/>
          <a:ln/>
        </p:spPr>
        <p:txBody>
          <a:bodyPr wrap="none" lIns="0" tIns="0" rIns="0" bIns="0" rtlCol="0" anchor="t">
            <a:spAutoFit/>
          </a:bodyPr>
          <a:lstStyle/>
          <a:p>
            <a:pPr marL="0" indent="0" algn="l">
              <a:lnSpc>
                <a:spcPts val="3600"/>
              </a:lnSpc>
              <a:buNone/>
            </a:pPr>
            <a:r>
              <a:rPr lang="en-US" sz="3294" b="1" dirty="0">
                <a:solidFill>
                  <a:srgbClr val="81C784"/>
                </a:solidFill>
                <a:latin typeface="Roboto" pitchFamily="34" charset="0"/>
                <a:ea typeface="Roboto" pitchFamily="34" charset="-122"/>
                <a:cs typeface="Roboto" pitchFamily="34" charset="-120"/>
              </a:rPr>
              <a:t>0</a:t>
            </a:r>
            <a:endParaRPr lang="en-US" sz="3294" dirty="0"/>
          </a:p>
        </p:txBody>
      </p:sp>
      <p:sp>
        <p:nvSpPr>
          <p:cNvPr id="20" name="Text 16"/>
          <p:cNvSpPr/>
          <p:nvPr/>
        </p:nvSpPr>
        <p:spPr>
          <a:xfrm>
            <a:off x="7339310" y="1614488"/>
            <a:ext cx="816173"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A0A0A0"/>
                </a:solidFill>
                <a:latin typeface="Open Sans" pitchFamily="34" charset="0"/>
                <a:ea typeface="Open Sans" pitchFamily="34" charset="-122"/>
                <a:cs typeface="Open Sans" pitchFamily="34" charset="-120"/>
              </a:rPr>
              <a:t>FAIBLE (&lt;4.0)</a:t>
            </a:r>
            <a:endParaRPr lang="en-US" sz="784" dirty="0"/>
          </a:p>
        </p:txBody>
      </p:sp>
      <p:sp>
        <p:nvSpPr>
          <p:cNvPr id="21" name="Shape 17"/>
          <p:cNvSpPr/>
          <p:nvPr/>
        </p:nvSpPr>
        <p:spPr>
          <a:xfrm>
            <a:off x="714375" y="1912739"/>
            <a:ext cx="8001000" cy="2214563"/>
          </a:xfrm>
          <a:prstGeom prst="rect">
            <a:avLst/>
          </a:prstGeom>
          <a:solidFill>
            <a:srgbClr val="1A1A1A"/>
          </a:solidFill>
          <a:ln/>
        </p:spPr>
        <p:txBody>
          <a:bodyPr/>
          <a:lstStyle/>
          <a:p>
            <a:endParaRPr lang="fr-FR"/>
          </a:p>
        </p:txBody>
      </p:sp>
      <p:sp>
        <p:nvSpPr>
          <p:cNvPr id="22" name="Shape 18"/>
          <p:cNvSpPr/>
          <p:nvPr/>
        </p:nvSpPr>
        <p:spPr>
          <a:xfrm>
            <a:off x="771525" y="1969889"/>
            <a:ext cx="1890499" cy="207169"/>
          </a:xfrm>
          <a:prstGeom prst="rect">
            <a:avLst/>
          </a:prstGeom>
          <a:solidFill>
            <a:srgbClr val="242424"/>
          </a:solidFill>
          <a:ln/>
        </p:spPr>
        <p:txBody>
          <a:bodyPr/>
          <a:lstStyle/>
          <a:p>
            <a:endParaRPr lang="fr-FR"/>
          </a:p>
        </p:txBody>
      </p:sp>
      <p:sp>
        <p:nvSpPr>
          <p:cNvPr id="23" name="Shape 19"/>
          <p:cNvSpPr/>
          <p:nvPr/>
        </p:nvSpPr>
        <p:spPr>
          <a:xfrm>
            <a:off x="771525" y="2169914"/>
            <a:ext cx="1890499" cy="7144"/>
          </a:xfrm>
          <a:prstGeom prst="rect">
            <a:avLst/>
          </a:prstGeom>
          <a:solidFill>
            <a:srgbClr val="333333"/>
          </a:solidFill>
          <a:ln/>
        </p:spPr>
        <p:txBody>
          <a:bodyPr/>
          <a:lstStyle/>
          <a:p>
            <a:endParaRPr lang="fr-FR"/>
          </a:p>
        </p:txBody>
      </p:sp>
      <p:sp>
        <p:nvSpPr>
          <p:cNvPr id="24" name="Text 20"/>
          <p:cNvSpPr/>
          <p:nvPr/>
        </p:nvSpPr>
        <p:spPr>
          <a:xfrm>
            <a:off x="771525" y="1969889"/>
            <a:ext cx="1890499" cy="207169"/>
          </a:xfrm>
          <a:prstGeom prst="rect">
            <a:avLst/>
          </a:prstGeom>
          <a:noFill/>
          <a:ln/>
        </p:spPr>
        <p:txBody>
          <a:bodyPr wrap="square" lIns="68072" tIns="51054" rIns="68072" bIns="51054" rtlCol="0" anchor="ctr">
            <a:spAutoFit/>
          </a:bodyPr>
          <a:lstStyle/>
          <a:p>
            <a:pPr marL="0" indent="0" algn="l">
              <a:lnSpc>
                <a:spcPts val="900"/>
              </a:lnSpc>
              <a:buNone/>
            </a:pPr>
            <a:r>
              <a:rPr lang="en-US" sz="683" b="1" dirty="0">
                <a:solidFill>
                  <a:srgbClr val="F5F5F5"/>
                </a:solidFill>
                <a:latin typeface="Roboto" pitchFamily="34" charset="0"/>
                <a:ea typeface="Roboto" pitchFamily="34" charset="-122"/>
                <a:cs typeface="Roboto" pitchFamily="34" charset="-120"/>
              </a:rPr>
              <a:t>CVE ID</a:t>
            </a:r>
            <a:endParaRPr lang="en-US" sz="683" dirty="0"/>
          </a:p>
        </p:txBody>
      </p:sp>
      <p:sp>
        <p:nvSpPr>
          <p:cNvPr id="25" name="Shape 21"/>
          <p:cNvSpPr/>
          <p:nvPr/>
        </p:nvSpPr>
        <p:spPr>
          <a:xfrm>
            <a:off x="2662024" y="1969889"/>
            <a:ext cx="735806" cy="207169"/>
          </a:xfrm>
          <a:prstGeom prst="rect">
            <a:avLst/>
          </a:prstGeom>
          <a:solidFill>
            <a:srgbClr val="242424"/>
          </a:solidFill>
          <a:ln/>
        </p:spPr>
        <p:txBody>
          <a:bodyPr/>
          <a:lstStyle/>
          <a:p>
            <a:endParaRPr lang="fr-FR"/>
          </a:p>
        </p:txBody>
      </p:sp>
      <p:sp>
        <p:nvSpPr>
          <p:cNvPr id="26" name="Shape 22"/>
          <p:cNvSpPr/>
          <p:nvPr/>
        </p:nvSpPr>
        <p:spPr>
          <a:xfrm>
            <a:off x="2662024" y="2169914"/>
            <a:ext cx="735806" cy="7144"/>
          </a:xfrm>
          <a:prstGeom prst="rect">
            <a:avLst/>
          </a:prstGeom>
          <a:solidFill>
            <a:srgbClr val="333333"/>
          </a:solidFill>
          <a:ln/>
        </p:spPr>
        <p:txBody>
          <a:bodyPr/>
          <a:lstStyle/>
          <a:p>
            <a:endParaRPr lang="fr-FR"/>
          </a:p>
        </p:txBody>
      </p:sp>
      <p:sp>
        <p:nvSpPr>
          <p:cNvPr id="27" name="Text 23"/>
          <p:cNvSpPr/>
          <p:nvPr/>
        </p:nvSpPr>
        <p:spPr>
          <a:xfrm>
            <a:off x="2662024" y="1969889"/>
            <a:ext cx="735806" cy="207169"/>
          </a:xfrm>
          <a:prstGeom prst="rect">
            <a:avLst/>
          </a:prstGeom>
          <a:noFill/>
          <a:ln/>
        </p:spPr>
        <p:txBody>
          <a:bodyPr wrap="square" lIns="68072" tIns="51054" rIns="68072" bIns="51054" rtlCol="0" anchor="ctr">
            <a:spAutoFit/>
          </a:bodyPr>
          <a:lstStyle/>
          <a:p>
            <a:pPr marL="0" indent="0" algn="l">
              <a:lnSpc>
                <a:spcPts val="900"/>
              </a:lnSpc>
              <a:buNone/>
            </a:pPr>
            <a:r>
              <a:rPr lang="en-US" sz="683" b="1" dirty="0">
                <a:solidFill>
                  <a:srgbClr val="F5F5F5"/>
                </a:solidFill>
                <a:latin typeface="Roboto" pitchFamily="34" charset="0"/>
                <a:ea typeface="Roboto" pitchFamily="34" charset="-122"/>
                <a:cs typeface="Roboto" pitchFamily="34" charset="-120"/>
              </a:rPr>
              <a:t>CVSS</a:t>
            </a:r>
            <a:endParaRPr lang="en-US" sz="683" dirty="0"/>
          </a:p>
        </p:txBody>
      </p:sp>
      <p:sp>
        <p:nvSpPr>
          <p:cNvPr id="28" name="Shape 24"/>
          <p:cNvSpPr/>
          <p:nvPr/>
        </p:nvSpPr>
        <p:spPr>
          <a:xfrm>
            <a:off x="3397830" y="1969889"/>
            <a:ext cx="1188625" cy="207169"/>
          </a:xfrm>
          <a:prstGeom prst="rect">
            <a:avLst/>
          </a:prstGeom>
          <a:solidFill>
            <a:srgbClr val="242424"/>
          </a:solidFill>
          <a:ln/>
        </p:spPr>
        <p:txBody>
          <a:bodyPr/>
          <a:lstStyle/>
          <a:p>
            <a:endParaRPr lang="fr-FR"/>
          </a:p>
        </p:txBody>
      </p:sp>
      <p:sp>
        <p:nvSpPr>
          <p:cNvPr id="29" name="Shape 25"/>
          <p:cNvSpPr/>
          <p:nvPr/>
        </p:nvSpPr>
        <p:spPr>
          <a:xfrm>
            <a:off x="3397830" y="2169914"/>
            <a:ext cx="1188625" cy="7144"/>
          </a:xfrm>
          <a:prstGeom prst="rect">
            <a:avLst/>
          </a:prstGeom>
          <a:solidFill>
            <a:srgbClr val="333333"/>
          </a:solidFill>
          <a:ln/>
        </p:spPr>
        <p:txBody>
          <a:bodyPr/>
          <a:lstStyle/>
          <a:p>
            <a:endParaRPr lang="fr-FR"/>
          </a:p>
        </p:txBody>
      </p:sp>
      <p:sp>
        <p:nvSpPr>
          <p:cNvPr id="30" name="Text 26"/>
          <p:cNvSpPr/>
          <p:nvPr/>
        </p:nvSpPr>
        <p:spPr>
          <a:xfrm>
            <a:off x="3397830" y="1969889"/>
            <a:ext cx="1188625" cy="207169"/>
          </a:xfrm>
          <a:prstGeom prst="rect">
            <a:avLst/>
          </a:prstGeom>
          <a:noFill/>
          <a:ln/>
        </p:spPr>
        <p:txBody>
          <a:bodyPr wrap="square" lIns="68072" tIns="51054" rIns="68072" bIns="51054" rtlCol="0" anchor="ctr">
            <a:spAutoFit/>
          </a:bodyPr>
          <a:lstStyle/>
          <a:p>
            <a:pPr marL="0" indent="0" algn="l">
              <a:lnSpc>
                <a:spcPts val="900"/>
              </a:lnSpc>
              <a:buNone/>
            </a:pPr>
            <a:r>
              <a:rPr lang="en-US" sz="683" b="1" dirty="0">
                <a:solidFill>
                  <a:srgbClr val="F5F5F5"/>
                </a:solidFill>
                <a:latin typeface="Roboto" pitchFamily="34" charset="0"/>
                <a:ea typeface="Roboto" pitchFamily="34" charset="-122"/>
                <a:cs typeface="Roboto" pitchFamily="34" charset="-120"/>
              </a:rPr>
              <a:t>SÉVÉRITÉ</a:t>
            </a:r>
            <a:endParaRPr lang="en-US" sz="683" dirty="0"/>
          </a:p>
        </p:txBody>
      </p:sp>
      <p:sp>
        <p:nvSpPr>
          <p:cNvPr id="31" name="Shape 27"/>
          <p:cNvSpPr/>
          <p:nvPr/>
        </p:nvSpPr>
        <p:spPr>
          <a:xfrm>
            <a:off x="4586455" y="1969889"/>
            <a:ext cx="1843060" cy="207169"/>
          </a:xfrm>
          <a:prstGeom prst="rect">
            <a:avLst/>
          </a:prstGeom>
          <a:solidFill>
            <a:srgbClr val="242424"/>
          </a:solidFill>
          <a:ln/>
        </p:spPr>
        <p:txBody>
          <a:bodyPr/>
          <a:lstStyle/>
          <a:p>
            <a:endParaRPr lang="fr-FR"/>
          </a:p>
        </p:txBody>
      </p:sp>
      <p:sp>
        <p:nvSpPr>
          <p:cNvPr id="32" name="Shape 28"/>
          <p:cNvSpPr/>
          <p:nvPr/>
        </p:nvSpPr>
        <p:spPr>
          <a:xfrm>
            <a:off x="4586455" y="2169914"/>
            <a:ext cx="1843060" cy="7144"/>
          </a:xfrm>
          <a:prstGeom prst="rect">
            <a:avLst/>
          </a:prstGeom>
          <a:solidFill>
            <a:srgbClr val="333333"/>
          </a:solidFill>
          <a:ln/>
        </p:spPr>
        <p:txBody>
          <a:bodyPr/>
          <a:lstStyle/>
          <a:p>
            <a:endParaRPr lang="fr-FR"/>
          </a:p>
        </p:txBody>
      </p:sp>
      <p:sp>
        <p:nvSpPr>
          <p:cNvPr id="33" name="Text 29"/>
          <p:cNvSpPr/>
          <p:nvPr/>
        </p:nvSpPr>
        <p:spPr>
          <a:xfrm>
            <a:off x="4586455" y="1969889"/>
            <a:ext cx="1843060" cy="207169"/>
          </a:xfrm>
          <a:prstGeom prst="rect">
            <a:avLst/>
          </a:prstGeom>
          <a:noFill/>
          <a:ln/>
        </p:spPr>
        <p:txBody>
          <a:bodyPr wrap="square" lIns="68072" tIns="51054" rIns="68072" bIns="51054" rtlCol="0" anchor="ctr">
            <a:spAutoFit/>
          </a:bodyPr>
          <a:lstStyle/>
          <a:p>
            <a:pPr marL="0" indent="0" algn="l">
              <a:lnSpc>
                <a:spcPts val="900"/>
              </a:lnSpc>
              <a:buNone/>
            </a:pPr>
            <a:r>
              <a:rPr lang="en-US" sz="683" b="1" dirty="0">
                <a:solidFill>
                  <a:srgbClr val="F5F5F5"/>
                </a:solidFill>
                <a:latin typeface="Roboto" pitchFamily="34" charset="0"/>
                <a:ea typeface="Roboto" pitchFamily="34" charset="-122"/>
                <a:cs typeface="Roboto" pitchFamily="34" charset="-120"/>
              </a:rPr>
              <a:t>VECTEUR</a:t>
            </a:r>
            <a:endParaRPr lang="en-US" sz="683" dirty="0"/>
          </a:p>
        </p:txBody>
      </p:sp>
      <p:sp>
        <p:nvSpPr>
          <p:cNvPr id="34" name="Shape 30"/>
          <p:cNvSpPr/>
          <p:nvPr/>
        </p:nvSpPr>
        <p:spPr>
          <a:xfrm>
            <a:off x="6429515" y="1969889"/>
            <a:ext cx="2228710" cy="207169"/>
          </a:xfrm>
          <a:prstGeom prst="rect">
            <a:avLst/>
          </a:prstGeom>
          <a:solidFill>
            <a:srgbClr val="242424"/>
          </a:solidFill>
          <a:ln/>
        </p:spPr>
        <p:txBody>
          <a:bodyPr/>
          <a:lstStyle/>
          <a:p>
            <a:endParaRPr lang="fr-FR"/>
          </a:p>
        </p:txBody>
      </p:sp>
      <p:sp>
        <p:nvSpPr>
          <p:cNvPr id="35" name="Shape 31"/>
          <p:cNvSpPr/>
          <p:nvPr/>
        </p:nvSpPr>
        <p:spPr>
          <a:xfrm>
            <a:off x="6429515" y="2169914"/>
            <a:ext cx="2228710" cy="7144"/>
          </a:xfrm>
          <a:prstGeom prst="rect">
            <a:avLst/>
          </a:prstGeom>
          <a:solidFill>
            <a:srgbClr val="333333"/>
          </a:solidFill>
          <a:ln/>
        </p:spPr>
        <p:txBody>
          <a:bodyPr/>
          <a:lstStyle/>
          <a:p>
            <a:endParaRPr lang="fr-FR"/>
          </a:p>
        </p:txBody>
      </p:sp>
      <p:sp>
        <p:nvSpPr>
          <p:cNvPr id="36" name="Text 32"/>
          <p:cNvSpPr/>
          <p:nvPr/>
        </p:nvSpPr>
        <p:spPr>
          <a:xfrm>
            <a:off x="6429515" y="1969889"/>
            <a:ext cx="2228710" cy="207169"/>
          </a:xfrm>
          <a:prstGeom prst="rect">
            <a:avLst/>
          </a:prstGeom>
          <a:noFill/>
          <a:ln/>
        </p:spPr>
        <p:txBody>
          <a:bodyPr wrap="square" lIns="68072" tIns="51054" rIns="68072" bIns="51054" rtlCol="0" anchor="ctr">
            <a:spAutoFit/>
          </a:bodyPr>
          <a:lstStyle/>
          <a:p>
            <a:pPr marL="0" indent="0" algn="l">
              <a:lnSpc>
                <a:spcPts val="900"/>
              </a:lnSpc>
              <a:buNone/>
            </a:pPr>
            <a:r>
              <a:rPr lang="en-US" sz="683" b="1" dirty="0">
                <a:solidFill>
                  <a:srgbClr val="F5F5F5"/>
                </a:solidFill>
                <a:latin typeface="Roboto" pitchFamily="34" charset="0"/>
                <a:ea typeface="Roboto" pitchFamily="34" charset="-122"/>
                <a:cs typeface="Roboto" pitchFamily="34" charset="-120"/>
              </a:rPr>
              <a:t>TYPE D'IMPACT</a:t>
            </a:r>
            <a:endParaRPr lang="en-US" sz="683" dirty="0"/>
          </a:p>
        </p:txBody>
      </p:sp>
      <p:sp>
        <p:nvSpPr>
          <p:cNvPr id="37" name="Text 33"/>
          <p:cNvSpPr/>
          <p:nvPr/>
        </p:nvSpPr>
        <p:spPr>
          <a:xfrm>
            <a:off x="771525" y="2173486"/>
            <a:ext cx="1890499" cy="207169"/>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CVE-2021-31630</a:t>
            </a:r>
            <a:endParaRPr lang="en-US" sz="683" dirty="0"/>
          </a:p>
        </p:txBody>
      </p:sp>
      <p:sp>
        <p:nvSpPr>
          <p:cNvPr id="38" name="Text 34"/>
          <p:cNvSpPr/>
          <p:nvPr/>
        </p:nvSpPr>
        <p:spPr>
          <a:xfrm>
            <a:off x="2662024" y="2173486"/>
            <a:ext cx="735806" cy="207169"/>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D32F2F"/>
                </a:solidFill>
                <a:latin typeface="Open Sans" pitchFamily="34" charset="0"/>
                <a:ea typeface="Open Sans" pitchFamily="34" charset="-122"/>
                <a:cs typeface="Open Sans" pitchFamily="34" charset="-120"/>
              </a:rPr>
              <a:t>9.8</a:t>
            </a:r>
            <a:endParaRPr lang="en-US" sz="683" dirty="0"/>
          </a:p>
        </p:txBody>
      </p:sp>
      <p:sp>
        <p:nvSpPr>
          <p:cNvPr id="39" name="Shape 35"/>
          <p:cNvSpPr/>
          <p:nvPr/>
        </p:nvSpPr>
        <p:spPr>
          <a:xfrm>
            <a:off x="3454980" y="2203847"/>
            <a:ext cx="485775" cy="144661"/>
          </a:xfrm>
          <a:prstGeom prst="rect">
            <a:avLst/>
          </a:prstGeom>
          <a:solidFill>
            <a:srgbClr val="D32F2F"/>
          </a:solidFill>
          <a:ln/>
        </p:spPr>
        <p:txBody>
          <a:bodyPr/>
          <a:lstStyle/>
          <a:p>
            <a:endParaRPr lang="fr-FR"/>
          </a:p>
        </p:txBody>
      </p:sp>
      <p:sp>
        <p:nvSpPr>
          <p:cNvPr id="40" name="Text 36"/>
          <p:cNvSpPr/>
          <p:nvPr/>
        </p:nvSpPr>
        <p:spPr>
          <a:xfrm>
            <a:off x="3454980" y="2203847"/>
            <a:ext cx="485775"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CRITIQUE</a:t>
            </a:r>
            <a:endParaRPr lang="en-US" sz="584" dirty="0"/>
          </a:p>
        </p:txBody>
      </p:sp>
      <p:sp>
        <p:nvSpPr>
          <p:cNvPr id="41" name="Text 37"/>
          <p:cNvSpPr/>
          <p:nvPr/>
        </p:nvSpPr>
        <p:spPr>
          <a:xfrm>
            <a:off x="4586455" y="2173486"/>
            <a:ext cx="1843060" cy="207169"/>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Réseau/Non-auth</a:t>
            </a:r>
            <a:endParaRPr lang="en-US" sz="727" dirty="0"/>
          </a:p>
        </p:txBody>
      </p:sp>
      <p:sp>
        <p:nvSpPr>
          <p:cNvPr id="42" name="Text 38"/>
          <p:cNvSpPr/>
          <p:nvPr/>
        </p:nvSpPr>
        <p:spPr>
          <a:xfrm>
            <a:off x="6429515" y="2173486"/>
            <a:ext cx="2228710" cy="207169"/>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RCE non authentifié</a:t>
            </a:r>
            <a:endParaRPr lang="en-US" sz="727" dirty="0"/>
          </a:p>
        </p:txBody>
      </p:sp>
      <p:sp>
        <p:nvSpPr>
          <p:cNvPr id="43" name="Text 39"/>
          <p:cNvSpPr/>
          <p:nvPr/>
        </p:nvSpPr>
        <p:spPr>
          <a:xfrm>
            <a:off x="771525" y="2380655"/>
            <a:ext cx="1890499"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CVE-2024-34026</a:t>
            </a:r>
            <a:endParaRPr lang="en-US" sz="683" dirty="0"/>
          </a:p>
        </p:txBody>
      </p:sp>
      <p:sp>
        <p:nvSpPr>
          <p:cNvPr id="44" name="Text 40"/>
          <p:cNvSpPr/>
          <p:nvPr/>
        </p:nvSpPr>
        <p:spPr>
          <a:xfrm>
            <a:off x="2662024" y="2380655"/>
            <a:ext cx="735806"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D32F2F"/>
                </a:solidFill>
                <a:latin typeface="Open Sans" pitchFamily="34" charset="0"/>
                <a:ea typeface="Open Sans" pitchFamily="34" charset="-122"/>
                <a:cs typeface="Open Sans" pitchFamily="34" charset="-120"/>
              </a:rPr>
              <a:t>9.0</a:t>
            </a:r>
            <a:endParaRPr lang="en-US" sz="683" dirty="0"/>
          </a:p>
        </p:txBody>
      </p:sp>
      <p:sp>
        <p:nvSpPr>
          <p:cNvPr id="45" name="Shape 41"/>
          <p:cNvSpPr/>
          <p:nvPr/>
        </p:nvSpPr>
        <p:spPr>
          <a:xfrm>
            <a:off x="3454980" y="2414588"/>
            <a:ext cx="485775" cy="144661"/>
          </a:xfrm>
          <a:prstGeom prst="rect">
            <a:avLst/>
          </a:prstGeom>
          <a:solidFill>
            <a:srgbClr val="D32F2F"/>
          </a:solidFill>
          <a:ln/>
        </p:spPr>
        <p:txBody>
          <a:bodyPr/>
          <a:lstStyle/>
          <a:p>
            <a:endParaRPr lang="fr-FR"/>
          </a:p>
        </p:txBody>
      </p:sp>
      <p:sp>
        <p:nvSpPr>
          <p:cNvPr id="46" name="Text 42"/>
          <p:cNvSpPr/>
          <p:nvPr/>
        </p:nvSpPr>
        <p:spPr>
          <a:xfrm>
            <a:off x="3454980" y="2414588"/>
            <a:ext cx="485775"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CRITIQUE</a:t>
            </a:r>
            <a:endParaRPr lang="en-US" sz="584" dirty="0"/>
          </a:p>
        </p:txBody>
      </p:sp>
      <p:sp>
        <p:nvSpPr>
          <p:cNvPr id="47" name="Text 43"/>
          <p:cNvSpPr/>
          <p:nvPr/>
        </p:nvSpPr>
        <p:spPr>
          <a:xfrm>
            <a:off x="4586455" y="2380655"/>
            <a:ext cx="184306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Réseau/Non-auth</a:t>
            </a:r>
            <a:endParaRPr lang="en-US" sz="727" dirty="0"/>
          </a:p>
        </p:txBody>
      </p:sp>
      <p:sp>
        <p:nvSpPr>
          <p:cNvPr id="48" name="Text 44"/>
          <p:cNvSpPr/>
          <p:nvPr/>
        </p:nvSpPr>
        <p:spPr>
          <a:xfrm>
            <a:off x="6429515" y="2380655"/>
            <a:ext cx="222871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Stack Buffer Overflow</a:t>
            </a:r>
            <a:endParaRPr lang="en-US" sz="727" dirty="0"/>
          </a:p>
        </p:txBody>
      </p:sp>
      <p:sp>
        <p:nvSpPr>
          <p:cNvPr id="49" name="Text 45"/>
          <p:cNvSpPr/>
          <p:nvPr/>
        </p:nvSpPr>
        <p:spPr>
          <a:xfrm>
            <a:off x="771525" y="2591395"/>
            <a:ext cx="1890499"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CVE-2021-47770</a:t>
            </a:r>
            <a:endParaRPr lang="en-US" sz="683" dirty="0"/>
          </a:p>
        </p:txBody>
      </p:sp>
      <p:sp>
        <p:nvSpPr>
          <p:cNvPr id="50" name="Text 46"/>
          <p:cNvSpPr/>
          <p:nvPr/>
        </p:nvSpPr>
        <p:spPr>
          <a:xfrm>
            <a:off x="2662024" y="2591395"/>
            <a:ext cx="735806"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F5252"/>
                </a:solidFill>
                <a:latin typeface="Open Sans" pitchFamily="34" charset="0"/>
                <a:ea typeface="Open Sans" pitchFamily="34" charset="-122"/>
                <a:cs typeface="Open Sans" pitchFamily="34" charset="-120"/>
              </a:rPr>
              <a:t>8.8</a:t>
            </a:r>
            <a:endParaRPr lang="en-US" sz="683" dirty="0"/>
          </a:p>
        </p:txBody>
      </p:sp>
      <p:sp>
        <p:nvSpPr>
          <p:cNvPr id="51" name="Shape 47"/>
          <p:cNvSpPr/>
          <p:nvPr/>
        </p:nvSpPr>
        <p:spPr>
          <a:xfrm>
            <a:off x="3454980" y="2625328"/>
            <a:ext cx="333970" cy="144661"/>
          </a:xfrm>
          <a:prstGeom prst="rect">
            <a:avLst/>
          </a:prstGeom>
          <a:solidFill>
            <a:srgbClr val="FF5252"/>
          </a:solidFill>
          <a:ln/>
        </p:spPr>
        <p:txBody>
          <a:bodyPr/>
          <a:lstStyle/>
          <a:p>
            <a:endParaRPr lang="fr-FR"/>
          </a:p>
        </p:txBody>
      </p:sp>
      <p:sp>
        <p:nvSpPr>
          <p:cNvPr id="52" name="Text 48"/>
          <p:cNvSpPr/>
          <p:nvPr/>
        </p:nvSpPr>
        <p:spPr>
          <a:xfrm>
            <a:off x="3454980" y="2625328"/>
            <a:ext cx="333970"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ÉLEVÉ</a:t>
            </a:r>
            <a:endParaRPr lang="en-US" sz="584" dirty="0"/>
          </a:p>
        </p:txBody>
      </p:sp>
      <p:sp>
        <p:nvSpPr>
          <p:cNvPr id="53" name="Text 49"/>
          <p:cNvSpPr/>
          <p:nvPr/>
        </p:nvSpPr>
        <p:spPr>
          <a:xfrm>
            <a:off x="4586455" y="2591395"/>
            <a:ext cx="184306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Réseau/Auth</a:t>
            </a:r>
            <a:endParaRPr lang="en-US" sz="727" dirty="0"/>
          </a:p>
        </p:txBody>
      </p:sp>
      <p:sp>
        <p:nvSpPr>
          <p:cNvPr id="54" name="Text 50"/>
          <p:cNvSpPr/>
          <p:nvPr/>
        </p:nvSpPr>
        <p:spPr>
          <a:xfrm>
            <a:off x="6429515" y="2591395"/>
            <a:ext cx="222871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RCE authentifié</a:t>
            </a:r>
            <a:endParaRPr lang="en-US" sz="727" dirty="0"/>
          </a:p>
        </p:txBody>
      </p:sp>
      <p:sp>
        <p:nvSpPr>
          <p:cNvPr id="55" name="Text 51"/>
          <p:cNvSpPr/>
          <p:nvPr/>
        </p:nvSpPr>
        <p:spPr>
          <a:xfrm>
            <a:off x="771525" y="2802136"/>
            <a:ext cx="1890499"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CVE-2024-36980</a:t>
            </a:r>
            <a:endParaRPr lang="en-US" sz="683" dirty="0"/>
          </a:p>
        </p:txBody>
      </p:sp>
      <p:sp>
        <p:nvSpPr>
          <p:cNvPr id="56" name="Text 52"/>
          <p:cNvSpPr/>
          <p:nvPr/>
        </p:nvSpPr>
        <p:spPr>
          <a:xfrm>
            <a:off x="2662024" y="2802136"/>
            <a:ext cx="735806"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F5252"/>
                </a:solidFill>
                <a:latin typeface="Open Sans" pitchFamily="34" charset="0"/>
                <a:ea typeface="Open Sans" pitchFamily="34" charset="-122"/>
                <a:cs typeface="Open Sans" pitchFamily="34" charset="-120"/>
              </a:rPr>
              <a:t>7.5</a:t>
            </a:r>
            <a:endParaRPr lang="en-US" sz="683" dirty="0"/>
          </a:p>
        </p:txBody>
      </p:sp>
      <p:sp>
        <p:nvSpPr>
          <p:cNvPr id="57" name="Shape 53"/>
          <p:cNvSpPr/>
          <p:nvPr/>
        </p:nvSpPr>
        <p:spPr>
          <a:xfrm>
            <a:off x="3454980" y="2836069"/>
            <a:ext cx="333970" cy="144661"/>
          </a:xfrm>
          <a:prstGeom prst="rect">
            <a:avLst/>
          </a:prstGeom>
          <a:solidFill>
            <a:srgbClr val="FF5252"/>
          </a:solidFill>
          <a:ln/>
        </p:spPr>
        <p:txBody>
          <a:bodyPr/>
          <a:lstStyle/>
          <a:p>
            <a:endParaRPr lang="fr-FR"/>
          </a:p>
        </p:txBody>
      </p:sp>
      <p:sp>
        <p:nvSpPr>
          <p:cNvPr id="58" name="Text 54"/>
          <p:cNvSpPr/>
          <p:nvPr/>
        </p:nvSpPr>
        <p:spPr>
          <a:xfrm>
            <a:off x="3454980" y="2836069"/>
            <a:ext cx="333970"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ÉLEVÉ</a:t>
            </a:r>
            <a:endParaRPr lang="en-US" sz="584" dirty="0"/>
          </a:p>
        </p:txBody>
      </p:sp>
      <p:sp>
        <p:nvSpPr>
          <p:cNvPr id="59" name="Text 55"/>
          <p:cNvSpPr/>
          <p:nvPr/>
        </p:nvSpPr>
        <p:spPr>
          <a:xfrm>
            <a:off x="4586455" y="2802136"/>
            <a:ext cx="184306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Réseau/Non-auth</a:t>
            </a:r>
            <a:endParaRPr lang="en-US" sz="727" dirty="0"/>
          </a:p>
        </p:txBody>
      </p:sp>
      <p:sp>
        <p:nvSpPr>
          <p:cNvPr id="60" name="Text 56"/>
          <p:cNvSpPr/>
          <p:nvPr/>
        </p:nvSpPr>
        <p:spPr>
          <a:xfrm>
            <a:off x="6429515" y="2802136"/>
            <a:ext cx="222871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DoS / Crash PLC</a:t>
            </a:r>
            <a:endParaRPr lang="en-US" sz="727" dirty="0"/>
          </a:p>
        </p:txBody>
      </p:sp>
      <p:sp>
        <p:nvSpPr>
          <p:cNvPr id="61" name="Text 57"/>
          <p:cNvSpPr/>
          <p:nvPr/>
        </p:nvSpPr>
        <p:spPr>
          <a:xfrm>
            <a:off x="771525" y="3012877"/>
            <a:ext cx="1890499"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CVE-2024-36981</a:t>
            </a:r>
            <a:endParaRPr lang="en-US" sz="683" dirty="0"/>
          </a:p>
        </p:txBody>
      </p:sp>
      <p:sp>
        <p:nvSpPr>
          <p:cNvPr id="62" name="Text 58"/>
          <p:cNvSpPr/>
          <p:nvPr/>
        </p:nvSpPr>
        <p:spPr>
          <a:xfrm>
            <a:off x="2662024" y="3012877"/>
            <a:ext cx="735806"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F5252"/>
                </a:solidFill>
                <a:latin typeface="Open Sans" pitchFamily="34" charset="0"/>
                <a:ea typeface="Open Sans" pitchFamily="34" charset="-122"/>
                <a:cs typeface="Open Sans" pitchFamily="34" charset="-120"/>
              </a:rPr>
              <a:t>7.5</a:t>
            </a:r>
            <a:endParaRPr lang="en-US" sz="683" dirty="0"/>
          </a:p>
        </p:txBody>
      </p:sp>
      <p:sp>
        <p:nvSpPr>
          <p:cNvPr id="63" name="Shape 59"/>
          <p:cNvSpPr/>
          <p:nvPr/>
        </p:nvSpPr>
        <p:spPr>
          <a:xfrm>
            <a:off x="3454980" y="3046809"/>
            <a:ext cx="333970" cy="144661"/>
          </a:xfrm>
          <a:prstGeom prst="rect">
            <a:avLst/>
          </a:prstGeom>
          <a:solidFill>
            <a:srgbClr val="FF5252"/>
          </a:solidFill>
          <a:ln/>
        </p:spPr>
        <p:txBody>
          <a:bodyPr/>
          <a:lstStyle/>
          <a:p>
            <a:endParaRPr lang="fr-FR"/>
          </a:p>
        </p:txBody>
      </p:sp>
      <p:sp>
        <p:nvSpPr>
          <p:cNvPr id="64" name="Text 60"/>
          <p:cNvSpPr/>
          <p:nvPr/>
        </p:nvSpPr>
        <p:spPr>
          <a:xfrm>
            <a:off x="3454980" y="3046809"/>
            <a:ext cx="333970"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ÉLEVÉ</a:t>
            </a:r>
            <a:endParaRPr lang="en-US" sz="584" dirty="0"/>
          </a:p>
        </p:txBody>
      </p:sp>
      <p:sp>
        <p:nvSpPr>
          <p:cNvPr id="65" name="Text 61"/>
          <p:cNvSpPr/>
          <p:nvPr/>
        </p:nvSpPr>
        <p:spPr>
          <a:xfrm>
            <a:off x="4586455" y="3012877"/>
            <a:ext cx="184306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Réseau/Non-auth</a:t>
            </a:r>
            <a:endParaRPr lang="en-US" sz="727" dirty="0"/>
          </a:p>
        </p:txBody>
      </p:sp>
      <p:sp>
        <p:nvSpPr>
          <p:cNvPr id="66" name="Text 62"/>
          <p:cNvSpPr/>
          <p:nvPr/>
        </p:nvSpPr>
        <p:spPr>
          <a:xfrm>
            <a:off x="6429515" y="3012877"/>
            <a:ext cx="222871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DoS / Null Pointer</a:t>
            </a:r>
            <a:endParaRPr lang="en-US" sz="727" dirty="0"/>
          </a:p>
        </p:txBody>
      </p:sp>
      <p:sp>
        <p:nvSpPr>
          <p:cNvPr id="67" name="Text 63"/>
          <p:cNvSpPr/>
          <p:nvPr/>
        </p:nvSpPr>
        <p:spPr>
          <a:xfrm>
            <a:off x="771525" y="3223617"/>
            <a:ext cx="1890499"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CVE-2024-39589</a:t>
            </a:r>
            <a:endParaRPr lang="en-US" sz="683" dirty="0"/>
          </a:p>
        </p:txBody>
      </p:sp>
      <p:sp>
        <p:nvSpPr>
          <p:cNvPr id="68" name="Text 64"/>
          <p:cNvSpPr/>
          <p:nvPr/>
        </p:nvSpPr>
        <p:spPr>
          <a:xfrm>
            <a:off x="2662024" y="3223617"/>
            <a:ext cx="735806"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F5252"/>
                </a:solidFill>
                <a:latin typeface="Open Sans" pitchFamily="34" charset="0"/>
                <a:ea typeface="Open Sans" pitchFamily="34" charset="-122"/>
                <a:cs typeface="Open Sans" pitchFamily="34" charset="-120"/>
              </a:rPr>
              <a:t>7.5</a:t>
            </a:r>
            <a:endParaRPr lang="en-US" sz="683" dirty="0"/>
          </a:p>
        </p:txBody>
      </p:sp>
      <p:sp>
        <p:nvSpPr>
          <p:cNvPr id="69" name="Shape 65"/>
          <p:cNvSpPr/>
          <p:nvPr/>
        </p:nvSpPr>
        <p:spPr>
          <a:xfrm>
            <a:off x="3454980" y="3257550"/>
            <a:ext cx="333970" cy="144661"/>
          </a:xfrm>
          <a:prstGeom prst="rect">
            <a:avLst/>
          </a:prstGeom>
          <a:solidFill>
            <a:srgbClr val="FF5252"/>
          </a:solidFill>
          <a:ln/>
        </p:spPr>
        <p:txBody>
          <a:bodyPr/>
          <a:lstStyle/>
          <a:p>
            <a:endParaRPr lang="fr-FR"/>
          </a:p>
        </p:txBody>
      </p:sp>
      <p:sp>
        <p:nvSpPr>
          <p:cNvPr id="70" name="Text 66"/>
          <p:cNvSpPr/>
          <p:nvPr/>
        </p:nvSpPr>
        <p:spPr>
          <a:xfrm>
            <a:off x="3454980" y="3257550"/>
            <a:ext cx="333970"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ÉLEVÉ</a:t>
            </a:r>
            <a:endParaRPr lang="en-US" sz="584" dirty="0"/>
          </a:p>
        </p:txBody>
      </p:sp>
      <p:sp>
        <p:nvSpPr>
          <p:cNvPr id="71" name="Text 67"/>
          <p:cNvSpPr/>
          <p:nvPr/>
        </p:nvSpPr>
        <p:spPr>
          <a:xfrm>
            <a:off x="4586455" y="3223617"/>
            <a:ext cx="184306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Réseau/Non-auth</a:t>
            </a:r>
            <a:endParaRPr lang="en-US" sz="727" dirty="0"/>
          </a:p>
        </p:txBody>
      </p:sp>
      <p:sp>
        <p:nvSpPr>
          <p:cNvPr id="72" name="Text 68"/>
          <p:cNvSpPr/>
          <p:nvPr/>
        </p:nvSpPr>
        <p:spPr>
          <a:xfrm>
            <a:off x="6429515" y="3223617"/>
            <a:ext cx="222871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DoS / Ressources</a:t>
            </a:r>
            <a:endParaRPr lang="en-US" sz="727" dirty="0"/>
          </a:p>
        </p:txBody>
      </p:sp>
      <p:sp>
        <p:nvSpPr>
          <p:cNvPr id="73" name="Text 69"/>
          <p:cNvSpPr/>
          <p:nvPr/>
        </p:nvSpPr>
        <p:spPr>
          <a:xfrm>
            <a:off x="771525" y="3434358"/>
            <a:ext cx="1890499"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CVE-2024-39590</a:t>
            </a:r>
            <a:endParaRPr lang="en-US" sz="683" dirty="0"/>
          </a:p>
        </p:txBody>
      </p:sp>
      <p:sp>
        <p:nvSpPr>
          <p:cNvPr id="74" name="Text 70"/>
          <p:cNvSpPr/>
          <p:nvPr/>
        </p:nvSpPr>
        <p:spPr>
          <a:xfrm>
            <a:off x="2662024" y="3434358"/>
            <a:ext cx="735806"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F5252"/>
                </a:solidFill>
                <a:latin typeface="Open Sans" pitchFamily="34" charset="0"/>
                <a:ea typeface="Open Sans" pitchFamily="34" charset="-122"/>
                <a:cs typeface="Open Sans" pitchFamily="34" charset="-120"/>
              </a:rPr>
              <a:t>7.5</a:t>
            </a:r>
            <a:endParaRPr lang="en-US" sz="683" dirty="0"/>
          </a:p>
        </p:txBody>
      </p:sp>
      <p:sp>
        <p:nvSpPr>
          <p:cNvPr id="75" name="Shape 71"/>
          <p:cNvSpPr/>
          <p:nvPr/>
        </p:nvSpPr>
        <p:spPr>
          <a:xfrm>
            <a:off x="3454980" y="3468291"/>
            <a:ext cx="333970" cy="144661"/>
          </a:xfrm>
          <a:prstGeom prst="rect">
            <a:avLst/>
          </a:prstGeom>
          <a:solidFill>
            <a:srgbClr val="FF5252"/>
          </a:solidFill>
          <a:ln/>
        </p:spPr>
        <p:txBody>
          <a:bodyPr/>
          <a:lstStyle/>
          <a:p>
            <a:endParaRPr lang="fr-FR"/>
          </a:p>
        </p:txBody>
      </p:sp>
      <p:sp>
        <p:nvSpPr>
          <p:cNvPr id="76" name="Text 72"/>
          <p:cNvSpPr/>
          <p:nvPr/>
        </p:nvSpPr>
        <p:spPr>
          <a:xfrm>
            <a:off x="3454980" y="3468291"/>
            <a:ext cx="333970"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ÉLEVÉ</a:t>
            </a:r>
            <a:endParaRPr lang="en-US" sz="584" dirty="0"/>
          </a:p>
        </p:txBody>
      </p:sp>
      <p:sp>
        <p:nvSpPr>
          <p:cNvPr id="77" name="Text 73"/>
          <p:cNvSpPr/>
          <p:nvPr/>
        </p:nvSpPr>
        <p:spPr>
          <a:xfrm>
            <a:off x="4586455" y="3434358"/>
            <a:ext cx="184306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Réseau/Non-auth</a:t>
            </a:r>
            <a:endParaRPr lang="en-US" sz="727" dirty="0"/>
          </a:p>
        </p:txBody>
      </p:sp>
      <p:sp>
        <p:nvSpPr>
          <p:cNvPr id="78" name="Text 74"/>
          <p:cNvSpPr/>
          <p:nvPr/>
        </p:nvSpPr>
        <p:spPr>
          <a:xfrm>
            <a:off x="6429515" y="3434358"/>
            <a:ext cx="222871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DoS / Thread</a:t>
            </a:r>
            <a:endParaRPr lang="en-US" sz="727" dirty="0"/>
          </a:p>
        </p:txBody>
      </p:sp>
      <p:sp>
        <p:nvSpPr>
          <p:cNvPr id="79" name="Text 75"/>
          <p:cNvSpPr/>
          <p:nvPr/>
        </p:nvSpPr>
        <p:spPr>
          <a:xfrm>
            <a:off x="771525" y="3645098"/>
            <a:ext cx="1890499"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CVE-2025-13970</a:t>
            </a:r>
            <a:endParaRPr lang="en-US" sz="683" dirty="0"/>
          </a:p>
        </p:txBody>
      </p:sp>
      <p:sp>
        <p:nvSpPr>
          <p:cNvPr id="80" name="Text 76"/>
          <p:cNvSpPr/>
          <p:nvPr/>
        </p:nvSpPr>
        <p:spPr>
          <a:xfrm>
            <a:off x="2662024" y="3645098"/>
            <a:ext cx="735806" cy="210741"/>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FB74D"/>
                </a:solidFill>
                <a:latin typeface="Open Sans" pitchFamily="34" charset="0"/>
                <a:ea typeface="Open Sans" pitchFamily="34" charset="-122"/>
                <a:cs typeface="Open Sans" pitchFamily="34" charset="-120"/>
              </a:rPr>
              <a:t>6.5</a:t>
            </a:r>
            <a:endParaRPr lang="en-US" sz="683" dirty="0"/>
          </a:p>
        </p:txBody>
      </p:sp>
      <p:sp>
        <p:nvSpPr>
          <p:cNvPr id="81" name="Shape 77"/>
          <p:cNvSpPr/>
          <p:nvPr/>
        </p:nvSpPr>
        <p:spPr>
          <a:xfrm>
            <a:off x="3454980" y="3679031"/>
            <a:ext cx="405408" cy="144661"/>
          </a:xfrm>
          <a:prstGeom prst="rect">
            <a:avLst/>
          </a:prstGeom>
          <a:solidFill>
            <a:srgbClr val="FFB74D"/>
          </a:solidFill>
          <a:ln/>
        </p:spPr>
        <p:txBody>
          <a:bodyPr/>
          <a:lstStyle/>
          <a:p>
            <a:endParaRPr lang="fr-FR"/>
          </a:p>
        </p:txBody>
      </p:sp>
      <p:sp>
        <p:nvSpPr>
          <p:cNvPr id="82" name="Text 78"/>
          <p:cNvSpPr/>
          <p:nvPr/>
        </p:nvSpPr>
        <p:spPr>
          <a:xfrm>
            <a:off x="3454980" y="3679031"/>
            <a:ext cx="405408"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0A0A0A"/>
                </a:solidFill>
                <a:latin typeface="Open Sans" pitchFamily="34" charset="0"/>
                <a:ea typeface="Open Sans" pitchFamily="34" charset="-122"/>
                <a:cs typeface="Open Sans" pitchFamily="34" charset="-120"/>
              </a:rPr>
              <a:t>MOYEN</a:t>
            </a:r>
            <a:endParaRPr lang="en-US" sz="584" dirty="0"/>
          </a:p>
        </p:txBody>
      </p:sp>
      <p:sp>
        <p:nvSpPr>
          <p:cNvPr id="83" name="Text 79"/>
          <p:cNvSpPr/>
          <p:nvPr/>
        </p:nvSpPr>
        <p:spPr>
          <a:xfrm>
            <a:off x="4586455" y="3645098"/>
            <a:ext cx="184306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Réseau/Social</a:t>
            </a:r>
            <a:endParaRPr lang="en-US" sz="727" dirty="0"/>
          </a:p>
        </p:txBody>
      </p:sp>
      <p:sp>
        <p:nvSpPr>
          <p:cNvPr id="84" name="Text 80"/>
          <p:cNvSpPr/>
          <p:nvPr/>
        </p:nvSpPr>
        <p:spPr>
          <a:xfrm>
            <a:off x="6429515" y="3645098"/>
            <a:ext cx="2228710" cy="210741"/>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CSRF</a:t>
            </a:r>
            <a:endParaRPr lang="en-US" sz="727" dirty="0"/>
          </a:p>
        </p:txBody>
      </p:sp>
      <p:sp>
        <p:nvSpPr>
          <p:cNvPr id="85" name="Text 81"/>
          <p:cNvSpPr/>
          <p:nvPr/>
        </p:nvSpPr>
        <p:spPr>
          <a:xfrm>
            <a:off x="771525" y="3855839"/>
            <a:ext cx="1890499" cy="207169"/>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5F5F5"/>
                </a:solidFill>
                <a:latin typeface="monospace" pitchFamily="34" charset="0"/>
                <a:ea typeface="monospace" pitchFamily="34" charset="-122"/>
                <a:cs typeface="monospace" pitchFamily="34" charset="-120"/>
              </a:rPr>
              <a:t>CVE-2025-54811</a:t>
            </a:r>
            <a:endParaRPr lang="en-US" sz="683" dirty="0"/>
          </a:p>
        </p:txBody>
      </p:sp>
      <p:sp>
        <p:nvSpPr>
          <p:cNvPr id="86" name="Text 82"/>
          <p:cNvSpPr/>
          <p:nvPr/>
        </p:nvSpPr>
        <p:spPr>
          <a:xfrm>
            <a:off x="2662024" y="3855839"/>
            <a:ext cx="735806" cy="207169"/>
          </a:xfrm>
          <a:prstGeom prst="rect">
            <a:avLst/>
          </a:prstGeom>
          <a:noFill/>
          <a:ln/>
        </p:spPr>
        <p:txBody>
          <a:bodyPr wrap="square" lIns="68072" tIns="34036" rIns="68072" bIns="34036" rtlCol="0" anchor="ctr">
            <a:spAutoFit/>
          </a:bodyPr>
          <a:lstStyle/>
          <a:p>
            <a:pPr marL="0" indent="0" algn="l">
              <a:lnSpc>
                <a:spcPts val="900"/>
              </a:lnSpc>
              <a:buNone/>
            </a:pPr>
            <a:r>
              <a:rPr lang="en-US" sz="683" b="1" dirty="0">
                <a:solidFill>
                  <a:srgbClr val="FFB74D"/>
                </a:solidFill>
                <a:latin typeface="Open Sans" pitchFamily="34" charset="0"/>
                <a:ea typeface="Open Sans" pitchFamily="34" charset="-122"/>
                <a:cs typeface="Open Sans" pitchFamily="34" charset="-120"/>
              </a:rPr>
              <a:t>6.1</a:t>
            </a:r>
            <a:endParaRPr lang="en-US" sz="683" dirty="0"/>
          </a:p>
        </p:txBody>
      </p:sp>
      <p:sp>
        <p:nvSpPr>
          <p:cNvPr id="87" name="Shape 83"/>
          <p:cNvSpPr/>
          <p:nvPr/>
        </p:nvSpPr>
        <p:spPr>
          <a:xfrm>
            <a:off x="3454980" y="3889772"/>
            <a:ext cx="405408" cy="144661"/>
          </a:xfrm>
          <a:prstGeom prst="rect">
            <a:avLst/>
          </a:prstGeom>
          <a:solidFill>
            <a:srgbClr val="FFB74D"/>
          </a:solidFill>
          <a:ln/>
        </p:spPr>
        <p:txBody>
          <a:bodyPr/>
          <a:lstStyle/>
          <a:p>
            <a:endParaRPr lang="fr-FR"/>
          </a:p>
        </p:txBody>
      </p:sp>
      <p:sp>
        <p:nvSpPr>
          <p:cNvPr id="88" name="Text 84"/>
          <p:cNvSpPr/>
          <p:nvPr/>
        </p:nvSpPr>
        <p:spPr>
          <a:xfrm>
            <a:off x="3454980" y="3889772"/>
            <a:ext cx="405408" cy="144661"/>
          </a:xfrm>
          <a:prstGeom prst="rect">
            <a:avLst/>
          </a:prstGeom>
          <a:noFill/>
          <a:ln/>
        </p:spPr>
        <p:txBody>
          <a:bodyPr wrap="none" lIns="51054" tIns="17018" rIns="51054" bIns="17018" rtlCol="0" anchor="t">
            <a:spAutoFit/>
          </a:bodyPr>
          <a:lstStyle/>
          <a:p>
            <a:pPr marL="0" indent="0" algn="l">
              <a:lnSpc>
                <a:spcPts val="800"/>
              </a:lnSpc>
              <a:buNone/>
            </a:pPr>
            <a:r>
              <a:rPr lang="en-US" sz="584" b="1" dirty="0">
                <a:solidFill>
                  <a:srgbClr val="0A0A0A"/>
                </a:solidFill>
                <a:latin typeface="Open Sans" pitchFamily="34" charset="0"/>
                <a:ea typeface="Open Sans" pitchFamily="34" charset="-122"/>
                <a:cs typeface="Open Sans" pitchFamily="34" charset="-120"/>
              </a:rPr>
              <a:t>MOYEN</a:t>
            </a:r>
            <a:endParaRPr lang="en-US" sz="584" dirty="0"/>
          </a:p>
        </p:txBody>
      </p:sp>
      <p:sp>
        <p:nvSpPr>
          <p:cNvPr id="89" name="Text 85"/>
          <p:cNvSpPr/>
          <p:nvPr/>
        </p:nvSpPr>
        <p:spPr>
          <a:xfrm>
            <a:off x="4586455" y="3855839"/>
            <a:ext cx="1843060" cy="207169"/>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Réseau/Non-auth</a:t>
            </a:r>
            <a:endParaRPr lang="en-US" sz="727" dirty="0"/>
          </a:p>
        </p:txBody>
      </p:sp>
      <p:sp>
        <p:nvSpPr>
          <p:cNvPr id="90" name="Text 86"/>
          <p:cNvSpPr/>
          <p:nvPr/>
        </p:nvSpPr>
        <p:spPr>
          <a:xfrm>
            <a:off x="6429515" y="3855839"/>
            <a:ext cx="2228710" cy="207169"/>
          </a:xfrm>
          <a:prstGeom prst="rect">
            <a:avLst/>
          </a:prstGeom>
          <a:noFill/>
          <a:ln/>
        </p:spPr>
        <p:txBody>
          <a:bodyPr wrap="square" lIns="68072" tIns="34036" rIns="68072" bIns="34036" rtlCol="0" anchor="ctr">
            <a:spAutoFit/>
          </a:bodyPr>
          <a:lstStyle/>
          <a:p>
            <a:pPr marL="0" indent="0" algn="l">
              <a:lnSpc>
                <a:spcPts val="900"/>
              </a:lnSpc>
              <a:buNone/>
            </a:pPr>
            <a:r>
              <a:rPr lang="en-US" sz="727" dirty="0">
                <a:solidFill>
                  <a:srgbClr val="F5F5F5"/>
                </a:solidFill>
                <a:latin typeface="Open Sans" pitchFamily="34" charset="0"/>
                <a:ea typeface="Open Sans" pitchFamily="34" charset="-122"/>
                <a:cs typeface="Open Sans" pitchFamily="34" charset="-120"/>
              </a:rPr>
              <a:t>Crash Runtime</a:t>
            </a:r>
            <a:endParaRPr lang="en-US" sz="727" dirty="0"/>
          </a:p>
        </p:txBody>
      </p:sp>
      <p:sp>
        <p:nvSpPr>
          <p:cNvPr id="91" name="Shape 87"/>
          <p:cNvSpPr/>
          <p:nvPr/>
        </p:nvSpPr>
        <p:spPr>
          <a:xfrm>
            <a:off x="714375" y="4604147"/>
            <a:ext cx="8001000" cy="453628"/>
          </a:xfrm>
          <a:prstGeom prst="rect">
            <a:avLst/>
          </a:prstGeom>
          <a:solidFill>
            <a:srgbClr val="D32F2F">
              <a:alpha val="10000"/>
            </a:srgbClr>
          </a:solidFill>
          <a:ln/>
        </p:spPr>
        <p:txBody>
          <a:bodyPr/>
          <a:lstStyle/>
          <a:p>
            <a:endParaRPr lang="fr-FR"/>
          </a:p>
        </p:txBody>
      </p:sp>
      <p:sp>
        <p:nvSpPr>
          <p:cNvPr id="92" name="Shape 88"/>
          <p:cNvSpPr/>
          <p:nvPr/>
        </p:nvSpPr>
        <p:spPr>
          <a:xfrm>
            <a:off x="714375" y="4604147"/>
            <a:ext cx="28575" cy="453628"/>
          </a:xfrm>
          <a:prstGeom prst="rect">
            <a:avLst/>
          </a:prstGeom>
          <a:solidFill>
            <a:srgbClr val="D32F2F"/>
          </a:solidFill>
          <a:ln/>
        </p:spPr>
        <p:txBody>
          <a:bodyPr/>
          <a:lstStyle/>
          <a:p>
            <a:endParaRPr lang="fr-FR"/>
          </a:p>
        </p:txBody>
      </p:sp>
      <p:pic>
        <p:nvPicPr>
          <p:cNvPr id="93" name="Image 1" descr="preencoded.png"/>
          <p:cNvPicPr>
            <a:picLocks noChangeAspect="1"/>
          </p:cNvPicPr>
          <p:nvPr/>
        </p:nvPicPr>
        <p:blipFill>
          <a:blip r:embed="rId4"/>
          <a:stretch>
            <a:fillRect/>
          </a:stretch>
        </p:blipFill>
        <p:spPr>
          <a:xfrm>
            <a:off x="785813" y="4759523"/>
            <a:ext cx="142875" cy="142875"/>
          </a:xfrm>
          <a:prstGeom prst="rect">
            <a:avLst/>
          </a:prstGeom>
        </p:spPr>
      </p:pic>
      <p:sp>
        <p:nvSpPr>
          <p:cNvPr id="94" name="Text 89"/>
          <p:cNvSpPr/>
          <p:nvPr/>
        </p:nvSpPr>
        <p:spPr>
          <a:xfrm>
            <a:off x="1014413" y="4675584"/>
            <a:ext cx="7629525" cy="310753"/>
          </a:xfrm>
          <a:prstGeom prst="rect">
            <a:avLst/>
          </a:prstGeom>
          <a:noFill/>
          <a:ln/>
        </p:spPr>
        <p:txBody>
          <a:bodyPr wrap="square" lIns="0" tIns="0" rIns="0" bIns="0" rtlCol="0" anchor="t">
            <a:spAutoFit/>
          </a:bodyPr>
          <a:lstStyle/>
          <a:p>
            <a:pPr marL="0" indent="0" algn="l">
              <a:lnSpc>
                <a:spcPts val="1100"/>
              </a:lnSpc>
              <a:buNone/>
            </a:pPr>
            <a:r>
              <a:rPr lang="en-US" sz="784" b="1" dirty="0">
                <a:solidFill>
                  <a:srgbClr val="E0E0E0"/>
                </a:solidFill>
                <a:latin typeface="Open Sans" pitchFamily="34" charset="0"/>
                <a:ea typeface="Open Sans" pitchFamily="34" charset="-122"/>
                <a:cs typeface="Open Sans" pitchFamily="34" charset="-120"/>
              </a:rPr>
              <a:t>Note d'analyse :</a:t>
            </a:r>
            <a:r>
              <a:rPr lang="en-US" sz="834" dirty="0">
                <a:solidFill>
                  <a:srgbClr val="E0E0E0"/>
                </a:solidFill>
                <a:latin typeface="Open Sans" pitchFamily="34" charset="0"/>
                <a:ea typeface="Open Sans" pitchFamily="34" charset="-122"/>
                <a:cs typeface="Open Sans" pitchFamily="34" charset="-120"/>
              </a:rPr>
              <a:t> Le vecteur d'attaque est majoritairement réseau non authentifié, ce qui représente une surface d'attaque maximale sur des réseaux OT non segmentés.</a:t>
            </a:r>
            <a:endParaRPr lang="en-US" sz="784" dirty="0"/>
          </a:p>
        </p:txBody>
      </p:sp>
    </p:spTree>
    <p:extLst>
      <p:ext uri="{BB962C8B-B14F-4D97-AF65-F5344CB8AC3E}">
        <p14:creationId xmlns:p14="http://schemas.microsoft.com/office/powerpoint/2010/main" val="1097589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7AEA6-2F28-299C-4875-4212EC9132D9}"/>
            </a:ext>
          </a:extLst>
        </p:cNvPr>
        <p:cNvGrpSpPr/>
        <p:nvPr/>
      </p:nvGrpSpPr>
      <p:grpSpPr>
        <a:xfrm>
          <a:off x="0" y="0"/>
          <a:ext cx="0" cy="0"/>
          <a:chOff x="0" y="0"/>
          <a:chExt cx="0" cy="0"/>
        </a:xfrm>
      </p:grpSpPr>
      <p:pic>
        <p:nvPicPr>
          <p:cNvPr id="3" name="Image 0" descr="preencoded.png">
            <a:extLst>
              <a:ext uri="{FF2B5EF4-FFF2-40B4-BE49-F238E27FC236}">
                <a16:creationId xmlns:a16="http://schemas.microsoft.com/office/drawing/2014/main" id="{F63D40FF-B0FA-84B4-B523-EB5F598CA5A9}"/>
              </a:ext>
            </a:extLst>
          </p:cNvPr>
          <p:cNvPicPr>
            <a:picLocks noChangeAspect="1"/>
          </p:cNvPicPr>
          <p:nvPr/>
        </p:nvPicPr>
        <p:blipFill>
          <a:blip r:embed="rId3"/>
          <a:stretch>
            <a:fillRect/>
          </a:stretch>
        </p:blipFill>
        <p:spPr>
          <a:xfrm>
            <a:off x="0" y="0"/>
            <a:ext cx="9144000" cy="5143500"/>
          </a:xfrm>
          <a:prstGeom prst="rect">
            <a:avLst/>
          </a:prstGeom>
        </p:spPr>
      </p:pic>
      <p:sp>
        <p:nvSpPr>
          <p:cNvPr id="4" name="Text 0">
            <a:extLst>
              <a:ext uri="{FF2B5EF4-FFF2-40B4-BE49-F238E27FC236}">
                <a16:creationId xmlns:a16="http://schemas.microsoft.com/office/drawing/2014/main" id="{489487F0-A851-77F8-324A-427EAD37E691}"/>
              </a:ext>
            </a:extLst>
          </p:cNvPr>
          <p:cNvSpPr/>
          <p:nvPr/>
        </p:nvSpPr>
        <p:spPr>
          <a:xfrm>
            <a:off x="714375" y="285750"/>
            <a:ext cx="8001000" cy="617209"/>
          </a:xfrm>
          <a:prstGeom prst="rect">
            <a:avLst/>
          </a:prstGeom>
          <a:noFill/>
          <a:ln/>
        </p:spPr>
        <p:txBody>
          <a:bodyPr wrap="squar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VULNÉRABILITÉ CRITIQUE : ACCÈS ROOT SANS MOT DE PASSE (/ETC/SHADOW)</a:t>
            </a:r>
            <a:endParaRPr lang="en-US" sz="1808" dirty="0"/>
          </a:p>
        </p:txBody>
      </p:sp>
      <p:sp>
        <p:nvSpPr>
          <p:cNvPr id="5" name="Shape 1">
            <a:extLst>
              <a:ext uri="{FF2B5EF4-FFF2-40B4-BE49-F238E27FC236}">
                <a16:creationId xmlns:a16="http://schemas.microsoft.com/office/drawing/2014/main" id="{E8C2A5C2-F530-3CF0-9942-22076A3BDB56}"/>
              </a:ext>
            </a:extLst>
          </p:cNvPr>
          <p:cNvSpPr/>
          <p:nvPr/>
        </p:nvSpPr>
        <p:spPr>
          <a:xfrm>
            <a:off x="714375" y="988684"/>
            <a:ext cx="3545895" cy="1703310"/>
          </a:xfrm>
          <a:prstGeom prst="rect">
            <a:avLst/>
          </a:prstGeom>
          <a:solidFill>
            <a:srgbClr val="FFFFFF"/>
          </a:solidFill>
          <a:ln/>
        </p:spPr>
        <p:txBody>
          <a:bodyPr/>
          <a:lstStyle/>
          <a:p>
            <a:endParaRPr lang="fr-FR"/>
          </a:p>
        </p:txBody>
      </p:sp>
      <p:sp>
        <p:nvSpPr>
          <p:cNvPr id="6" name="Shape 2">
            <a:extLst>
              <a:ext uri="{FF2B5EF4-FFF2-40B4-BE49-F238E27FC236}">
                <a16:creationId xmlns:a16="http://schemas.microsoft.com/office/drawing/2014/main" id="{306E2758-3221-8459-4E5B-0E27B9DE9C77}"/>
              </a:ext>
            </a:extLst>
          </p:cNvPr>
          <p:cNvSpPr/>
          <p:nvPr/>
        </p:nvSpPr>
        <p:spPr>
          <a:xfrm>
            <a:off x="714375" y="988684"/>
            <a:ext cx="42863" cy="1703310"/>
          </a:xfrm>
          <a:prstGeom prst="rect">
            <a:avLst/>
          </a:prstGeom>
          <a:solidFill>
            <a:srgbClr val="D32F2F"/>
          </a:solidFill>
          <a:ln/>
        </p:spPr>
        <p:txBody>
          <a:bodyPr/>
          <a:lstStyle/>
          <a:p>
            <a:endParaRPr lang="fr-FR"/>
          </a:p>
        </p:txBody>
      </p:sp>
      <p:pic>
        <p:nvPicPr>
          <p:cNvPr id="7" name="Image 1" descr="preencoded.png">
            <a:extLst>
              <a:ext uri="{FF2B5EF4-FFF2-40B4-BE49-F238E27FC236}">
                <a16:creationId xmlns:a16="http://schemas.microsoft.com/office/drawing/2014/main" id="{59F11817-C347-048C-DD96-21A07680356D}"/>
              </a:ext>
            </a:extLst>
          </p:cNvPr>
          <p:cNvPicPr>
            <a:picLocks noChangeAspect="1"/>
          </p:cNvPicPr>
          <p:nvPr/>
        </p:nvPicPr>
        <p:blipFill>
          <a:blip r:embed="rId4"/>
          <a:stretch>
            <a:fillRect/>
          </a:stretch>
        </p:blipFill>
        <p:spPr>
          <a:xfrm>
            <a:off x="800100" y="1083339"/>
            <a:ext cx="157163" cy="157163"/>
          </a:xfrm>
          <a:prstGeom prst="rect">
            <a:avLst/>
          </a:prstGeom>
        </p:spPr>
      </p:pic>
      <p:sp>
        <p:nvSpPr>
          <p:cNvPr id="8" name="Text 3">
            <a:extLst>
              <a:ext uri="{FF2B5EF4-FFF2-40B4-BE49-F238E27FC236}">
                <a16:creationId xmlns:a16="http://schemas.microsoft.com/office/drawing/2014/main" id="{13907B59-F1C3-93A0-EB52-2B983C5D6640}"/>
              </a:ext>
            </a:extLst>
          </p:cNvPr>
          <p:cNvSpPr/>
          <p:nvPr/>
        </p:nvSpPr>
        <p:spPr>
          <a:xfrm>
            <a:off x="957263" y="1074409"/>
            <a:ext cx="1698427"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ANALYSE DE LA FAILLE</a:t>
            </a:r>
            <a:endParaRPr lang="en-US" sz="1090" dirty="0"/>
          </a:p>
        </p:txBody>
      </p:sp>
      <p:sp>
        <p:nvSpPr>
          <p:cNvPr id="9" name="Text 4">
            <a:extLst>
              <a:ext uri="{FF2B5EF4-FFF2-40B4-BE49-F238E27FC236}">
                <a16:creationId xmlns:a16="http://schemas.microsoft.com/office/drawing/2014/main" id="{12F7A988-3CBA-BD79-8845-F5C0C31703A7}"/>
              </a:ext>
            </a:extLst>
          </p:cNvPr>
          <p:cNvSpPr/>
          <p:nvPr/>
        </p:nvSpPr>
        <p:spPr>
          <a:xfrm>
            <a:off x="800100" y="1315510"/>
            <a:ext cx="3374445" cy="1290758"/>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L'extraction du système de fichiers révèle une configuration catastrophique du fichier </a:t>
            </a:r>
            <a:r>
              <a:rPr lang="en-US" sz="784" b="1" dirty="0">
                <a:solidFill>
                  <a:srgbClr val="D32F2F"/>
                </a:solidFill>
                <a:latin typeface="Fira Code" pitchFamily="34" charset="0"/>
                <a:ea typeface="Fira Code" pitchFamily="34" charset="-122"/>
                <a:cs typeface="Fira Code" pitchFamily="34" charset="-120"/>
              </a:rPr>
              <a:t>/etc/shadow</a:t>
            </a:r>
            <a:r>
              <a:rPr lang="en-US" sz="834" dirty="0">
                <a:solidFill>
                  <a:srgbClr val="242424"/>
                </a:solidFill>
                <a:latin typeface="Open Sans" pitchFamily="34" charset="0"/>
                <a:ea typeface="Open Sans" pitchFamily="34" charset="-122"/>
                <a:cs typeface="Open Sans" pitchFamily="34" charset="-120"/>
              </a:rPr>
              <a:t>. Le champ du mot de passe pour l'utilisateur </a:t>
            </a:r>
            <a:r>
              <a:rPr lang="en-US" sz="784" b="1" dirty="0">
                <a:solidFill>
                  <a:srgbClr val="242424"/>
                </a:solidFill>
                <a:latin typeface="Open Sans" pitchFamily="34" charset="0"/>
                <a:ea typeface="Open Sans" pitchFamily="34" charset="-122"/>
                <a:cs typeface="Open Sans" pitchFamily="34" charset="-120"/>
              </a:rPr>
              <a:t>root</a:t>
            </a:r>
            <a:r>
              <a:rPr lang="en-US" sz="834" dirty="0">
                <a:solidFill>
                  <a:srgbClr val="242424"/>
                </a:solidFill>
                <a:latin typeface="Open Sans" pitchFamily="34" charset="0"/>
                <a:ea typeface="Open Sans" pitchFamily="34" charset="-122"/>
                <a:cs typeface="Open Sans" pitchFamily="34" charset="-120"/>
              </a:rPr>
              <a:t> est vide : </a:t>
            </a:r>
            <a:r>
              <a:rPr lang="en-US" sz="784" b="1" dirty="0">
                <a:solidFill>
                  <a:srgbClr val="D32F2F"/>
                </a:solidFill>
                <a:latin typeface="Fira Code" pitchFamily="34" charset="0"/>
                <a:ea typeface="Fira Code" pitchFamily="34" charset="-122"/>
                <a:cs typeface="Fira Code" pitchFamily="34" charset="-120"/>
              </a:rPr>
              <a:t>root:::0:99999:7:::</a:t>
            </a:r>
            <a:r>
              <a:rPr lang="en-US" sz="834" dirty="0">
                <a:solidFill>
                  <a:srgbClr val="242424"/>
                </a:solidFill>
                <a:latin typeface="Open Sans" pitchFamily="34" charset="0"/>
                <a:ea typeface="Open Sans" pitchFamily="34" charset="-122"/>
                <a:cs typeface="Open Sans" pitchFamily="34" charset="-120"/>
              </a:rPr>
              <a:t>. 
 Cela signifie qu'</a:t>
            </a:r>
            <a:r>
              <a:rPr lang="en-US" sz="784" b="1" dirty="0">
                <a:solidFill>
                  <a:srgbClr val="242424"/>
                </a:solidFill>
                <a:latin typeface="Open Sans" pitchFamily="34" charset="0"/>
                <a:ea typeface="Open Sans" pitchFamily="34" charset="-122"/>
                <a:cs typeface="Open Sans" pitchFamily="34" charset="-120"/>
              </a:rPr>
              <a:t>aucun mot de passe n'est requis</a:t>
            </a:r>
            <a:r>
              <a:rPr lang="en-US" sz="834" dirty="0">
                <a:solidFill>
                  <a:srgbClr val="242424"/>
                </a:solidFill>
                <a:latin typeface="Open Sans" pitchFamily="34" charset="0"/>
                <a:ea typeface="Open Sans" pitchFamily="34" charset="-122"/>
                <a:cs typeface="Open Sans" pitchFamily="34" charset="-120"/>
              </a:rPr>
              <a:t> pour obtenir les privilèges les plus élevés sur le système.</a:t>
            </a:r>
            <a:endParaRPr lang="en-US" sz="834" dirty="0"/>
          </a:p>
        </p:txBody>
      </p:sp>
      <p:sp>
        <p:nvSpPr>
          <p:cNvPr id="10" name="Shape 5">
            <a:extLst>
              <a:ext uri="{FF2B5EF4-FFF2-40B4-BE49-F238E27FC236}">
                <a16:creationId xmlns:a16="http://schemas.microsoft.com/office/drawing/2014/main" id="{800F45AF-7291-273E-6AAD-609AF9C77D77}"/>
              </a:ext>
            </a:extLst>
          </p:cNvPr>
          <p:cNvSpPr/>
          <p:nvPr/>
        </p:nvSpPr>
        <p:spPr>
          <a:xfrm>
            <a:off x="714375" y="2777719"/>
            <a:ext cx="1744359" cy="685800"/>
          </a:xfrm>
          <a:prstGeom prst="rect">
            <a:avLst/>
          </a:prstGeom>
          <a:solidFill>
            <a:srgbClr val="242424"/>
          </a:solidFill>
          <a:ln/>
        </p:spPr>
        <p:txBody>
          <a:bodyPr/>
          <a:lstStyle/>
          <a:p>
            <a:endParaRPr lang="fr-FR"/>
          </a:p>
        </p:txBody>
      </p:sp>
      <p:sp>
        <p:nvSpPr>
          <p:cNvPr id="11" name="Text 6">
            <a:extLst>
              <a:ext uri="{FF2B5EF4-FFF2-40B4-BE49-F238E27FC236}">
                <a16:creationId xmlns:a16="http://schemas.microsoft.com/office/drawing/2014/main" id="{8F547BA4-FDF9-DC2C-A7CD-FF6186435FFC}"/>
              </a:ext>
            </a:extLst>
          </p:cNvPr>
          <p:cNvSpPr/>
          <p:nvPr/>
        </p:nvSpPr>
        <p:spPr>
          <a:xfrm>
            <a:off x="800100" y="2863444"/>
            <a:ext cx="1572909" cy="116086"/>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A0A0A0"/>
                </a:solidFill>
                <a:latin typeface="Open Sans" pitchFamily="34" charset="0"/>
                <a:ea typeface="Open Sans" pitchFamily="34" charset="-122"/>
                <a:cs typeface="Open Sans" pitchFamily="34" charset="-120"/>
              </a:rPr>
              <a:t>CLASSIFICATION STRIDE</a:t>
            </a:r>
            <a:endParaRPr lang="en-US" sz="621" dirty="0"/>
          </a:p>
        </p:txBody>
      </p:sp>
      <p:sp>
        <p:nvSpPr>
          <p:cNvPr id="12" name="Text 7">
            <a:extLst>
              <a:ext uri="{FF2B5EF4-FFF2-40B4-BE49-F238E27FC236}">
                <a16:creationId xmlns:a16="http://schemas.microsoft.com/office/drawing/2014/main" id="{3508A373-CA17-67DF-CB02-7C5E05D9A928}"/>
              </a:ext>
            </a:extLst>
          </p:cNvPr>
          <p:cNvSpPr/>
          <p:nvPr/>
        </p:nvSpPr>
        <p:spPr>
          <a:xfrm>
            <a:off x="800100" y="3015249"/>
            <a:ext cx="1572909" cy="200025"/>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FFFF"/>
                </a:solidFill>
                <a:latin typeface="Roboto" pitchFamily="34" charset="0"/>
                <a:ea typeface="Roboto" pitchFamily="34" charset="-122"/>
                <a:cs typeface="Roboto" pitchFamily="34" charset="-120"/>
              </a:rPr>
              <a:t>S &amp; E</a:t>
            </a:r>
            <a:endParaRPr lang="en-US" sz="1193" dirty="0"/>
          </a:p>
        </p:txBody>
      </p:sp>
      <p:sp>
        <p:nvSpPr>
          <p:cNvPr id="13" name="Text 8">
            <a:extLst>
              <a:ext uri="{FF2B5EF4-FFF2-40B4-BE49-F238E27FC236}">
                <a16:creationId xmlns:a16="http://schemas.microsoft.com/office/drawing/2014/main" id="{110C7872-C929-8347-0625-43C7EE868BE3}"/>
              </a:ext>
            </a:extLst>
          </p:cNvPr>
          <p:cNvSpPr/>
          <p:nvPr/>
        </p:nvSpPr>
        <p:spPr>
          <a:xfrm>
            <a:off x="800100" y="3250992"/>
            <a:ext cx="1572909" cy="98227"/>
          </a:xfrm>
          <a:prstGeom prst="rect">
            <a:avLst/>
          </a:prstGeom>
          <a:noFill/>
          <a:ln/>
        </p:spPr>
        <p:txBody>
          <a:bodyPr wrap="none" lIns="0" tIns="0" rIns="0" bIns="0" rtlCol="0" anchor="t">
            <a:spAutoFit/>
          </a:bodyPr>
          <a:lstStyle/>
          <a:p>
            <a:pPr marL="0" indent="0" algn="ctr">
              <a:lnSpc>
                <a:spcPts val="700"/>
              </a:lnSpc>
              <a:buNone/>
            </a:pPr>
            <a:r>
              <a:rPr lang="en-US" sz="516" dirty="0">
                <a:solidFill>
                  <a:srgbClr val="A0A0A0"/>
                </a:solidFill>
                <a:latin typeface="Open Sans" pitchFamily="34" charset="0"/>
                <a:ea typeface="Open Sans" pitchFamily="34" charset="-122"/>
                <a:cs typeface="Open Sans" pitchFamily="34" charset="-120"/>
              </a:rPr>
              <a:t>Spoofing &amp; Elevation of Privilege</a:t>
            </a:r>
            <a:endParaRPr lang="en-US" sz="516" dirty="0"/>
          </a:p>
        </p:txBody>
      </p:sp>
      <p:sp>
        <p:nvSpPr>
          <p:cNvPr id="14" name="Shape 9">
            <a:extLst>
              <a:ext uri="{FF2B5EF4-FFF2-40B4-BE49-F238E27FC236}">
                <a16:creationId xmlns:a16="http://schemas.microsoft.com/office/drawing/2014/main" id="{D758429F-86E7-FD8C-6D9E-C3E921CD70D5}"/>
              </a:ext>
            </a:extLst>
          </p:cNvPr>
          <p:cNvSpPr/>
          <p:nvPr/>
        </p:nvSpPr>
        <p:spPr>
          <a:xfrm>
            <a:off x="2515884" y="2777719"/>
            <a:ext cx="1744387" cy="685800"/>
          </a:xfrm>
          <a:prstGeom prst="rect">
            <a:avLst/>
          </a:prstGeom>
          <a:solidFill>
            <a:srgbClr val="242424"/>
          </a:solidFill>
          <a:ln w="18288">
            <a:solidFill>
              <a:srgbClr val="FF5252"/>
            </a:solidFill>
            <a:prstDash val="solid"/>
          </a:ln>
        </p:spPr>
        <p:txBody>
          <a:bodyPr/>
          <a:lstStyle/>
          <a:p>
            <a:endParaRPr lang="fr-FR"/>
          </a:p>
        </p:txBody>
      </p:sp>
      <p:sp>
        <p:nvSpPr>
          <p:cNvPr id="15" name="Text 10">
            <a:extLst>
              <a:ext uri="{FF2B5EF4-FFF2-40B4-BE49-F238E27FC236}">
                <a16:creationId xmlns:a16="http://schemas.microsoft.com/office/drawing/2014/main" id="{75622020-9B04-574C-45E7-7A3C02DE8B53}"/>
              </a:ext>
            </a:extLst>
          </p:cNvPr>
          <p:cNvSpPr/>
          <p:nvPr/>
        </p:nvSpPr>
        <p:spPr>
          <a:xfrm>
            <a:off x="2601609" y="2863444"/>
            <a:ext cx="1572937" cy="116086"/>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A0A0A0"/>
                </a:solidFill>
                <a:latin typeface="Open Sans" pitchFamily="34" charset="0"/>
                <a:ea typeface="Open Sans" pitchFamily="34" charset="-122"/>
                <a:cs typeface="Open Sans" pitchFamily="34" charset="-120"/>
              </a:rPr>
              <a:t>SCORE CVSS 3.1</a:t>
            </a:r>
            <a:endParaRPr lang="en-US" sz="621" dirty="0"/>
          </a:p>
        </p:txBody>
      </p:sp>
      <p:sp>
        <p:nvSpPr>
          <p:cNvPr id="16" name="Text 11">
            <a:extLst>
              <a:ext uri="{FF2B5EF4-FFF2-40B4-BE49-F238E27FC236}">
                <a16:creationId xmlns:a16="http://schemas.microsoft.com/office/drawing/2014/main" id="{DB5D3AF8-D7A8-7DCD-987D-28F36D49D14C}"/>
              </a:ext>
            </a:extLst>
          </p:cNvPr>
          <p:cNvSpPr/>
          <p:nvPr/>
        </p:nvSpPr>
        <p:spPr>
          <a:xfrm>
            <a:off x="2601609" y="3015249"/>
            <a:ext cx="1572937" cy="200025"/>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5252"/>
                </a:solidFill>
                <a:latin typeface="Roboto" pitchFamily="34" charset="0"/>
                <a:ea typeface="Roboto" pitchFamily="34" charset="-122"/>
                <a:cs typeface="Roboto" pitchFamily="34" charset="-120"/>
              </a:rPr>
              <a:t>9.8</a:t>
            </a:r>
            <a:endParaRPr lang="en-US" sz="1193" dirty="0"/>
          </a:p>
        </p:txBody>
      </p:sp>
      <p:sp>
        <p:nvSpPr>
          <p:cNvPr id="17" name="Text 12">
            <a:extLst>
              <a:ext uri="{FF2B5EF4-FFF2-40B4-BE49-F238E27FC236}">
                <a16:creationId xmlns:a16="http://schemas.microsoft.com/office/drawing/2014/main" id="{D543A3EB-C24E-DB5B-9B29-B96305C48DA3}"/>
              </a:ext>
            </a:extLst>
          </p:cNvPr>
          <p:cNvSpPr/>
          <p:nvPr/>
        </p:nvSpPr>
        <p:spPr>
          <a:xfrm>
            <a:off x="2601609" y="3250992"/>
            <a:ext cx="1572937" cy="98227"/>
          </a:xfrm>
          <a:prstGeom prst="rect">
            <a:avLst/>
          </a:prstGeom>
          <a:noFill/>
          <a:ln/>
        </p:spPr>
        <p:txBody>
          <a:bodyPr wrap="none" lIns="0" tIns="0" rIns="0" bIns="0" rtlCol="0" anchor="t">
            <a:spAutoFit/>
          </a:bodyPr>
          <a:lstStyle/>
          <a:p>
            <a:pPr marL="0" indent="0" algn="ctr">
              <a:lnSpc>
                <a:spcPts val="700"/>
              </a:lnSpc>
              <a:buNone/>
            </a:pPr>
            <a:r>
              <a:rPr lang="en-US" sz="516" dirty="0">
                <a:solidFill>
                  <a:srgbClr val="FF5252"/>
                </a:solidFill>
                <a:latin typeface="Open Sans" pitchFamily="34" charset="0"/>
                <a:ea typeface="Open Sans" pitchFamily="34" charset="-122"/>
                <a:cs typeface="Open Sans" pitchFamily="34" charset="-120"/>
              </a:rPr>
              <a:t>CRITIQUE</a:t>
            </a:r>
            <a:endParaRPr lang="en-US" sz="516" dirty="0"/>
          </a:p>
        </p:txBody>
      </p:sp>
      <p:sp>
        <p:nvSpPr>
          <p:cNvPr id="18" name="Shape 13">
            <a:extLst>
              <a:ext uri="{FF2B5EF4-FFF2-40B4-BE49-F238E27FC236}">
                <a16:creationId xmlns:a16="http://schemas.microsoft.com/office/drawing/2014/main" id="{C2F3844C-C4FD-B2A8-A43A-ED222DA8799E}"/>
              </a:ext>
            </a:extLst>
          </p:cNvPr>
          <p:cNvSpPr/>
          <p:nvPr/>
        </p:nvSpPr>
        <p:spPr>
          <a:xfrm>
            <a:off x="714375" y="3520669"/>
            <a:ext cx="3545895" cy="1149362"/>
          </a:xfrm>
          <a:prstGeom prst="rect">
            <a:avLst/>
          </a:prstGeom>
          <a:solidFill>
            <a:srgbClr val="FFFFFF"/>
          </a:solidFill>
          <a:ln/>
        </p:spPr>
        <p:txBody>
          <a:bodyPr/>
          <a:lstStyle/>
          <a:p>
            <a:endParaRPr lang="fr-FR"/>
          </a:p>
        </p:txBody>
      </p:sp>
      <p:sp>
        <p:nvSpPr>
          <p:cNvPr id="19" name="Shape 14">
            <a:extLst>
              <a:ext uri="{FF2B5EF4-FFF2-40B4-BE49-F238E27FC236}">
                <a16:creationId xmlns:a16="http://schemas.microsoft.com/office/drawing/2014/main" id="{5FBC1E6A-C866-DD25-2E6B-E381AB11073C}"/>
              </a:ext>
            </a:extLst>
          </p:cNvPr>
          <p:cNvSpPr/>
          <p:nvPr/>
        </p:nvSpPr>
        <p:spPr>
          <a:xfrm>
            <a:off x="714375" y="3520669"/>
            <a:ext cx="42863" cy="1149362"/>
          </a:xfrm>
          <a:prstGeom prst="rect">
            <a:avLst/>
          </a:prstGeom>
          <a:solidFill>
            <a:srgbClr val="242424"/>
          </a:solidFill>
          <a:ln/>
        </p:spPr>
        <p:txBody>
          <a:bodyPr/>
          <a:lstStyle/>
          <a:p>
            <a:endParaRPr lang="fr-FR"/>
          </a:p>
        </p:txBody>
      </p:sp>
      <p:pic>
        <p:nvPicPr>
          <p:cNvPr id="20" name="Image 2" descr="preencoded.png">
            <a:extLst>
              <a:ext uri="{FF2B5EF4-FFF2-40B4-BE49-F238E27FC236}">
                <a16:creationId xmlns:a16="http://schemas.microsoft.com/office/drawing/2014/main" id="{067C643E-E54D-82FE-833E-6FB4CF163635}"/>
              </a:ext>
            </a:extLst>
          </p:cNvPr>
          <p:cNvPicPr>
            <a:picLocks noChangeAspect="1"/>
          </p:cNvPicPr>
          <p:nvPr/>
        </p:nvPicPr>
        <p:blipFill>
          <a:blip r:embed="rId5"/>
          <a:stretch>
            <a:fillRect/>
          </a:stretch>
        </p:blipFill>
        <p:spPr>
          <a:xfrm>
            <a:off x="800100" y="3615324"/>
            <a:ext cx="137517" cy="157163"/>
          </a:xfrm>
          <a:prstGeom prst="rect">
            <a:avLst/>
          </a:prstGeom>
        </p:spPr>
      </p:pic>
      <p:sp>
        <p:nvSpPr>
          <p:cNvPr id="21" name="Text 15">
            <a:extLst>
              <a:ext uri="{FF2B5EF4-FFF2-40B4-BE49-F238E27FC236}">
                <a16:creationId xmlns:a16="http://schemas.microsoft.com/office/drawing/2014/main" id="{C42E3A41-2025-CDF4-94AC-76A7B56B7368}"/>
              </a:ext>
            </a:extLst>
          </p:cNvPr>
          <p:cNvSpPr/>
          <p:nvPr/>
        </p:nvSpPr>
        <p:spPr>
          <a:xfrm>
            <a:off x="937617" y="3606394"/>
            <a:ext cx="1409105"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IMPACT IMMÉDIAT</a:t>
            </a:r>
            <a:endParaRPr lang="en-US" sz="1090" dirty="0"/>
          </a:p>
        </p:txBody>
      </p:sp>
      <p:sp>
        <p:nvSpPr>
          <p:cNvPr id="22" name="Text 16">
            <a:extLst>
              <a:ext uri="{FF2B5EF4-FFF2-40B4-BE49-F238E27FC236}">
                <a16:creationId xmlns:a16="http://schemas.microsoft.com/office/drawing/2014/main" id="{0C7FEC8B-89CE-B832-23D0-A838C27AC7CC}"/>
              </a:ext>
            </a:extLst>
          </p:cNvPr>
          <p:cNvSpPr/>
          <p:nvPr/>
        </p:nvSpPr>
        <p:spPr>
          <a:xfrm>
            <a:off x="800100" y="3847495"/>
            <a:ext cx="3374445" cy="342338"/>
          </a:xfrm>
          <a:prstGeom prst="rect">
            <a:avLst/>
          </a:prstGeom>
          <a:noFill/>
          <a:ln/>
        </p:spPr>
        <p:txBody>
          <a:bodyPr wrap="square" lIns="0" tIns="0" rIns="0" bIns="0" rtlCol="0" anchor="t">
            <a:spAutoFit/>
          </a:bodyPr>
          <a:lstStyle/>
          <a:p>
            <a:pPr marL="0" indent="0" algn="l">
              <a:lnSpc>
                <a:spcPts val="1400"/>
              </a:lnSpc>
              <a:buNone/>
            </a:pPr>
            <a:r>
              <a:rPr lang="fr-FR" sz="834" dirty="0">
                <a:solidFill>
                  <a:srgbClr val="242424"/>
                </a:solidFill>
                <a:latin typeface="Open Sans" pitchFamily="34" charset="0"/>
                <a:ea typeface="Open Sans" pitchFamily="34" charset="-122"/>
                <a:cs typeface="Open Sans" pitchFamily="34" charset="-120"/>
              </a:rPr>
              <a:t>Prise de contrôle totale du système d'exploitation de l'automate à distance, permettant le sabotage physique de la raffinerie</a:t>
            </a:r>
            <a:endParaRPr lang="en-US" sz="834" dirty="0"/>
          </a:p>
        </p:txBody>
      </p:sp>
      <p:pic>
        <p:nvPicPr>
          <p:cNvPr id="23" name="Image 3" descr="preencoded.png">
            <a:extLst>
              <a:ext uri="{FF2B5EF4-FFF2-40B4-BE49-F238E27FC236}">
                <a16:creationId xmlns:a16="http://schemas.microsoft.com/office/drawing/2014/main" id="{82673E12-6CA8-5EDA-1646-ED01C4A7C6F3}"/>
              </a:ext>
            </a:extLst>
          </p:cNvPr>
          <p:cNvPicPr>
            <a:picLocks noChangeAspect="1"/>
          </p:cNvPicPr>
          <p:nvPr/>
        </p:nvPicPr>
        <p:blipFill>
          <a:blip r:embed="rId6"/>
          <a:stretch>
            <a:fillRect/>
          </a:stretch>
        </p:blipFill>
        <p:spPr>
          <a:xfrm>
            <a:off x="4460295" y="995828"/>
            <a:ext cx="144661" cy="128588"/>
          </a:xfrm>
          <a:prstGeom prst="rect">
            <a:avLst/>
          </a:prstGeom>
        </p:spPr>
      </p:pic>
      <p:sp>
        <p:nvSpPr>
          <p:cNvPr id="24" name="Text 17">
            <a:extLst>
              <a:ext uri="{FF2B5EF4-FFF2-40B4-BE49-F238E27FC236}">
                <a16:creationId xmlns:a16="http://schemas.microsoft.com/office/drawing/2014/main" id="{8E949C7D-C08C-3BC2-0378-4D195661EB90}"/>
              </a:ext>
            </a:extLst>
          </p:cNvPr>
          <p:cNvSpPr/>
          <p:nvPr/>
        </p:nvSpPr>
        <p:spPr>
          <a:xfrm>
            <a:off x="4604956" y="988684"/>
            <a:ext cx="1689497"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PREUVE DE CONCEPT (POC)</a:t>
            </a:r>
            <a:endParaRPr lang="en-US" sz="885" dirty="0"/>
          </a:p>
        </p:txBody>
      </p:sp>
      <p:sp>
        <p:nvSpPr>
          <p:cNvPr id="25" name="Shape 18">
            <a:extLst>
              <a:ext uri="{FF2B5EF4-FFF2-40B4-BE49-F238E27FC236}">
                <a16:creationId xmlns:a16="http://schemas.microsoft.com/office/drawing/2014/main" id="{DAA9CB9E-B6CA-B66B-16A0-63B00DB46DCE}"/>
              </a:ext>
            </a:extLst>
          </p:cNvPr>
          <p:cNvSpPr/>
          <p:nvPr/>
        </p:nvSpPr>
        <p:spPr>
          <a:xfrm>
            <a:off x="4460295" y="1197639"/>
            <a:ext cx="4255080" cy="2400300"/>
          </a:xfrm>
          <a:prstGeom prst="rect">
            <a:avLst/>
          </a:prstGeom>
          <a:solidFill>
            <a:srgbClr val="000000"/>
          </a:solidFill>
          <a:ln w="27432">
            <a:solidFill>
              <a:srgbClr val="D32F2F"/>
            </a:solidFill>
            <a:prstDash val="solid"/>
          </a:ln>
        </p:spPr>
        <p:txBody>
          <a:bodyPr/>
          <a:lstStyle/>
          <a:p>
            <a:endParaRPr lang="fr-FR"/>
          </a:p>
        </p:txBody>
      </p:sp>
      <p:pic>
        <p:nvPicPr>
          <p:cNvPr id="26" name="Image 4" descr="preencoded.png">
            <a:extLst>
              <a:ext uri="{FF2B5EF4-FFF2-40B4-BE49-F238E27FC236}">
                <a16:creationId xmlns:a16="http://schemas.microsoft.com/office/drawing/2014/main" id="{B389C2E8-3374-E583-9580-A38E6023C363}"/>
              </a:ext>
            </a:extLst>
          </p:cNvPr>
          <p:cNvPicPr>
            <a:picLocks noChangeAspect="1"/>
          </p:cNvPicPr>
          <p:nvPr/>
        </p:nvPicPr>
        <p:blipFill>
          <a:blip r:embed="rId7"/>
          <a:stretch>
            <a:fillRect/>
          </a:stretch>
        </p:blipFill>
        <p:spPr>
          <a:xfrm>
            <a:off x="4488870" y="1226214"/>
            <a:ext cx="4197930" cy="2286000"/>
          </a:xfrm>
          <a:prstGeom prst="rect">
            <a:avLst/>
          </a:prstGeom>
        </p:spPr>
      </p:pic>
      <p:sp>
        <p:nvSpPr>
          <p:cNvPr id="27" name="Text 19">
            <a:extLst>
              <a:ext uri="{FF2B5EF4-FFF2-40B4-BE49-F238E27FC236}">
                <a16:creationId xmlns:a16="http://schemas.microsoft.com/office/drawing/2014/main" id="{228BD3F3-79EE-7931-57C6-AE9FEACBCD5B}"/>
              </a:ext>
            </a:extLst>
          </p:cNvPr>
          <p:cNvSpPr/>
          <p:nvPr/>
        </p:nvSpPr>
        <p:spPr>
          <a:xfrm>
            <a:off x="4460295" y="3633657"/>
            <a:ext cx="4255080" cy="116086"/>
          </a:xfrm>
          <a:prstGeom prst="rect">
            <a:avLst/>
          </a:prstGeom>
          <a:noFill/>
          <a:ln/>
        </p:spPr>
        <p:txBody>
          <a:bodyPr wrap="none" lIns="0" tIns="0" rIns="0" bIns="0" rtlCol="0" anchor="t">
            <a:spAutoFit/>
          </a:bodyPr>
          <a:lstStyle/>
          <a:p>
            <a:pPr marL="0" indent="0" algn="l">
              <a:lnSpc>
                <a:spcPts val="800"/>
              </a:lnSpc>
              <a:buNone/>
            </a:pPr>
            <a:r>
              <a:rPr lang="en-US" sz="621" i="1" dirty="0">
                <a:solidFill>
                  <a:srgbClr val="666666"/>
                </a:solidFill>
                <a:latin typeface="Open Sans" pitchFamily="34" charset="0"/>
                <a:ea typeface="Open Sans" pitchFamily="34" charset="-122"/>
                <a:cs typeface="Open Sans" pitchFamily="34" charset="-120"/>
              </a:rPr>
              <a:t>Capture montrant le champ vide entre le premier et le deuxième ":" pour l'utilisateur root.</a:t>
            </a:r>
            <a:endParaRPr lang="en-US" sz="621" dirty="0"/>
          </a:p>
        </p:txBody>
      </p:sp>
    </p:spTree>
    <p:extLst>
      <p:ext uri="{BB962C8B-B14F-4D97-AF65-F5344CB8AC3E}">
        <p14:creationId xmlns:p14="http://schemas.microsoft.com/office/powerpoint/2010/main" val="46386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30860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SABOTAGE MODBUS : ALTÉRATION DES REGISTRES (TAMPERING)</a:t>
            </a:r>
            <a:endParaRPr lang="en-US" sz="1808" dirty="0"/>
          </a:p>
        </p:txBody>
      </p:sp>
      <p:sp>
        <p:nvSpPr>
          <p:cNvPr id="5" name="Shape 1"/>
          <p:cNvSpPr/>
          <p:nvPr/>
        </p:nvSpPr>
        <p:spPr>
          <a:xfrm>
            <a:off x="714375" y="737229"/>
            <a:ext cx="3506912" cy="1455455"/>
          </a:xfrm>
          <a:prstGeom prst="rect">
            <a:avLst/>
          </a:prstGeom>
          <a:solidFill>
            <a:srgbClr val="FFFFFF"/>
          </a:solidFill>
          <a:ln/>
        </p:spPr>
        <p:txBody>
          <a:bodyPr/>
          <a:lstStyle/>
          <a:p>
            <a:endParaRPr lang="fr-FR"/>
          </a:p>
        </p:txBody>
      </p:sp>
      <p:sp>
        <p:nvSpPr>
          <p:cNvPr id="6" name="Shape 2"/>
          <p:cNvSpPr/>
          <p:nvPr/>
        </p:nvSpPr>
        <p:spPr>
          <a:xfrm>
            <a:off x="714375" y="737229"/>
            <a:ext cx="42863" cy="1455455"/>
          </a:xfrm>
          <a:prstGeom prst="rect">
            <a:avLst/>
          </a:prstGeom>
          <a:solidFill>
            <a:srgbClr val="D32F2F"/>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857250" y="889034"/>
            <a:ext cx="157163" cy="157163"/>
          </a:xfrm>
          <a:prstGeom prst="rect">
            <a:avLst/>
          </a:prstGeom>
        </p:spPr>
      </p:pic>
      <p:sp>
        <p:nvSpPr>
          <p:cNvPr id="8" name="Text 3"/>
          <p:cNvSpPr/>
          <p:nvPr/>
        </p:nvSpPr>
        <p:spPr>
          <a:xfrm>
            <a:off x="1014413" y="880104"/>
            <a:ext cx="1246584"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MENACE STRIDE</a:t>
            </a:r>
            <a:endParaRPr lang="en-US" sz="1090" dirty="0"/>
          </a:p>
        </p:txBody>
      </p:sp>
      <p:sp>
        <p:nvSpPr>
          <p:cNvPr id="9" name="Text 4"/>
          <p:cNvSpPr/>
          <p:nvPr/>
        </p:nvSpPr>
        <p:spPr>
          <a:xfrm>
            <a:off x="857250" y="1135493"/>
            <a:ext cx="3221162"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Classification : </a:t>
            </a:r>
            <a:r>
              <a:rPr lang="en-US" sz="784" b="1" dirty="0">
                <a:solidFill>
                  <a:srgbClr val="D32F2F"/>
                </a:solidFill>
                <a:latin typeface="Open Sans" pitchFamily="34" charset="0"/>
                <a:ea typeface="Open Sans" pitchFamily="34" charset="-122"/>
                <a:cs typeface="Open Sans" pitchFamily="34" charset="-120"/>
              </a:rPr>
              <a:t>Tampering</a:t>
            </a:r>
            <a:r>
              <a:rPr lang="en-US" sz="834" dirty="0">
                <a:solidFill>
                  <a:srgbClr val="242424"/>
                </a:solidFill>
                <a:latin typeface="Open Sans" pitchFamily="34" charset="0"/>
                <a:ea typeface="Open Sans" pitchFamily="34" charset="-122"/>
                <a:cs typeface="Open Sans" pitchFamily="34" charset="-120"/>
              </a:rPr>
              <a:t> (Altération des données). 
 L'absence d'authentification sur le protocole Modbus/TCP permet à un attaquant d'écrire directement dans les registres de l'automate.</a:t>
            </a:r>
            <a:endParaRPr lang="en-US" sz="834" dirty="0"/>
          </a:p>
        </p:txBody>
      </p:sp>
      <p:sp>
        <p:nvSpPr>
          <p:cNvPr id="10" name="Shape 5"/>
          <p:cNvSpPr/>
          <p:nvPr/>
        </p:nvSpPr>
        <p:spPr>
          <a:xfrm>
            <a:off x="714375" y="2335560"/>
            <a:ext cx="3506912" cy="594717"/>
          </a:xfrm>
          <a:prstGeom prst="rect">
            <a:avLst/>
          </a:prstGeom>
          <a:solidFill>
            <a:srgbClr val="242424"/>
          </a:solidFill>
          <a:ln w="18288">
            <a:solidFill>
              <a:srgbClr val="FF5252"/>
            </a:solidFill>
            <a:prstDash val="solid"/>
          </a:ln>
        </p:spPr>
        <p:txBody>
          <a:bodyPr/>
          <a:lstStyle/>
          <a:p>
            <a:endParaRPr lang="fr-FR"/>
          </a:p>
        </p:txBody>
      </p:sp>
      <p:sp>
        <p:nvSpPr>
          <p:cNvPr id="11" name="Text 6"/>
          <p:cNvSpPr/>
          <p:nvPr/>
        </p:nvSpPr>
        <p:spPr>
          <a:xfrm>
            <a:off x="821531" y="2442716"/>
            <a:ext cx="3292599" cy="116086"/>
          </a:xfrm>
          <a:prstGeom prst="rect">
            <a:avLst/>
          </a:prstGeom>
          <a:noFill/>
          <a:ln/>
        </p:spPr>
        <p:txBody>
          <a:bodyPr wrap="none" lIns="0" tIns="0" rIns="0" bIns="0" rtlCol="0" anchor="t">
            <a:spAutoFit/>
          </a:bodyPr>
          <a:lstStyle/>
          <a:p>
            <a:pPr marL="0" indent="0" algn="ctr">
              <a:lnSpc>
                <a:spcPts val="800"/>
              </a:lnSpc>
              <a:buNone/>
            </a:pPr>
            <a:r>
              <a:rPr lang="en-US" sz="621" dirty="0">
                <a:solidFill>
                  <a:srgbClr val="A0A0A0"/>
                </a:solidFill>
                <a:latin typeface="Open Sans" pitchFamily="34" charset="0"/>
                <a:ea typeface="Open Sans" pitchFamily="34" charset="-122"/>
                <a:cs typeface="Open Sans" pitchFamily="34" charset="-120"/>
              </a:rPr>
              <a:t>CRITICITÉ CVSS</a:t>
            </a:r>
            <a:endParaRPr lang="en-US" sz="621" dirty="0"/>
          </a:p>
        </p:txBody>
      </p:sp>
      <p:sp>
        <p:nvSpPr>
          <p:cNvPr id="12" name="Text 7"/>
          <p:cNvSpPr/>
          <p:nvPr/>
        </p:nvSpPr>
        <p:spPr>
          <a:xfrm>
            <a:off x="821531" y="2594521"/>
            <a:ext cx="3292599" cy="200025"/>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FF5252"/>
                </a:solidFill>
                <a:latin typeface="Roboto" pitchFamily="34" charset="0"/>
                <a:ea typeface="Roboto" pitchFamily="34" charset="-122"/>
                <a:cs typeface="Roboto" pitchFamily="34" charset="-120"/>
              </a:rPr>
              <a:t>9.0 (CRITIQUE)</a:t>
            </a:r>
            <a:endParaRPr lang="en-US" sz="1193" dirty="0"/>
          </a:p>
        </p:txBody>
      </p:sp>
      <p:sp>
        <p:nvSpPr>
          <p:cNvPr id="13" name="Shape 8"/>
          <p:cNvSpPr/>
          <p:nvPr/>
        </p:nvSpPr>
        <p:spPr>
          <a:xfrm>
            <a:off x="714375" y="3044577"/>
            <a:ext cx="3506912" cy="1272592"/>
          </a:xfrm>
          <a:prstGeom prst="rect">
            <a:avLst/>
          </a:prstGeom>
          <a:solidFill>
            <a:srgbClr val="FFFFFF"/>
          </a:solidFill>
          <a:ln/>
        </p:spPr>
        <p:txBody>
          <a:bodyPr/>
          <a:lstStyle/>
          <a:p>
            <a:endParaRPr lang="fr-FR"/>
          </a:p>
        </p:txBody>
      </p:sp>
      <p:sp>
        <p:nvSpPr>
          <p:cNvPr id="14" name="Shape 9"/>
          <p:cNvSpPr/>
          <p:nvPr/>
        </p:nvSpPr>
        <p:spPr>
          <a:xfrm>
            <a:off x="714375" y="3044577"/>
            <a:ext cx="42863" cy="1272592"/>
          </a:xfrm>
          <a:prstGeom prst="rect">
            <a:avLst/>
          </a:prstGeom>
          <a:solidFill>
            <a:srgbClr val="242424"/>
          </a:solidFill>
          <a:ln/>
        </p:spPr>
        <p:txBody>
          <a:bodyPr/>
          <a:lstStyle/>
          <a:p>
            <a:endParaRPr lang="fr-FR"/>
          </a:p>
        </p:txBody>
      </p:sp>
      <p:pic>
        <p:nvPicPr>
          <p:cNvPr id="15" name="Image 2" descr="preencoded.png"/>
          <p:cNvPicPr>
            <a:picLocks noChangeAspect="1"/>
          </p:cNvPicPr>
          <p:nvPr/>
        </p:nvPicPr>
        <p:blipFill>
          <a:blip r:embed="rId5"/>
          <a:stretch>
            <a:fillRect/>
          </a:stretch>
        </p:blipFill>
        <p:spPr>
          <a:xfrm>
            <a:off x="857250" y="3196382"/>
            <a:ext cx="176808" cy="157163"/>
          </a:xfrm>
          <a:prstGeom prst="rect">
            <a:avLst/>
          </a:prstGeom>
        </p:spPr>
      </p:pic>
      <p:sp>
        <p:nvSpPr>
          <p:cNvPr id="16" name="Text 10"/>
          <p:cNvSpPr/>
          <p:nvPr/>
        </p:nvSpPr>
        <p:spPr>
          <a:xfrm>
            <a:off x="1034058" y="3187452"/>
            <a:ext cx="1398389"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IMPACT BUSINESS</a:t>
            </a:r>
            <a:endParaRPr lang="en-US" sz="1090" dirty="0"/>
          </a:p>
        </p:txBody>
      </p:sp>
      <p:sp>
        <p:nvSpPr>
          <p:cNvPr id="17" name="Text 11"/>
          <p:cNvSpPr/>
          <p:nvPr/>
        </p:nvSpPr>
        <p:spPr>
          <a:xfrm>
            <a:off x="857250" y="3442841"/>
            <a:ext cx="3221162"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Manipulation directe des vannes et actionneurs provoquant un </a:t>
            </a:r>
            <a:r>
              <a:rPr lang="en-US" sz="784" b="1" dirty="0">
                <a:solidFill>
                  <a:srgbClr val="D32F2F"/>
                </a:solidFill>
                <a:latin typeface="Open Sans" pitchFamily="34" charset="0"/>
                <a:ea typeface="Open Sans" pitchFamily="34" charset="-122"/>
                <a:cs typeface="Open Sans" pitchFamily="34" charset="-120"/>
              </a:rPr>
              <a:t>arrêt de production</a:t>
            </a:r>
            <a:r>
              <a:rPr lang="en-US" sz="834" dirty="0">
                <a:solidFill>
                  <a:srgbClr val="242424"/>
                </a:solidFill>
                <a:latin typeface="Open Sans" pitchFamily="34" charset="0"/>
                <a:ea typeface="Open Sans" pitchFamily="34" charset="-122"/>
                <a:cs typeface="Open Sans" pitchFamily="34" charset="-120"/>
              </a:rPr>
              <a:t> immédiat ou un </a:t>
            </a:r>
            <a:r>
              <a:rPr lang="en-US" sz="784" b="1" dirty="0">
                <a:solidFill>
                  <a:srgbClr val="D32F2F"/>
                </a:solidFill>
                <a:latin typeface="Open Sans" pitchFamily="34" charset="0"/>
                <a:ea typeface="Open Sans" pitchFamily="34" charset="-122"/>
                <a:cs typeface="Open Sans" pitchFamily="34" charset="-120"/>
              </a:rPr>
              <a:t>risque cinétique majeur</a:t>
            </a:r>
            <a:r>
              <a:rPr lang="en-US" sz="834" dirty="0">
                <a:solidFill>
                  <a:srgbClr val="242424"/>
                </a:solidFill>
                <a:latin typeface="Open Sans" pitchFamily="34" charset="0"/>
                <a:ea typeface="Open Sans" pitchFamily="34" charset="-122"/>
                <a:cs typeface="Open Sans" pitchFamily="34" charset="-120"/>
              </a:rPr>
              <a:t> (destruction matérielle, danger physique).</a:t>
            </a:r>
            <a:endParaRPr lang="en-US" sz="834" dirty="0"/>
          </a:p>
        </p:txBody>
      </p:sp>
      <p:pic>
        <p:nvPicPr>
          <p:cNvPr id="18" name="Image 3" descr="preencoded.png"/>
          <p:cNvPicPr>
            <a:picLocks noChangeAspect="1"/>
          </p:cNvPicPr>
          <p:nvPr/>
        </p:nvPicPr>
        <p:blipFill>
          <a:blip r:embed="rId6"/>
          <a:stretch>
            <a:fillRect/>
          </a:stretch>
        </p:blipFill>
        <p:spPr>
          <a:xfrm>
            <a:off x="4507037" y="744373"/>
            <a:ext cx="144661" cy="128588"/>
          </a:xfrm>
          <a:prstGeom prst="rect">
            <a:avLst/>
          </a:prstGeom>
        </p:spPr>
      </p:pic>
      <p:sp>
        <p:nvSpPr>
          <p:cNvPr id="19" name="Text 12"/>
          <p:cNvSpPr/>
          <p:nvPr/>
        </p:nvSpPr>
        <p:spPr>
          <a:xfrm>
            <a:off x="4651697" y="737229"/>
            <a:ext cx="1689497"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PREUVE DE CONCEPT (POC)</a:t>
            </a:r>
            <a:endParaRPr lang="en-US" sz="885" dirty="0"/>
          </a:p>
        </p:txBody>
      </p:sp>
      <p:sp>
        <p:nvSpPr>
          <p:cNvPr id="20" name="Shape 13"/>
          <p:cNvSpPr/>
          <p:nvPr/>
        </p:nvSpPr>
        <p:spPr>
          <a:xfrm>
            <a:off x="4507037" y="960472"/>
            <a:ext cx="4208338" cy="2986088"/>
          </a:xfrm>
          <a:prstGeom prst="rect">
            <a:avLst/>
          </a:prstGeom>
          <a:solidFill>
            <a:srgbClr val="000000"/>
          </a:solidFill>
          <a:ln w="27432">
            <a:solidFill>
              <a:srgbClr val="D32F2F"/>
            </a:solidFill>
            <a:prstDash val="solid"/>
          </a:ln>
        </p:spPr>
        <p:txBody>
          <a:bodyPr/>
          <a:lstStyle/>
          <a:p>
            <a:endParaRPr lang="fr-FR"/>
          </a:p>
        </p:txBody>
      </p:sp>
      <p:pic>
        <p:nvPicPr>
          <p:cNvPr id="1026" name="Picture 2">
            <a:extLst>
              <a:ext uri="{FF2B5EF4-FFF2-40B4-BE49-F238E27FC236}">
                <a16:creationId xmlns:a16="http://schemas.microsoft.com/office/drawing/2014/main" id="{406949B9-0BAB-34AE-9CB4-247254C1504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0250" y="1813097"/>
            <a:ext cx="4149115" cy="11489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714375" y="285750"/>
            <a:ext cx="8001000" cy="617209"/>
          </a:xfrm>
          <a:prstGeom prst="rect">
            <a:avLst/>
          </a:prstGeom>
          <a:noFill/>
          <a:ln/>
        </p:spPr>
        <p:txBody>
          <a:bodyPr wrap="squar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FINGERPRINTING SERVEUR : EXPOSITION DES VERSIONS DE COMPOSANTS</a:t>
            </a:r>
            <a:endParaRPr lang="en-US" sz="1808" dirty="0"/>
          </a:p>
        </p:txBody>
      </p:sp>
      <p:sp>
        <p:nvSpPr>
          <p:cNvPr id="5" name="Shape 1"/>
          <p:cNvSpPr/>
          <p:nvPr/>
        </p:nvSpPr>
        <p:spPr>
          <a:xfrm>
            <a:off x="165734" y="595667"/>
            <a:ext cx="3506912" cy="1821182"/>
          </a:xfrm>
          <a:prstGeom prst="rect">
            <a:avLst/>
          </a:prstGeom>
          <a:solidFill>
            <a:srgbClr val="FFFFFF"/>
          </a:solidFill>
          <a:ln/>
        </p:spPr>
        <p:txBody>
          <a:bodyPr/>
          <a:lstStyle/>
          <a:p>
            <a:endParaRPr lang="fr-FR" dirty="0"/>
          </a:p>
        </p:txBody>
      </p:sp>
      <p:sp>
        <p:nvSpPr>
          <p:cNvPr id="6" name="Shape 2"/>
          <p:cNvSpPr/>
          <p:nvPr/>
        </p:nvSpPr>
        <p:spPr>
          <a:xfrm>
            <a:off x="165734" y="595667"/>
            <a:ext cx="42863" cy="1821182"/>
          </a:xfrm>
          <a:prstGeom prst="rect">
            <a:avLst/>
          </a:prstGeom>
          <a:solidFill>
            <a:srgbClr val="D32F2F"/>
          </a:solidFill>
          <a:ln/>
        </p:spPr>
        <p:txBody>
          <a:bodyPr/>
          <a:lstStyle/>
          <a:p>
            <a:endParaRPr lang="fr-FR"/>
          </a:p>
        </p:txBody>
      </p:sp>
      <p:pic>
        <p:nvPicPr>
          <p:cNvPr id="7" name="Image 1" descr="preencoded.png"/>
          <p:cNvPicPr>
            <a:picLocks noChangeAspect="1"/>
          </p:cNvPicPr>
          <p:nvPr/>
        </p:nvPicPr>
        <p:blipFill>
          <a:blip r:embed="rId3"/>
          <a:stretch>
            <a:fillRect/>
          </a:stretch>
        </p:blipFill>
        <p:spPr>
          <a:xfrm>
            <a:off x="308609" y="747472"/>
            <a:ext cx="157163" cy="157163"/>
          </a:xfrm>
          <a:prstGeom prst="rect">
            <a:avLst/>
          </a:prstGeom>
        </p:spPr>
      </p:pic>
      <p:sp>
        <p:nvSpPr>
          <p:cNvPr id="8" name="Text 3"/>
          <p:cNvSpPr/>
          <p:nvPr/>
        </p:nvSpPr>
        <p:spPr>
          <a:xfrm>
            <a:off x="465772" y="738542"/>
            <a:ext cx="1914525"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ANALYSE DU SCAN NMAP</a:t>
            </a:r>
            <a:endParaRPr lang="en-US" sz="1090" dirty="0"/>
          </a:p>
        </p:txBody>
      </p:sp>
      <p:sp>
        <p:nvSpPr>
          <p:cNvPr id="9" name="Text 4"/>
          <p:cNvSpPr/>
          <p:nvPr/>
        </p:nvSpPr>
        <p:spPr>
          <a:xfrm>
            <a:off x="308609" y="993931"/>
            <a:ext cx="3221162" cy="128004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Le scan de reconnaissance sur les ports critiques révèle l'exposition de l'interface d'administration Flask sur le port </a:t>
            </a:r>
            <a:r>
              <a:rPr lang="en-US" sz="784" b="1" dirty="0">
                <a:solidFill>
                  <a:srgbClr val="D32F2F"/>
                </a:solidFill>
                <a:latin typeface="Open Sans" pitchFamily="34" charset="0"/>
                <a:ea typeface="Open Sans" pitchFamily="34" charset="-122"/>
                <a:cs typeface="Open Sans" pitchFamily="34" charset="-120"/>
              </a:rPr>
              <a:t>8080/TCP</a:t>
            </a:r>
            <a:r>
              <a:rPr lang="en-US" sz="834" dirty="0">
                <a:solidFill>
                  <a:srgbClr val="242424"/>
                </a:solidFill>
                <a:latin typeface="Open Sans" pitchFamily="34" charset="0"/>
                <a:ea typeface="Open Sans" pitchFamily="34" charset="-122"/>
                <a:cs typeface="Open Sans" pitchFamily="34" charset="-120"/>
              </a:rPr>
              <a:t>. 
 Les ports industriels </a:t>
            </a:r>
            <a:r>
              <a:rPr lang="en-US" sz="784" b="1" dirty="0">
                <a:solidFill>
                  <a:srgbClr val="D32F2F"/>
                </a:solidFill>
                <a:latin typeface="Open Sans" pitchFamily="34" charset="0"/>
                <a:ea typeface="Open Sans" pitchFamily="34" charset="-122"/>
                <a:cs typeface="Open Sans" pitchFamily="34" charset="-120"/>
              </a:rPr>
              <a:t>502 (Modbus)</a:t>
            </a:r>
            <a:r>
              <a:rPr lang="en-US" sz="834" dirty="0">
                <a:solidFill>
                  <a:srgbClr val="242424"/>
                </a:solidFill>
                <a:latin typeface="Open Sans" pitchFamily="34" charset="0"/>
                <a:ea typeface="Open Sans" pitchFamily="34" charset="-122"/>
                <a:cs typeface="Open Sans" pitchFamily="34" charset="-120"/>
              </a:rPr>
              <a:t> et </a:t>
            </a:r>
            <a:r>
              <a:rPr lang="en-US" sz="784" b="1" dirty="0">
                <a:solidFill>
                  <a:srgbClr val="D32F2F"/>
                </a:solidFill>
                <a:latin typeface="Open Sans" pitchFamily="34" charset="0"/>
                <a:ea typeface="Open Sans" pitchFamily="34" charset="-122"/>
                <a:cs typeface="Open Sans" pitchFamily="34" charset="-120"/>
              </a:rPr>
              <a:t>44818 (EtherNet/IP)</a:t>
            </a:r>
            <a:r>
              <a:rPr lang="en-US" sz="834" dirty="0">
                <a:solidFill>
                  <a:srgbClr val="242424"/>
                </a:solidFill>
                <a:latin typeface="Open Sans" pitchFamily="34" charset="0"/>
                <a:ea typeface="Open Sans" pitchFamily="34" charset="-122"/>
                <a:cs typeface="Open Sans" pitchFamily="34" charset="-120"/>
              </a:rPr>
              <a:t> sont fermés par défaut, mais configurables via l'interface web.</a:t>
            </a:r>
            <a:endParaRPr lang="en-US" sz="834" dirty="0"/>
          </a:p>
        </p:txBody>
      </p:sp>
      <p:sp>
        <p:nvSpPr>
          <p:cNvPr id="10" name="Shape 5"/>
          <p:cNvSpPr/>
          <p:nvPr/>
        </p:nvSpPr>
        <p:spPr>
          <a:xfrm>
            <a:off x="180636" y="2506145"/>
            <a:ext cx="3506912" cy="1638319"/>
          </a:xfrm>
          <a:prstGeom prst="rect">
            <a:avLst/>
          </a:prstGeom>
          <a:solidFill>
            <a:srgbClr val="FFFFFF"/>
          </a:solidFill>
          <a:ln/>
        </p:spPr>
        <p:txBody>
          <a:bodyPr/>
          <a:lstStyle/>
          <a:p>
            <a:endParaRPr lang="fr-FR"/>
          </a:p>
        </p:txBody>
      </p:sp>
      <p:sp>
        <p:nvSpPr>
          <p:cNvPr id="11" name="Shape 6"/>
          <p:cNvSpPr/>
          <p:nvPr/>
        </p:nvSpPr>
        <p:spPr>
          <a:xfrm>
            <a:off x="165734" y="2559724"/>
            <a:ext cx="42863" cy="1638319"/>
          </a:xfrm>
          <a:prstGeom prst="rect">
            <a:avLst/>
          </a:prstGeom>
          <a:solidFill>
            <a:srgbClr val="242424"/>
          </a:solidFill>
          <a:ln/>
        </p:spPr>
        <p:txBody>
          <a:bodyPr/>
          <a:lstStyle/>
          <a:p>
            <a:endParaRPr lang="fr-FR"/>
          </a:p>
        </p:txBody>
      </p:sp>
      <p:pic>
        <p:nvPicPr>
          <p:cNvPr id="12" name="Image 2" descr="preencoded.png"/>
          <p:cNvPicPr>
            <a:picLocks noChangeAspect="1"/>
          </p:cNvPicPr>
          <p:nvPr/>
        </p:nvPicPr>
        <p:blipFill>
          <a:blip r:embed="rId4"/>
          <a:stretch>
            <a:fillRect/>
          </a:stretch>
        </p:blipFill>
        <p:spPr>
          <a:xfrm>
            <a:off x="308609" y="2711528"/>
            <a:ext cx="157163" cy="157163"/>
          </a:xfrm>
          <a:prstGeom prst="rect">
            <a:avLst/>
          </a:prstGeom>
        </p:spPr>
      </p:pic>
      <p:sp>
        <p:nvSpPr>
          <p:cNvPr id="13" name="Text 7"/>
          <p:cNvSpPr/>
          <p:nvPr/>
        </p:nvSpPr>
        <p:spPr>
          <a:xfrm>
            <a:off x="465772" y="2702599"/>
            <a:ext cx="2364581"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DIVULGATION D'INFORMATIONS</a:t>
            </a:r>
            <a:endParaRPr lang="en-US" sz="1090" dirty="0"/>
          </a:p>
        </p:txBody>
      </p:sp>
      <p:sp>
        <p:nvSpPr>
          <p:cNvPr id="14" name="Text 8"/>
          <p:cNvSpPr/>
          <p:nvPr/>
        </p:nvSpPr>
        <p:spPr>
          <a:xfrm>
            <a:off x="308609" y="2957988"/>
            <a:ext cx="3221162" cy="109718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La bannière serveur identifiée est </a:t>
            </a:r>
            <a:r>
              <a:rPr lang="en-US" sz="784" b="1" dirty="0">
                <a:solidFill>
                  <a:srgbClr val="D32F2F"/>
                </a:solidFill>
                <a:latin typeface="Open Sans" pitchFamily="34" charset="0"/>
                <a:ea typeface="Open Sans" pitchFamily="34" charset="-122"/>
                <a:cs typeface="Open Sans" pitchFamily="34" charset="-120"/>
              </a:rPr>
              <a:t>Werkzeug/2.3.7 Python/3.12.3</a:t>
            </a:r>
            <a:r>
              <a:rPr lang="en-US" sz="834" dirty="0">
                <a:solidFill>
                  <a:srgbClr val="242424"/>
                </a:solidFill>
                <a:latin typeface="Open Sans" pitchFamily="34" charset="0"/>
                <a:ea typeface="Open Sans" pitchFamily="34" charset="-122"/>
                <a:cs typeface="Open Sans" pitchFamily="34" charset="-120"/>
              </a:rPr>
              <a:t>. 
 Cette information de fingerprinting est exploitable pour cibler des vulnérabilités connues spécifiques à ces versions de bibliothèques.</a:t>
            </a:r>
            <a:endParaRPr lang="en-US" sz="834" dirty="0"/>
          </a:p>
        </p:txBody>
      </p:sp>
      <p:grpSp>
        <p:nvGrpSpPr>
          <p:cNvPr id="52" name="Groupe 51">
            <a:extLst>
              <a:ext uri="{FF2B5EF4-FFF2-40B4-BE49-F238E27FC236}">
                <a16:creationId xmlns:a16="http://schemas.microsoft.com/office/drawing/2014/main" id="{3E1B7D8A-33DE-CE6B-74A6-B9E078C843D2}"/>
              </a:ext>
            </a:extLst>
          </p:cNvPr>
          <p:cNvGrpSpPr/>
          <p:nvPr/>
        </p:nvGrpSpPr>
        <p:grpSpPr>
          <a:xfrm>
            <a:off x="1197451" y="3506578"/>
            <a:ext cx="3265804" cy="1572592"/>
            <a:chOff x="3929821" y="933553"/>
            <a:chExt cx="4208338" cy="2214047"/>
          </a:xfrm>
        </p:grpSpPr>
        <p:pic>
          <p:nvPicPr>
            <p:cNvPr id="15" name="Image 3" descr="preencoded.png"/>
            <p:cNvPicPr>
              <a:picLocks noChangeAspect="1"/>
            </p:cNvPicPr>
            <p:nvPr/>
          </p:nvPicPr>
          <p:blipFill>
            <a:blip r:embed="rId5"/>
            <a:stretch>
              <a:fillRect/>
            </a:stretch>
          </p:blipFill>
          <p:spPr>
            <a:xfrm>
              <a:off x="3929821" y="940697"/>
              <a:ext cx="144661" cy="128588"/>
            </a:xfrm>
            <a:prstGeom prst="rect">
              <a:avLst/>
            </a:prstGeom>
          </p:spPr>
        </p:pic>
        <p:sp>
          <p:nvSpPr>
            <p:cNvPr id="16" name="Text 9"/>
            <p:cNvSpPr/>
            <p:nvPr/>
          </p:nvSpPr>
          <p:spPr>
            <a:xfrm>
              <a:off x="4074481" y="933553"/>
              <a:ext cx="1048345" cy="145040"/>
            </a:xfrm>
            <a:prstGeom prst="rect">
              <a:avLst/>
            </a:prstGeom>
            <a:noFill/>
            <a:ln/>
          </p:spPr>
          <p:txBody>
            <a:bodyPr wrap="squar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RÉSULTAT NMAP</a:t>
              </a:r>
              <a:endParaRPr lang="en-US" sz="885" dirty="0"/>
            </a:p>
          </p:txBody>
        </p:sp>
        <p:sp>
          <p:nvSpPr>
            <p:cNvPr id="17" name="Shape 10"/>
            <p:cNvSpPr/>
            <p:nvPr/>
          </p:nvSpPr>
          <p:spPr>
            <a:xfrm>
              <a:off x="3929821" y="1183069"/>
              <a:ext cx="4208338" cy="1964531"/>
            </a:xfrm>
            <a:prstGeom prst="rect">
              <a:avLst/>
            </a:prstGeom>
            <a:solidFill>
              <a:srgbClr val="1A1A1A"/>
            </a:solidFill>
            <a:ln/>
          </p:spPr>
          <p:txBody>
            <a:bodyPr/>
            <a:lstStyle/>
            <a:p>
              <a:endParaRPr lang="fr-FR"/>
            </a:p>
          </p:txBody>
        </p:sp>
        <p:sp>
          <p:nvSpPr>
            <p:cNvPr id="18" name="Shape 11"/>
            <p:cNvSpPr/>
            <p:nvPr/>
          </p:nvSpPr>
          <p:spPr>
            <a:xfrm>
              <a:off x="3929821" y="1156795"/>
              <a:ext cx="4208338" cy="178594"/>
            </a:xfrm>
            <a:prstGeom prst="rect">
              <a:avLst/>
            </a:prstGeom>
            <a:solidFill>
              <a:srgbClr val="333333"/>
            </a:solidFill>
            <a:ln/>
          </p:spPr>
          <p:txBody>
            <a:bodyPr/>
            <a:lstStyle/>
            <a:p>
              <a:endParaRPr lang="fr-FR"/>
            </a:p>
          </p:txBody>
        </p:sp>
        <p:sp>
          <p:nvSpPr>
            <p:cNvPr id="20" name="Text 13"/>
            <p:cNvSpPr/>
            <p:nvPr/>
          </p:nvSpPr>
          <p:spPr>
            <a:xfrm>
              <a:off x="4072696" y="1299670"/>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4CAF50"/>
                  </a:solidFill>
                  <a:latin typeface="Fira Code" pitchFamily="34" charset="0"/>
                  <a:ea typeface="Fira Code" pitchFamily="34" charset="-122"/>
                  <a:cs typeface="Fira Code" pitchFamily="34" charset="-120"/>
                </a:rPr>
                <a:t>Starting Nmap 7.94SVN at 2026-04-03 10:05 UTC</a:t>
              </a:r>
              <a:endParaRPr lang="en-US" sz="727" dirty="0"/>
            </a:p>
          </p:txBody>
        </p:sp>
        <p:sp>
          <p:nvSpPr>
            <p:cNvPr id="21" name="Text 14"/>
            <p:cNvSpPr/>
            <p:nvPr/>
          </p:nvSpPr>
          <p:spPr>
            <a:xfrm>
              <a:off x="4072696" y="1449689"/>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4CAF50"/>
                  </a:solidFill>
                  <a:latin typeface="Fira Code" pitchFamily="34" charset="0"/>
                  <a:ea typeface="Fira Code" pitchFamily="34" charset="-122"/>
                  <a:cs typeface="Fira Code" pitchFamily="34" charset="-120"/>
                </a:rPr>
                <a:t>Nmap scan report for localhost (127.0.0.1)</a:t>
              </a:r>
              <a:endParaRPr lang="en-US" sz="727" dirty="0"/>
            </a:p>
          </p:txBody>
        </p:sp>
        <p:sp>
          <p:nvSpPr>
            <p:cNvPr id="22" name="Text 15"/>
            <p:cNvSpPr/>
            <p:nvPr/>
          </p:nvSpPr>
          <p:spPr>
            <a:xfrm>
              <a:off x="4072696" y="1599708"/>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4CAF50"/>
                  </a:solidFill>
                  <a:latin typeface="Fira Code" pitchFamily="34" charset="0"/>
                  <a:ea typeface="Fira Code" pitchFamily="34" charset="-122"/>
                  <a:cs typeface="Fira Code" pitchFamily="34" charset="-120"/>
                </a:rPr>
                <a:t>Host is up (0.0019s latency).</a:t>
              </a:r>
              <a:endParaRPr lang="en-US" sz="727" dirty="0"/>
            </a:p>
          </p:txBody>
        </p:sp>
        <p:sp>
          <p:nvSpPr>
            <p:cNvPr id="23" name="Text 16"/>
            <p:cNvSpPr/>
            <p:nvPr/>
          </p:nvSpPr>
          <p:spPr>
            <a:xfrm>
              <a:off x="4072696" y="1899745"/>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EB3B"/>
                  </a:solidFill>
                  <a:latin typeface="Fira Code" pitchFamily="34" charset="0"/>
                  <a:ea typeface="Fira Code" pitchFamily="34" charset="-122"/>
                  <a:cs typeface="Fira Code" pitchFamily="34" charset="-120"/>
                </a:rPr>
                <a:t>PORT STATE SERVICE VERSION</a:t>
              </a:r>
              <a:endParaRPr lang="en-US" sz="727" dirty="0"/>
            </a:p>
          </p:txBody>
        </p:sp>
        <p:sp>
          <p:nvSpPr>
            <p:cNvPr id="24" name="Text 17"/>
            <p:cNvSpPr/>
            <p:nvPr/>
          </p:nvSpPr>
          <p:spPr>
            <a:xfrm>
              <a:off x="4072696" y="2049764"/>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EB3B"/>
                  </a:solidFill>
                  <a:latin typeface="Fira Code" pitchFamily="34" charset="0"/>
                  <a:ea typeface="Fira Code" pitchFamily="34" charset="-122"/>
                  <a:cs typeface="Fira Code" pitchFamily="34" charset="-120"/>
                </a:rPr>
                <a:t>502/tcp closed mbap</a:t>
              </a:r>
              <a:endParaRPr lang="en-US" sz="727" dirty="0"/>
            </a:p>
          </p:txBody>
        </p:sp>
        <p:sp>
          <p:nvSpPr>
            <p:cNvPr id="25" name="Text 18"/>
            <p:cNvSpPr/>
            <p:nvPr/>
          </p:nvSpPr>
          <p:spPr>
            <a:xfrm>
              <a:off x="4072696" y="2199783"/>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EB3B"/>
                  </a:solidFill>
                  <a:latin typeface="Fira Code" pitchFamily="34" charset="0"/>
                  <a:ea typeface="Fira Code" pitchFamily="34" charset="-122"/>
                  <a:cs typeface="Fira Code" pitchFamily="34" charset="-120"/>
                </a:rPr>
                <a:t>8080/tcp open http-proxy Werkzeug/2.3.7 Python/3.12.3</a:t>
              </a:r>
              <a:endParaRPr lang="en-US" sz="727" dirty="0"/>
            </a:p>
          </p:txBody>
        </p:sp>
        <p:sp>
          <p:nvSpPr>
            <p:cNvPr id="26" name="Text 19"/>
            <p:cNvSpPr/>
            <p:nvPr/>
          </p:nvSpPr>
          <p:spPr>
            <a:xfrm>
              <a:off x="4072696" y="2349801"/>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FFEB3B"/>
                  </a:solidFill>
                  <a:latin typeface="Fira Code" pitchFamily="34" charset="0"/>
                  <a:ea typeface="Fira Code" pitchFamily="34" charset="-122"/>
                  <a:cs typeface="Fira Code" pitchFamily="34" charset="-120"/>
                </a:rPr>
                <a:t>44818/tcp closed EtherNetIP-2</a:t>
              </a:r>
              <a:endParaRPr lang="en-US" sz="727" dirty="0"/>
            </a:p>
          </p:txBody>
        </p:sp>
        <p:sp>
          <p:nvSpPr>
            <p:cNvPr id="27" name="Text 20"/>
            <p:cNvSpPr/>
            <p:nvPr/>
          </p:nvSpPr>
          <p:spPr>
            <a:xfrm>
              <a:off x="4072696" y="2649839"/>
              <a:ext cx="3922588" cy="142155"/>
            </a:xfrm>
            <a:prstGeom prst="rect">
              <a:avLst/>
            </a:prstGeom>
            <a:noFill/>
            <a:ln/>
          </p:spPr>
          <p:txBody>
            <a:bodyPr wrap="square" lIns="0" tIns="0" rIns="0" bIns="0" rtlCol="0" anchor="t">
              <a:spAutoFit/>
            </a:bodyPr>
            <a:lstStyle/>
            <a:p>
              <a:pPr marL="0" indent="0" algn="l">
                <a:lnSpc>
                  <a:spcPts val="1200"/>
                </a:lnSpc>
                <a:buNone/>
              </a:pPr>
              <a:r>
                <a:rPr lang="en-US" sz="727" dirty="0">
                  <a:solidFill>
                    <a:srgbClr val="4CAF50"/>
                  </a:solidFill>
                  <a:latin typeface="Fira Code" pitchFamily="34" charset="0"/>
                  <a:ea typeface="Fira Code" pitchFamily="34" charset="-122"/>
                  <a:cs typeface="Fira Code" pitchFamily="34" charset="-120"/>
                </a:rPr>
                <a:t>Nmap done: 1 IP address scanned in 92.35 seconds</a:t>
              </a:r>
              <a:endParaRPr lang="en-US" sz="727" dirty="0"/>
            </a:p>
          </p:txBody>
        </p:sp>
      </p:grpSp>
      <p:pic>
        <p:nvPicPr>
          <p:cNvPr id="2" name="Image 3" descr="preencoded.png">
            <a:extLst>
              <a:ext uri="{FF2B5EF4-FFF2-40B4-BE49-F238E27FC236}">
                <a16:creationId xmlns:a16="http://schemas.microsoft.com/office/drawing/2014/main" id="{D23FCBA0-2C20-B367-AEA2-65A674C35BED}"/>
              </a:ext>
            </a:extLst>
          </p:cNvPr>
          <p:cNvPicPr>
            <a:picLocks noChangeAspect="1"/>
          </p:cNvPicPr>
          <p:nvPr/>
        </p:nvPicPr>
        <p:blipFill>
          <a:blip r:embed="rId6"/>
          <a:stretch>
            <a:fillRect/>
          </a:stretch>
        </p:blipFill>
        <p:spPr>
          <a:xfrm>
            <a:off x="4836375" y="3658325"/>
            <a:ext cx="144661" cy="128588"/>
          </a:xfrm>
          <a:prstGeom prst="rect">
            <a:avLst/>
          </a:prstGeom>
        </p:spPr>
      </p:pic>
      <p:sp>
        <p:nvSpPr>
          <p:cNvPr id="19" name="Text 9">
            <a:extLst>
              <a:ext uri="{FF2B5EF4-FFF2-40B4-BE49-F238E27FC236}">
                <a16:creationId xmlns:a16="http://schemas.microsoft.com/office/drawing/2014/main" id="{93AE30D2-6E44-6A02-5D6B-2B3BAB9D8902}"/>
              </a:ext>
            </a:extLst>
          </p:cNvPr>
          <p:cNvSpPr/>
          <p:nvPr/>
        </p:nvSpPr>
        <p:spPr>
          <a:xfrm>
            <a:off x="4981035" y="3651181"/>
            <a:ext cx="1046559"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REQUÊTE SQLITE</a:t>
            </a:r>
            <a:endParaRPr lang="en-US" sz="885" dirty="0"/>
          </a:p>
        </p:txBody>
      </p:sp>
      <p:sp>
        <p:nvSpPr>
          <p:cNvPr id="28" name="Shape 10">
            <a:extLst>
              <a:ext uri="{FF2B5EF4-FFF2-40B4-BE49-F238E27FC236}">
                <a16:creationId xmlns:a16="http://schemas.microsoft.com/office/drawing/2014/main" id="{01F91E33-7BBA-657C-A012-B6A2441BC932}"/>
              </a:ext>
            </a:extLst>
          </p:cNvPr>
          <p:cNvSpPr/>
          <p:nvPr/>
        </p:nvSpPr>
        <p:spPr>
          <a:xfrm>
            <a:off x="4836375" y="3874424"/>
            <a:ext cx="4208338" cy="1042960"/>
          </a:xfrm>
          <a:prstGeom prst="rect">
            <a:avLst/>
          </a:prstGeom>
          <a:solidFill>
            <a:srgbClr val="1A1A1A"/>
          </a:solidFill>
          <a:ln/>
        </p:spPr>
        <p:txBody>
          <a:bodyPr/>
          <a:lstStyle/>
          <a:p>
            <a:endParaRPr lang="fr-FR"/>
          </a:p>
        </p:txBody>
      </p:sp>
      <p:sp>
        <p:nvSpPr>
          <p:cNvPr id="29" name="Shape 11">
            <a:extLst>
              <a:ext uri="{FF2B5EF4-FFF2-40B4-BE49-F238E27FC236}">
                <a16:creationId xmlns:a16="http://schemas.microsoft.com/office/drawing/2014/main" id="{74B8ABE5-4649-30D3-8433-2E76E4181F19}"/>
              </a:ext>
            </a:extLst>
          </p:cNvPr>
          <p:cNvSpPr/>
          <p:nvPr/>
        </p:nvSpPr>
        <p:spPr>
          <a:xfrm>
            <a:off x="4836375" y="3874424"/>
            <a:ext cx="4208338" cy="178594"/>
          </a:xfrm>
          <a:prstGeom prst="rect">
            <a:avLst/>
          </a:prstGeom>
          <a:solidFill>
            <a:srgbClr val="333333"/>
          </a:solidFill>
          <a:ln/>
        </p:spPr>
        <p:txBody>
          <a:bodyPr/>
          <a:lstStyle/>
          <a:p>
            <a:endParaRPr lang="fr-FR"/>
          </a:p>
        </p:txBody>
      </p:sp>
      <p:sp>
        <p:nvSpPr>
          <p:cNvPr id="30" name="Text 12">
            <a:extLst>
              <a:ext uri="{FF2B5EF4-FFF2-40B4-BE49-F238E27FC236}">
                <a16:creationId xmlns:a16="http://schemas.microsoft.com/office/drawing/2014/main" id="{D2E2318C-D232-7CE8-3E19-B168BCF65642}"/>
              </a:ext>
            </a:extLst>
          </p:cNvPr>
          <p:cNvSpPr/>
          <p:nvPr/>
        </p:nvSpPr>
        <p:spPr>
          <a:xfrm>
            <a:off x="4907812" y="3731549"/>
            <a:ext cx="257901"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666666"/>
                </a:solidFill>
                <a:latin typeface="Fira Code" pitchFamily="34" charset="0"/>
                <a:ea typeface="Fira Code" pitchFamily="34" charset="-122"/>
                <a:cs typeface="Fira Code" pitchFamily="34" charset="-120"/>
              </a:rPr>
              <a:t>● ● ●</a:t>
            </a:r>
            <a:endParaRPr lang="en-US" sz="621" dirty="0"/>
          </a:p>
        </p:txBody>
      </p:sp>
      <p:sp>
        <p:nvSpPr>
          <p:cNvPr id="31" name="Text 13">
            <a:extLst>
              <a:ext uri="{FF2B5EF4-FFF2-40B4-BE49-F238E27FC236}">
                <a16:creationId xmlns:a16="http://schemas.microsoft.com/office/drawing/2014/main" id="{BF7CC619-48EC-2930-708E-8F186FD8DE27}"/>
              </a:ext>
            </a:extLst>
          </p:cNvPr>
          <p:cNvSpPr/>
          <p:nvPr/>
        </p:nvSpPr>
        <p:spPr>
          <a:xfrm>
            <a:off x="4943531" y="3981580"/>
            <a:ext cx="3994026" cy="130011"/>
          </a:xfrm>
          <a:prstGeom prst="rect">
            <a:avLst/>
          </a:prstGeom>
          <a:noFill/>
          <a:ln/>
        </p:spPr>
        <p:txBody>
          <a:bodyPr wrap="none" lIns="0" tIns="0" rIns="0" bIns="0" rtlCol="0" anchor="t">
            <a:spAutoFit/>
          </a:bodyPr>
          <a:lstStyle/>
          <a:p>
            <a:pPr marL="0" indent="0" algn="l">
              <a:lnSpc>
                <a:spcPts val="1000"/>
              </a:lnSpc>
              <a:buNone/>
            </a:pPr>
            <a:r>
              <a:rPr lang="en-US" sz="674" dirty="0">
                <a:solidFill>
                  <a:srgbClr val="4CAF50"/>
                </a:solidFill>
                <a:latin typeface="Fira Code" pitchFamily="34" charset="0"/>
                <a:ea typeface="Fira Code" pitchFamily="34" charset="-122"/>
                <a:cs typeface="Fira Code" pitchFamily="34" charset="-120"/>
              </a:rPr>
              <a:t>user@ubuntu:~$ sqlite3 openplc.db "SELECT * FROM Users;"</a:t>
            </a:r>
            <a:endParaRPr lang="en-US" sz="674" dirty="0"/>
          </a:p>
        </p:txBody>
      </p:sp>
      <p:sp>
        <p:nvSpPr>
          <p:cNvPr id="32" name="Text 14">
            <a:extLst>
              <a:ext uri="{FF2B5EF4-FFF2-40B4-BE49-F238E27FC236}">
                <a16:creationId xmlns:a16="http://schemas.microsoft.com/office/drawing/2014/main" id="{8AB34715-4569-0607-C9D3-76D053B7F271}"/>
              </a:ext>
            </a:extLst>
          </p:cNvPr>
          <p:cNvSpPr/>
          <p:nvPr/>
        </p:nvSpPr>
        <p:spPr>
          <a:xfrm>
            <a:off x="4943531" y="4241601"/>
            <a:ext cx="3994026" cy="130011"/>
          </a:xfrm>
          <a:prstGeom prst="rect">
            <a:avLst/>
          </a:prstGeom>
          <a:noFill/>
          <a:ln/>
        </p:spPr>
        <p:txBody>
          <a:bodyPr wrap="none" lIns="0" tIns="0" rIns="0" bIns="0" rtlCol="0" anchor="t">
            <a:spAutoFit/>
          </a:bodyPr>
          <a:lstStyle/>
          <a:p>
            <a:pPr marL="0" indent="0" algn="l">
              <a:lnSpc>
                <a:spcPts val="1000"/>
              </a:lnSpc>
              <a:buNone/>
            </a:pPr>
            <a:r>
              <a:rPr lang="en-US" sz="674" dirty="0">
                <a:solidFill>
                  <a:srgbClr val="FFEB3B"/>
                </a:solidFill>
                <a:latin typeface="Fira Code" pitchFamily="34" charset="0"/>
                <a:ea typeface="Fira Code" pitchFamily="34" charset="-122"/>
                <a:cs typeface="Fira Code" pitchFamily="34" charset="-120"/>
              </a:rPr>
              <a:t>10 | OpenPLC User | openplc | openplc@openplc.com | </a:t>
            </a:r>
            <a:r>
              <a:rPr lang="en-US" sz="634" b="1" dirty="0">
                <a:solidFill>
                  <a:srgbClr val="FF5252"/>
                </a:solidFill>
                <a:latin typeface="Fira Code" pitchFamily="34" charset="0"/>
                <a:ea typeface="Fira Code" pitchFamily="34" charset="-122"/>
                <a:cs typeface="Fira Code" pitchFamily="34" charset="-120"/>
              </a:rPr>
              <a:t>openplc</a:t>
            </a:r>
            <a:r>
              <a:rPr lang="en-US" sz="674" dirty="0">
                <a:solidFill>
                  <a:srgbClr val="FFEB3B"/>
                </a:solidFill>
                <a:latin typeface="Fira Code" pitchFamily="34" charset="0"/>
                <a:ea typeface="Fira Code" pitchFamily="34" charset="-122"/>
                <a:cs typeface="Fira Code" pitchFamily="34" charset="-120"/>
              </a:rPr>
              <a:t> |</a:t>
            </a:r>
            <a:endParaRPr lang="en-US" sz="674" dirty="0"/>
          </a:p>
        </p:txBody>
      </p:sp>
      <p:sp>
        <p:nvSpPr>
          <p:cNvPr id="33" name="Text 15">
            <a:extLst>
              <a:ext uri="{FF2B5EF4-FFF2-40B4-BE49-F238E27FC236}">
                <a16:creationId xmlns:a16="http://schemas.microsoft.com/office/drawing/2014/main" id="{53071ECD-689D-0BD7-0060-EBC3E307CF53}"/>
              </a:ext>
            </a:extLst>
          </p:cNvPr>
          <p:cNvSpPr/>
          <p:nvPr/>
        </p:nvSpPr>
        <p:spPr>
          <a:xfrm>
            <a:off x="4943531" y="4501623"/>
            <a:ext cx="3994026" cy="130011"/>
          </a:xfrm>
          <a:prstGeom prst="rect">
            <a:avLst/>
          </a:prstGeom>
          <a:noFill/>
          <a:ln/>
        </p:spPr>
        <p:txBody>
          <a:bodyPr wrap="none" lIns="0" tIns="0" rIns="0" bIns="0" rtlCol="0" anchor="t">
            <a:spAutoFit/>
          </a:bodyPr>
          <a:lstStyle/>
          <a:p>
            <a:pPr marL="0" indent="0" algn="l">
              <a:lnSpc>
                <a:spcPts val="1000"/>
              </a:lnSpc>
              <a:buNone/>
            </a:pPr>
            <a:r>
              <a:rPr lang="en-US" sz="674" i="1" dirty="0">
                <a:solidFill>
                  <a:srgbClr val="666666"/>
                </a:solidFill>
                <a:latin typeface="Fira Code" pitchFamily="34" charset="0"/>
                <a:ea typeface="Fira Code" pitchFamily="34" charset="-122"/>
                <a:cs typeface="Fira Code" pitchFamily="34" charset="-120"/>
              </a:rPr>
              <a:t># Le mot de passe est stocké en clair dans la base de données.</a:t>
            </a:r>
            <a:endParaRPr lang="en-US" sz="674" dirty="0"/>
          </a:p>
        </p:txBody>
      </p:sp>
      <p:sp>
        <p:nvSpPr>
          <p:cNvPr id="53" name="Shape 1">
            <a:extLst>
              <a:ext uri="{FF2B5EF4-FFF2-40B4-BE49-F238E27FC236}">
                <a16:creationId xmlns:a16="http://schemas.microsoft.com/office/drawing/2014/main" id="{161B3463-F57C-81A2-1194-1974AA939B1A}"/>
              </a:ext>
            </a:extLst>
          </p:cNvPr>
          <p:cNvSpPr/>
          <p:nvPr/>
        </p:nvSpPr>
        <p:spPr>
          <a:xfrm>
            <a:off x="4836375" y="636030"/>
            <a:ext cx="3506912" cy="1455455"/>
          </a:xfrm>
          <a:prstGeom prst="rect">
            <a:avLst/>
          </a:prstGeom>
          <a:solidFill>
            <a:srgbClr val="FFFFFF"/>
          </a:solidFill>
          <a:ln/>
        </p:spPr>
        <p:txBody>
          <a:bodyPr/>
          <a:lstStyle/>
          <a:p>
            <a:endParaRPr lang="fr-FR"/>
          </a:p>
        </p:txBody>
      </p:sp>
      <p:sp>
        <p:nvSpPr>
          <p:cNvPr id="54" name="Shape 2">
            <a:extLst>
              <a:ext uri="{FF2B5EF4-FFF2-40B4-BE49-F238E27FC236}">
                <a16:creationId xmlns:a16="http://schemas.microsoft.com/office/drawing/2014/main" id="{E7218AE6-8227-BFF6-E6F8-0C5DA0386924}"/>
              </a:ext>
            </a:extLst>
          </p:cNvPr>
          <p:cNvSpPr/>
          <p:nvPr/>
        </p:nvSpPr>
        <p:spPr>
          <a:xfrm>
            <a:off x="4836375" y="636030"/>
            <a:ext cx="42863" cy="1455455"/>
          </a:xfrm>
          <a:prstGeom prst="rect">
            <a:avLst/>
          </a:prstGeom>
          <a:solidFill>
            <a:srgbClr val="D32F2F"/>
          </a:solidFill>
          <a:ln/>
        </p:spPr>
        <p:txBody>
          <a:bodyPr/>
          <a:lstStyle/>
          <a:p>
            <a:endParaRPr lang="fr-FR"/>
          </a:p>
        </p:txBody>
      </p:sp>
      <p:pic>
        <p:nvPicPr>
          <p:cNvPr id="55" name="Image 1" descr="preencoded.png">
            <a:extLst>
              <a:ext uri="{FF2B5EF4-FFF2-40B4-BE49-F238E27FC236}">
                <a16:creationId xmlns:a16="http://schemas.microsoft.com/office/drawing/2014/main" id="{C02F7ACD-5021-1BE0-2AE8-1127A86296B9}"/>
              </a:ext>
            </a:extLst>
          </p:cNvPr>
          <p:cNvPicPr>
            <a:picLocks noChangeAspect="1"/>
          </p:cNvPicPr>
          <p:nvPr/>
        </p:nvPicPr>
        <p:blipFill>
          <a:blip r:embed="rId7"/>
          <a:stretch>
            <a:fillRect/>
          </a:stretch>
        </p:blipFill>
        <p:spPr>
          <a:xfrm>
            <a:off x="4979250" y="787835"/>
            <a:ext cx="137517" cy="157163"/>
          </a:xfrm>
          <a:prstGeom prst="rect">
            <a:avLst/>
          </a:prstGeom>
        </p:spPr>
      </p:pic>
      <p:sp>
        <p:nvSpPr>
          <p:cNvPr id="56" name="Text 3">
            <a:extLst>
              <a:ext uri="{FF2B5EF4-FFF2-40B4-BE49-F238E27FC236}">
                <a16:creationId xmlns:a16="http://schemas.microsoft.com/office/drawing/2014/main" id="{30A8237E-9C2E-52A8-C450-0CAAD2C276D7}"/>
              </a:ext>
            </a:extLst>
          </p:cNvPr>
          <p:cNvSpPr/>
          <p:nvPr/>
        </p:nvSpPr>
        <p:spPr>
          <a:xfrm>
            <a:off x="5116767" y="778905"/>
            <a:ext cx="2171700"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ANALYSE DE LA BASE SQLITE</a:t>
            </a:r>
            <a:endParaRPr lang="en-US" sz="1090" dirty="0"/>
          </a:p>
        </p:txBody>
      </p:sp>
      <p:sp>
        <p:nvSpPr>
          <p:cNvPr id="57" name="Text 4">
            <a:extLst>
              <a:ext uri="{FF2B5EF4-FFF2-40B4-BE49-F238E27FC236}">
                <a16:creationId xmlns:a16="http://schemas.microsoft.com/office/drawing/2014/main" id="{8053FED4-E82F-5750-AB7C-4C00D2D380F0}"/>
              </a:ext>
            </a:extLst>
          </p:cNvPr>
          <p:cNvSpPr/>
          <p:nvPr/>
        </p:nvSpPr>
        <p:spPr>
          <a:xfrm>
            <a:off x="4979250" y="1034294"/>
            <a:ext cx="3221162" cy="91431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L'analyse de la table </a:t>
            </a:r>
            <a:r>
              <a:rPr lang="en-US" sz="784" b="1" dirty="0">
                <a:solidFill>
                  <a:srgbClr val="D32F2F"/>
                </a:solidFill>
                <a:latin typeface="Open Sans" pitchFamily="34" charset="0"/>
                <a:ea typeface="Open Sans" pitchFamily="34" charset="-122"/>
                <a:cs typeface="Open Sans" pitchFamily="34" charset="-120"/>
              </a:rPr>
              <a:t>Users</a:t>
            </a:r>
            <a:r>
              <a:rPr lang="en-US" sz="834" dirty="0">
                <a:solidFill>
                  <a:srgbClr val="242424"/>
                </a:solidFill>
                <a:latin typeface="Open Sans" pitchFamily="34" charset="0"/>
                <a:ea typeface="Open Sans" pitchFamily="34" charset="-122"/>
                <a:cs typeface="Open Sans" pitchFamily="34" charset="-120"/>
              </a:rPr>
              <a:t> dans </a:t>
            </a:r>
            <a:r>
              <a:rPr lang="en-US" sz="784" b="1" dirty="0">
                <a:solidFill>
                  <a:srgbClr val="D32F2F"/>
                </a:solidFill>
                <a:latin typeface="Open Sans" pitchFamily="34" charset="0"/>
                <a:ea typeface="Open Sans" pitchFamily="34" charset="-122"/>
                <a:cs typeface="Open Sans" pitchFamily="34" charset="-120"/>
              </a:rPr>
              <a:t>openplc.db</a:t>
            </a:r>
            <a:r>
              <a:rPr lang="en-US" sz="834" dirty="0">
                <a:solidFill>
                  <a:srgbClr val="242424"/>
                </a:solidFill>
                <a:latin typeface="Open Sans" pitchFamily="34" charset="0"/>
                <a:ea typeface="Open Sans" pitchFamily="34" charset="-122"/>
                <a:cs typeface="Open Sans" pitchFamily="34" charset="-120"/>
              </a:rPr>
              <a:t> révèle une violation majeure des principes de sécurité. 
 Le champ </a:t>
            </a:r>
            <a:r>
              <a:rPr lang="en-US" sz="784" b="1" dirty="0">
                <a:solidFill>
                  <a:srgbClr val="D32F2F"/>
                </a:solidFill>
                <a:latin typeface="Open Sans" pitchFamily="34" charset="0"/>
                <a:ea typeface="Open Sans" pitchFamily="34" charset="-122"/>
                <a:cs typeface="Open Sans" pitchFamily="34" charset="-120"/>
              </a:rPr>
              <a:t>password</a:t>
            </a:r>
            <a:r>
              <a:rPr lang="en-US" sz="834" dirty="0">
                <a:solidFill>
                  <a:srgbClr val="242424"/>
                </a:solidFill>
                <a:latin typeface="Open Sans" pitchFamily="34" charset="0"/>
                <a:ea typeface="Open Sans" pitchFamily="34" charset="-122"/>
                <a:cs typeface="Open Sans" pitchFamily="34" charset="-120"/>
              </a:rPr>
              <a:t> contient les mots de passe en texte brut, sans aucun hachage (bcrypt, argon2) ni salage.</a:t>
            </a:r>
            <a:endParaRPr lang="en-US" sz="834" dirty="0"/>
          </a:p>
        </p:txBody>
      </p:sp>
      <p:sp>
        <p:nvSpPr>
          <p:cNvPr id="58" name="Shape 5">
            <a:extLst>
              <a:ext uri="{FF2B5EF4-FFF2-40B4-BE49-F238E27FC236}">
                <a16:creationId xmlns:a16="http://schemas.microsoft.com/office/drawing/2014/main" id="{8468438C-4759-3C34-E1FB-660546702394}"/>
              </a:ext>
            </a:extLst>
          </p:cNvPr>
          <p:cNvSpPr/>
          <p:nvPr/>
        </p:nvSpPr>
        <p:spPr>
          <a:xfrm>
            <a:off x="4836375" y="2234361"/>
            <a:ext cx="3506912" cy="1272592"/>
          </a:xfrm>
          <a:prstGeom prst="rect">
            <a:avLst/>
          </a:prstGeom>
          <a:solidFill>
            <a:srgbClr val="FFFFFF"/>
          </a:solidFill>
          <a:ln/>
        </p:spPr>
        <p:txBody>
          <a:bodyPr/>
          <a:lstStyle/>
          <a:p>
            <a:endParaRPr lang="fr-FR"/>
          </a:p>
        </p:txBody>
      </p:sp>
      <p:sp>
        <p:nvSpPr>
          <p:cNvPr id="59" name="Shape 6">
            <a:extLst>
              <a:ext uri="{FF2B5EF4-FFF2-40B4-BE49-F238E27FC236}">
                <a16:creationId xmlns:a16="http://schemas.microsoft.com/office/drawing/2014/main" id="{6FABB663-902B-BAF3-453C-31641ED2F612}"/>
              </a:ext>
            </a:extLst>
          </p:cNvPr>
          <p:cNvSpPr/>
          <p:nvPr/>
        </p:nvSpPr>
        <p:spPr>
          <a:xfrm>
            <a:off x="4836375" y="2234361"/>
            <a:ext cx="42863" cy="1272592"/>
          </a:xfrm>
          <a:prstGeom prst="rect">
            <a:avLst/>
          </a:prstGeom>
          <a:solidFill>
            <a:srgbClr val="242424"/>
          </a:solidFill>
          <a:ln/>
        </p:spPr>
        <p:txBody>
          <a:bodyPr/>
          <a:lstStyle/>
          <a:p>
            <a:endParaRPr lang="fr-FR"/>
          </a:p>
        </p:txBody>
      </p:sp>
      <p:pic>
        <p:nvPicPr>
          <p:cNvPr id="60" name="Image 2" descr="preencoded.png">
            <a:extLst>
              <a:ext uri="{FF2B5EF4-FFF2-40B4-BE49-F238E27FC236}">
                <a16:creationId xmlns:a16="http://schemas.microsoft.com/office/drawing/2014/main" id="{6EBA2F83-50BA-9893-253F-F23E6666EE06}"/>
              </a:ext>
            </a:extLst>
          </p:cNvPr>
          <p:cNvPicPr>
            <a:picLocks noChangeAspect="1"/>
          </p:cNvPicPr>
          <p:nvPr/>
        </p:nvPicPr>
        <p:blipFill>
          <a:blip r:embed="rId8"/>
          <a:stretch>
            <a:fillRect/>
          </a:stretch>
        </p:blipFill>
        <p:spPr>
          <a:xfrm>
            <a:off x="4979250" y="2386165"/>
            <a:ext cx="137517" cy="157163"/>
          </a:xfrm>
          <a:prstGeom prst="rect">
            <a:avLst/>
          </a:prstGeom>
        </p:spPr>
      </p:pic>
      <p:sp>
        <p:nvSpPr>
          <p:cNvPr id="61" name="Text 7">
            <a:extLst>
              <a:ext uri="{FF2B5EF4-FFF2-40B4-BE49-F238E27FC236}">
                <a16:creationId xmlns:a16="http://schemas.microsoft.com/office/drawing/2014/main" id="{27651667-35D4-17CF-CE17-75C6E59BD8B9}"/>
              </a:ext>
            </a:extLst>
          </p:cNvPr>
          <p:cNvSpPr/>
          <p:nvPr/>
        </p:nvSpPr>
        <p:spPr>
          <a:xfrm>
            <a:off x="5116767" y="2377236"/>
            <a:ext cx="1348383"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IMPACT CRITIQUE</a:t>
            </a:r>
            <a:endParaRPr lang="en-US" sz="1090" dirty="0"/>
          </a:p>
        </p:txBody>
      </p:sp>
      <p:sp>
        <p:nvSpPr>
          <p:cNvPr id="62" name="Text 8">
            <a:extLst>
              <a:ext uri="{FF2B5EF4-FFF2-40B4-BE49-F238E27FC236}">
                <a16:creationId xmlns:a16="http://schemas.microsoft.com/office/drawing/2014/main" id="{B26D3A5B-07DE-E8F8-0E29-A8606D12A0FB}"/>
              </a:ext>
            </a:extLst>
          </p:cNvPr>
          <p:cNvSpPr/>
          <p:nvPr/>
        </p:nvSpPr>
        <p:spPr>
          <a:xfrm>
            <a:off x="4979250" y="2632625"/>
            <a:ext cx="3221162"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En cas d'accès au système de fichiers, tous les comptes sont compromis instantanément. 
 Classification : </a:t>
            </a:r>
            <a:r>
              <a:rPr lang="en-US" sz="784" b="1" dirty="0">
                <a:solidFill>
                  <a:srgbClr val="D32F2F"/>
                </a:solidFill>
                <a:latin typeface="Open Sans" pitchFamily="34" charset="0"/>
                <a:ea typeface="Open Sans" pitchFamily="34" charset="-122"/>
                <a:cs typeface="Open Sans" pitchFamily="34" charset="-120"/>
              </a:rPr>
              <a:t>CWE-256 : Plaintext Storage of Password</a:t>
            </a:r>
            <a:r>
              <a:rPr lang="en-US" sz="834" dirty="0">
                <a:solidFill>
                  <a:srgbClr val="242424"/>
                </a:solidFill>
                <a:latin typeface="Open Sans" pitchFamily="34" charset="0"/>
                <a:ea typeface="Open Sans" pitchFamily="34" charset="-122"/>
                <a:cs typeface="Open Sans" pitchFamily="34" charset="-120"/>
              </a:rPr>
              <a:t>.</a:t>
            </a:r>
            <a:endParaRPr lang="en-US" sz="834"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61248"/>
          </a:xfrm>
          <a:prstGeom prst="rect">
            <a:avLst/>
          </a:prstGeom>
        </p:spPr>
      </p:pic>
      <p:sp>
        <p:nvSpPr>
          <p:cNvPr id="4" name="Text 0"/>
          <p:cNvSpPr/>
          <p:nvPr/>
        </p:nvSpPr>
        <p:spPr>
          <a:xfrm>
            <a:off x="714375" y="214313"/>
            <a:ext cx="8001000" cy="548618"/>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0A0A0A"/>
                </a:solidFill>
                <a:latin typeface="Roboto" pitchFamily="34" charset="0"/>
                <a:ea typeface="Roboto" pitchFamily="34" charset="-122"/>
                <a:cs typeface="Roboto" pitchFamily="34" charset="-120"/>
              </a:rPr>
              <a:t>CHAÎNE D'ATTAQUE CRITIQUE : DU DÉNI DE SERVICE À L'ÉLÉVATION DE PRIVILÈGES ROOT</a:t>
            </a:r>
            <a:endParaRPr lang="en-US" sz="1602" dirty="0"/>
          </a:p>
        </p:txBody>
      </p:sp>
      <p:pic>
        <p:nvPicPr>
          <p:cNvPr id="5" name="Image 1" descr="preencoded.png"/>
          <p:cNvPicPr>
            <a:picLocks noChangeAspect="1"/>
          </p:cNvPicPr>
          <p:nvPr/>
        </p:nvPicPr>
        <p:blipFill>
          <a:blip r:embed="rId4"/>
          <a:stretch>
            <a:fillRect/>
          </a:stretch>
        </p:blipFill>
        <p:spPr>
          <a:xfrm>
            <a:off x="714375" y="882588"/>
            <a:ext cx="142875" cy="142875"/>
          </a:xfrm>
          <a:prstGeom prst="rect">
            <a:avLst/>
          </a:prstGeom>
        </p:spPr>
      </p:pic>
      <p:sp>
        <p:nvSpPr>
          <p:cNvPr id="6" name="Text 1"/>
          <p:cNvSpPr/>
          <p:nvPr/>
        </p:nvSpPr>
        <p:spPr>
          <a:xfrm>
            <a:off x="928688" y="870086"/>
            <a:ext cx="1803797"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D32F2F"/>
                </a:solidFill>
                <a:latin typeface="Roboto" pitchFamily="34" charset="0"/>
                <a:ea typeface="Roboto" pitchFamily="34" charset="-122"/>
                <a:cs typeface="Roboto" pitchFamily="34" charset="-120"/>
              </a:rPr>
              <a:t>SABOTAGE DU PROCESSUS</a:t>
            </a:r>
            <a:endParaRPr lang="en-US" sz="987" dirty="0"/>
          </a:p>
        </p:txBody>
      </p:sp>
      <p:sp>
        <p:nvSpPr>
          <p:cNvPr id="7" name="Shape 2"/>
          <p:cNvSpPr/>
          <p:nvPr/>
        </p:nvSpPr>
        <p:spPr>
          <a:xfrm>
            <a:off x="714375" y="1202271"/>
            <a:ext cx="3893344" cy="665764"/>
          </a:xfrm>
          <a:prstGeom prst="rect">
            <a:avLst/>
          </a:prstGeom>
          <a:solidFill>
            <a:srgbClr val="FFFFFF"/>
          </a:solidFill>
          <a:ln/>
        </p:spPr>
        <p:txBody>
          <a:bodyPr/>
          <a:lstStyle/>
          <a:p>
            <a:endParaRPr lang="fr-FR"/>
          </a:p>
        </p:txBody>
      </p:sp>
      <p:sp>
        <p:nvSpPr>
          <p:cNvPr id="8" name="Shape 3"/>
          <p:cNvSpPr/>
          <p:nvPr/>
        </p:nvSpPr>
        <p:spPr>
          <a:xfrm>
            <a:off x="714375" y="1202271"/>
            <a:ext cx="28575" cy="665764"/>
          </a:xfrm>
          <a:prstGeom prst="rect">
            <a:avLst/>
          </a:prstGeom>
          <a:solidFill>
            <a:srgbClr val="242424"/>
          </a:solidFill>
          <a:ln/>
        </p:spPr>
        <p:txBody>
          <a:bodyPr/>
          <a:lstStyle/>
          <a:p>
            <a:endParaRPr lang="fr-FR"/>
          </a:p>
        </p:txBody>
      </p:sp>
      <p:sp>
        <p:nvSpPr>
          <p:cNvPr id="9" name="Text 4"/>
          <p:cNvSpPr/>
          <p:nvPr/>
        </p:nvSpPr>
        <p:spPr>
          <a:xfrm>
            <a:off x="821531" y="1309427"/>
            <a:ext cx="3679031"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Open Sans" pitchFamily="34" charset="0"/>
                <a:ea typeface="Open Sans" pitchFamily="34" charset="-122"/>
                <a:cs typeface="Open Sans" pitchFamily="34" charset="-120"/>
              </a:rPr>
              <a:t>ACTION &amp; SÉQUENCE</a:t>
            </a:r>
            <a:endParaRPr lang="en-US" sz="683" dirty="0"/>
          </a:p>
        </p:txBody>
      </p:sp>
      <p:sp>
        <p:nvSpPr>
          <p:cNvPr id="10" name="Text 5"/>
          <p:cNvSpPr/>
          <p:nvPr/>
        </p:nvSpPr>
        <p:spPr>
          <a:xfrm>
            <a:off x="821531" y="1480877"/>
            <a:ext cx="36790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24242"/>
                </a:solidFill>
                <a:latin typeface="Open Sans" pitchFamily="34" charset="0"/>
                <a:ea typeface="Open Sans" pitchFamily="34" charset="-122"/>
                <a:cs typeface="Open Sans" pitchFamily="34" charset="-120"/>
              </a:rPr>
              <a:t>Injection HTTP GET : </a:t>
            </a:r>
            <a:r>
              <a:rPr lang="en-US" sz="683" b="1" dirty="0">
                <a:solidFill>
                  <a:srgbClr val="FF5252"/>
                </a:solidFill>
                <a:latin typeface="Open Sans" pitchFamily="34" charset="0"/>
                <a:ea typeface="Open Sans" pitchFamily="34" charset="-122"/>
                <a:cs typeface="Open Sans" pitchFamily="34" charset="-120"/>
              </a:rPr>
              <a:t>/stop_plc</a:t>
            </a:r>
            <a:r>
              <a:rPr lang="en-US" sz="727" dirty="0">
                <a:solidFill>
                  <a:srgbClr val="424242"/>
                </a:solidFill>
                <a:latin typeface="Open Sans" pitchFamily="34" charset="0"/>
                <a:ea typeface="Open Sans" pitchFamily="34" charset="-122"/>
                <a:cs typeface="Open Sans" pitchFamily="34" charset="-120"/>
              </a:rPr>
              <a:t> (Arrêt) suivi de </a:t>
            </a:r>
            <a:r>
              <a:rPr lang="en-US" sz="683" b="1" dirty="0">
                <a:solidFill>
                  <a:srgbClr val="FF5252"/>
                </a:solidFill>
                <a:latin typeface="Open Sans" pitchFamily="34" charset="0"/>
                <a:ea typeface="Open Sans" pitchFamily="34" charset="-122"/>
                <a:cs typeface="Open Sans" pitchFamily="34" charset="-120"/>
              </a:rPr>
              <a:t>/compile-program?file=blank_program.st</a:t>
            </a:r>
            <a:r>
              <a:rPr lang="en-US" sz="727" dirty="0">
                <a:solidFill>
                  <a:srgbClr val="424242"/>
                </a:solidFill>
                <a:latin typeface="Open Sans" pitchFamily="34" charset="0"/>
                <a:ea typeface="Open Sans" pitchFamily="34" charset="-122"/>
                <a:cs typeface="Open Sans" pitchFamily="34" charset="-120"/>
              </a:rPr>
              <a:t>.</a:t>
            </a:r>
            <a:endParaRPr lang="en-US" sz="727" dirty="0"/>
          </a:p>
        </p:txBody>
      </p:sp>
      <p:sp>
        <p:nvSpPr>
          <p:cNvPr id="11" name="Shape 6"/>
          <p:cNvSpPr/>
          <p:nvPr/>
        </p:nvSpPr>
        <p:spPr>
          <a:xfrm>
            <a:off x="714375" y="1975191"/>
            <a:ext cx="3893344" cy="665764"/>
          </a:xfrm>
          <a:prstGeom prst="rect">
            <a:avLst/>
          </a:prstGeom>
          <a:solidFill>
            <a:srgbClr val="FFFFFF"/>
          </a:solidFill>
          <a:ln/>
        </p:spPr>
        <p:txBody>
          <a:bodyPr/>
          <a:lstStyle/>
          <a:p>
            <a:endParaRPr lang="fr-FR"/>
          </a:p>
        </p:txBody>
      </p:sp>
      <p:sp>
        <p:nvSpPr>
          <p:cNvPr id="12" name="Shape 7"/>
          <p:cNvSpPr/>
          <p:nvPr/>
        </p:nvSpPr>
        <p:spPr>
          <a:xfrm>
            <a:off x="714375" y="1975191"/>
            <a:ext cx="28575" cy="665764"/>
          </a:xfrm>
          <a:prstGeom prst="rect">
            <a:avLst/>
          </a:prstGeom>
          <a:solidFill>
            <a:srgbClr val="242424"/>
          </a:solidFill>
          <a:ln/>
        </p:spPr>
        <p:txBody>
          <a:bodyPr/>
          <a:lstStyle/>
          <a:p>
            <a:endParaRPr lang="fr-FR"/>
          </a:p>
        </p:txBody>
      </p:sp>
      <p:sp>
        <p:nvSpPr>
          <p:cNvPr id="13" name="Text 8"/>
          <p:cNvSpPr/>
          <p:nvPr/>
        </p:nvSpPr>
        <p:spPr>
          <a:xfrm>
            <a:off x="821531" y="2082347"/>
            <a:ext cx="3679031"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Open Sans" pitchFamily="34" charset="0"/>
                <a:ea typeface="Open Sans" pitchFamily="34" charset="-122"/>
                <a:cs typeface="Open Sans" pitchFamily="34" charset="-120"/>
              </a:rPr>
              <a:t>IMPACT INDUSTRIEL</a:t>
            </a:r>
            <a:endParaRPr lang="en-US" sz="683" dirty="0"/>
          </a:p>
        </p:txBody>
      </p:sp>
      <p:sp>
        <p:nvSpPr>
          <p:cNvPr id="14" name="Text 9"/>
          <p:cNvSpPr/>
          <p:nvPr/>
        </p:nvSpPr>
        <p:spPr>
          <a:xfrm>
            <a:off x="821531" y="2253797"/>
            <a:ext cx="36790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24242"/>
                </a:solidFill>
                <a:latin typeface="Open Sans" pitchFamily="34" charset="0"/>
                <a:ea typeface="Open Sans" pitchFamily="34" charset="-122"/>
                <a:cs typeface="Open Sans" pitchFamily="34" charset="-120"/>
              </a:rPr>
              <a:t>Effacement de la logique de contrôle de la raffinerie. Remplacement par un programme vide.</a:t>
            </a:r>
            <a:endParaRPr lang="en-US" sz="727" dirty="0"/>
          </a:p>
        </p:txBody>
      </p:sp>
      <p:pic>
        <p:nvPicPr>
          <p:cNvPr id="18" name="Image 3" descr="preencoded.png"/>
          <p:cNvPicPr>
            <a:picLocks noChangeAspect="1"/>
          </p:cNvPicPr>
          <p:nvPr/>
        </p:nvPicPr>
        <p:blipFill>
          <a:blip r:embed="rId5"/>
          <a:stretch>
            <a:fillRect/>
          </a:stretch>
        </p:blipFill>
        <p:spPr>
          <a:xfrm>
            <a:off x="4822031" y="882588"/>
            <a:ext cx="125016" cy="142875"/>
          </a:xfrm>
          <a:prstGeom prst="rect">
            <a:avLst/>
          </a:prstGeom>
        </p:spPr>
      </p:pic>
      <p:sp>
        <p:nvSpPr>
          <p:cNvPr id="19" name="Text 12"/>
          <p:cNvSpPr/>
          <p:nvPr/>
        </p:nvSpPr>
        <p:spPr>
          <a:xfrm>
            <a:off x="5018484" y="870086"/>
            <a:ext cx="2046684"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D32F2F"/>
                </a:solidFill>
                <a:latin typeface="Roboto" pitchFamily="34" charset="0"/>
                <a:ea typeface="Roboto" pitchFamily="34" charset="-122"/>
                <a:cs typeface="Roboto" pitchFamily="34" charset="-120"/>
              </a:rPr>
              <a:t>PRISE DE CONTRÔLE SYSTÈME</a:t>
            </a:r>
            <a:endParaRPr lang="en-US" sz="987" dirty="0"/>
          </a:p>
        </p:txBody>
      </p:sp>
      <p:sp>
        <p:nvSpPr>
          <p:cNvPr id="20" name="Shape 13"/>
          <p:cNvSpPr/>
          <p:nvPr/>
        </p:nvSpPr>
        <p:spPr>
          <a:xfrm>
            <a:off x="4822031" y="1202271"/>
            <a:ext cx="3893344" cy="665764"/>
          </a:xfrm>
          <a:prstGeom prst="rect">
            <a:avLst/>
          </a:prstGeom>
          <a:solidFill>
            <a:srgbClr val="FFFFFF"/>
          </a:solidFill>
          <a:ln/>
        </p:spPr>
        <p:txBody>
          <a:bodyPr/>
          <a:lstStyle/>
          <a:p>
            <a:endParaRPr lang="fr-FR"/>
          </a:p>
        </p:txBody>
      </p:sp>
      <p:sp>
        <p:nvSpPr>
          <p:cNvPr id="21" name="Shape 14"/>
          <p:cNvSpPr/>
          <p:nvPr/>
        </p:nvSpPr>
        <p:spPr>
          <a:xfrm>
            <a:off x="4822031" y="1202271"/>
            <a:ext cx="28575" cy="665764"/>
          </a:xfrm>
          <a:prstGeom prst="rect">
            <a:avLst/>
          </a:prstGeom>
          <a:solidFill>
            <a:srgbClr val="242424"/>
          </a:solidFill>
          <a:ln/>
        </p:spPr>
        <p:txBody>
          <a:bodyPr/>
          <a:lstStyle/>
          <a:p>
            <a:endParaRPr lang="fr-FR"/>
          </a:p>
        </p:txBody>
      </p:sp>
      <p:sp>
        <p:nvSpPr>
          <p:cNvPr id="22" name="Text 15"/>
          <p:cNvSpPr/>
          <p:nvPr/>
        </p:nvSpPr>
        <p:spPr>
          <a:xfrm>
            <a:off x="4929188" y="1309427"/>
            <a:ext cx="3679031"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Open Sans" pitchFamily="34" charset="0"/>
                <a:ea typeface="Open Sans" pitchFamily="34" charset="-122"/>
                <a:cs typeface="Open Sans" pitchFamily="34" charset="-120"/>
              </a:rPr>
              <a:t>MÉCANISME D'EXPLOITATION</a:t>
            </a:r>
            <a:endParaRPr lang="en-US" sz="683" dirty="0"/>
          </a:p>
        </p:txBody>
      </p:sp>
      <p:sp>
        <p:nvSpPr>
          <p:cNvPr id="23" name="Text 16"/>
          <p:cNvSpPr/>
          <p:nvPr/>
        </p:nvSpPr>
        <p:spPr>
          <a:xfrm>
            <a:off x="4929188" y="1480877"/>
            <a:ext cx="3679031" cy="280002"/>
          </a:xfrm>
          <a:prstGeom prst="rect">
            <a:avLst/>
          </a:prstGeom>
          <a:noFill/>
          <a:ln/>
        </p:spPr>
        <p:txBody>
          <a:bodyPr wrap="square" lIns="0" tIns="0" rIns="0" bIns="0" rtlCol="0" anchor="t">
            <a:spAutoFit/>
          </a:bodyPr>
          <a:lstStyle/>
          <a:p>
            <a:pPr marL="0" indent="0" algn="l">
              <a:lnSpc>
                <a:spcPts val="1100"/>
              </a:lnSpc>
              <a:buNone/>
            </a:pPr>
            <a:r>
              <a:rPr lang="en-US" sz="727" dirty="0">
                <a:solidFill>
                  <a:srgbClr val="424242"/>
                </a:solidFill>
                <a:latin typeface="Open Sans" pitchFamily="34" charset="0"/>
                <a:ea typeface="Open Sans" pitchFamily="34" charset="-122"/>
                <a:cs typeface="Open Sans" pitchFamily="34" charset="-120"/>
              </a:rPr>
              <a:t>Détournement de </a:t>
            </a:r>
            <a:r>
              <a:rPr lang="en-US" sz="683" b="1" dirty="0">
                <a:solidFill>
                  <a:srgbClr val="FF5252"/>
                </a:solidFill>
                <a:latin typeface="Open Sans" pitchFamily="34" charset="0"/>
                <a:ea typeface="Open Sans" pitchFamily="34" charset="-122"/>
                <a:cs typeface="Open Sans" pitchFamily="34" charset="-120"/>
              </a:rPr>
              <a:t>popen()</a:t>
            </a:r>
            <a:r>
              <a:rPr lang="en-US" sz="727" dirty="0">
                <a:solidFill>
                  <a:srgbClr val="424242"/>
                </a:solidFill>
                <a:latin typeface="Open Sans" pitchFamily="34" charset="0"/>
                <a:ea typeface="Open Sans" pitchFamily="34" charset="-122"/>
                <a:cs typeface="Open Sans" pitchFamily="34" charset="-120"/>
              </a:rPr>
              <a:t> dans </a:t>
            </a:r>
            <a:r>
              <a:rPr lang="en-US" sz="683" b="1" dirty="0">
                <a:solidFill>
                  <a:srgbClr val="FF5252"/>
                </a:solidFill>
                <a:latin typeface="Open Sans" pitchFamily="34" charset="0"/>
                <a:ea typeface="Open Sans" pitchFamily="34" charset="-122"/>
                <a:cs typeface="Open Sans" pitchFamily="34" charset="-120"/>
              </a:rPr>
              <a:t>psm.cpp</a:t>
            </a:r>
            <a:r>
              <a:rPr lang="en-US" sz="727" dirty="0">
                <a:solidFill>
                  <a:srgbClr val="424242"/>
                </a:solidFill>
                <a:latin typeface="Open Sans" pitchFamily="34" charset="0"/>
                <a:ea typeface="Open Sans" pitchFamily="34" charset="-122"/>
                <a:cs typeface="Open Sans" pitchFamily="34" charset="-120"/>
              </a:rPr>
              <a:t> via </a:t>
            </a:r>
            <a:r>
              <a:rPr lang="en-US" sz="683" b="1" dirty="0">
                <a:solidFill>
                  <a:srgbClr val="FF5252"/>
                </a:solidFill>
                <a:latin typeface="Open Sans" pitchFamily="34" charset="0"/>
                <a:ea typeface="Open Sans" pitchFamily="34" charset="-122"/>
                <a:cs typeface="Open Sans" pitchFamily="34" charset="-120"/>
              </a:rPr>
              <a:t>/start_plc</a:t>
            </a:r>
            <a:r>
              <a:rPr lang="en-US" sz="727" dirty="0">
                <a:solidFill>
                  <a:srgbClr val="424242"/>
                </a:solidFill>
                <a:latin typeface="Open Sans" pitchFamily="34" charset="0"/>
                <a:ea typeface="Open Sans" pitchFamily="34" charset="-122"/>
                <a:cs typeface="Open Sans" pitchFamily="34" charset="-120"/>
              </a:rPr>
              <a:t>. Exécution de code arbitraire.</a:t>
            </a:r>
            <a:endParaRPr lang="en-US" sz="727" dirty="0"/>
          </a:p>
        </p:txBody>
      </p:sp>
      <p:sp>
        <p:nvSpPr>
          <p:cNvPr id="24" name="Shape 17"/>
          <p:cNvSpPr/>
          <p:nvPr/>
        </p:nvSpPr>
        <p:spPr>
          <a:xfrm>
            <a:off x="4822031" y="1975191"/>
            <a:ext cx="3893344" cy="525763"/>
          </a:xfrm>
          <a:prstGeom prst="rect">
            <a:avLst/>
          </a:prstGeom>
          <a:solidFill>
            <a:srgbClr val="FFFFFF"/>
          </a:solidFill>
          <a:ln/>
        </p:spPr>
        <p:txBody>
          <a:bodyPr/>
          <a:lstStyle/>
          <a:p>
            <a:endParaRPr lang="fr-FR"/>
          </a:p>
        </p:txBody>
      </p:sp>
      <p:sp>
        <p:nvSpPr>
          <p:cNvPr id="25" name="Shape 18"/>
          <p:cNvSpPr/>
          <p:nvPr/>
        </p:nvSpPr>
        <p:spPr>
          <a:xfrm>
            <a:off x="4822031" y="1975191"/>
            <a:ext cx="28575" cy="525763"/>
          </a:xfrm>
          <a:prstGeom prst="rect">
            <a:avLst/>
          </a:prstGeom>
          <a:solidFill>
            <a:srgbClr val="242424"/>
          </a:solidFill>
          <a:ln/>
        </p:spPr>
        <p:txBody>
          <a:bodyPr/>
          <a:lstStyle/>
          <a:p>
            <a:endParaRPr lang="fr-FR"/>
          </a:p>
        </p:txBody>
      </p:sp>
      <p:sp>
        <p:nvSpPr>
          <p:cNvPr id="26" name="Text 19"/>
          <p:cNvSpPr/>
          <p:nvPr/>
        </p:nvSpPr>
        <p:spPr>
          <a:xfrm>
            <a:off x="4929188" y="2082347"/>
            <a:ext cx="3679031" cy="135731"/>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Open Sans" pitchFamily="34" charset="0"/>
                <a:ea typeface="Open Sans" pitchFamily="34" charset="-122"/>
                <a:cs typeface="Open Sans" pitchFamily="34" charset="-120"/>
              </a:rPr>
              <a:t>PREUVE DE COMPROMISSION</a:t>
            </a:r>
            <a:endParaRPr lang="en-US" sz="683" dirty="0"/>
          </a:p>
        </p:txBody>
      </p:sp>
      <p:sp>
        <p:nvSpPr>
          <p:cNvPr id="27" name="Text 20"/>
          <p:cNvSpPr/>
          <p:nvPr/>
        </p:nvSpPr>
        <p:spPr>
          <a:xfrm>
            <a:off x="4929188" y="2253797"/>
            <a:ext cx="3679031" cy="140001"/>
          </a:xfrm>
          <a:prstGeom prst="rect">
            <a:avLst/>
          </a:prstGeom>
          <a:noFill/>
          <a:ln/>
        </p:spPr>
        <p:txBody>
          <a:bodyPr wrap="none" lIns="0" tIns="0" rIns="0" bIns="0" rtlCol="0" anchor="t">
            <a:spAutoFit/>
          </a:bodyPr>
          <a:lstStyle/>
          <a:p>
            <a:pPr marL="0" indent="0" algn="l">
              <a:lnSpc>
                <a:spcPts val="1100"/>
              </a:lnSpc>
              <a:buNone/>
            </a:pPr>
            <a:r>
              <a:rPr lang="en-US" sz="727" dirty="0">
                <a:solidFill>
                  <a:srgbClr val="424242"/>
                </a:solidFill>
                <a:latin typeface="Open Sans" pitchFamily="34" charset="0"/>
                <a:ea typeface="Open Sans" pitchFamily="34" charset="-122"/>
                <a:cs typeface="Open Sans" pitchFamily="34" charset="-120"/>
              </a:rPr>
              <a:t>Contenu de </a:t>
            </a:r>
            <a:r>
              <a:rPr lang="en-US" sz="683" b="1" dirty="0">
                <a:solidFill>
                  <a:srgbClr val="FF5252"/>
                </a:solidFill>
                <a:latin typeface="Open Sans" pitchFamily="34" charset="0"/>
                <a:ea typeface="Open Sans" pitchFamily="34" charset="-122"/>
                <a:cs typeface="Open Sans" pitchFamily="34" charset="-120"/>
              </a:rPr>
              <a:t>/tmp/pwned.txt</a:t>
            </a:r>
            <a:r>
              <a:rPr lang="en-US" sz="727" dirty="0">
                <a:solidFill>
                  <a:srgbClr val="424242"/>
                </a:solidFill>
                <a:latin typeface="Open Sans" pitchFamily="34" charset="0"/>
                <a:ea typeface="Open Sans" pitchFamily="34" charset="-122"/>
                <a:cs typeface="Open Sans" pitchFamily="34" charset="-120"/>
              </a:rPr>
              <a:t> révélant l'identité : </a:t>
            </a:r>
            <a:r>
              <a:rPr lang="en-US" sz="683" b="1" dirty="0">
                <a:solidFill>
                  <a:srgbClr val="FF5252"/>
                </a:solidFill>
                <a:latin typeface="Open Sans" pitchFamily="34" charset="0"/>
                <a:ea typeface="Open Sans" pitchFamily="34" charset="-122"/>
                <a:cs typeface="Open Sans" pitchFamily="34" charset="-120"/>
              </a:rPr>
              <a:t>uid=0(root)</a:t>
            </a:r>
            <a:r>
              <a:rPr lang="en-US" sz="727" dirty="0">
                <a:solidFill>
                  <a:srgbClr val="424242"/>
                </a:solidFill>
                <a:latin typeface="Open Sans" pitchFamily="34" charset="0"/>
                <a:ea typeface="Open Sans" pitchFamily="34" charset="-122"/>
                <a:cs typeface="Open Sans" pitchFamily="34" charset="-120"/>
              </a:rPr>
              <a:t>.</a:t>
            </a:r>
            <a:endParaRPr lang="en-US" sz="727" dirty="0"/>
          </a:p>
        </p:txBody>
      </p:sp>
      <p:sp>
        <p:nvSpPr>
          <p:cNvPr id="31" name="Shape 23"/>
          <p:cNvSpPr/>
          <p:nvPr/>
        </p:nvSpPr>
        <p:spPr>
          <a:xfrm>
            <a:off x="714375" y="4462611"/>
            <a:ext cx="8001000" cy="484324"/>
          </a:xfrm>
          <a:prstGeom prst="rect">
            <a:avLst/>
          </a:prstGeom>
          <a:solidFill>
            <a:srgbClr val="242424"/>
          </a:solidFill>
          <a:ln/>
        </p:spPr>
        <p:txBody>
          <a:bodyPr/>
          <a:lstStyle/>
          <a:p>
            <a:endParaRPr lang="fr-FR"/>
          </a:p>
        </p:txBody>
      </p:sp>
      <p:sp>
        <p:nvSpPr>
          <p:cNvPr id="32" name="Shape 24"/>
          <p:cNvSpPr/>
          <p:nvPr/>
        </p:nvSpPr>
        <p:spPr>
          <a:xfrm>
            <a:off x="714375" y="4462611"/>
            <a:ext cx="8001000" cy="28575"/>
          </a:xfrm>
          <a:prstGeom prst="rect">
            <a:avLst/>
          </a:prstGeom>
          <a:solidFill>
            <a:srgbClr val="D32F2F"/>
          </a:solidFill>
          <a:ln/>
        </p:spPr>
        <p:txBody>
          <a:bodyPr/>
          <a:lstStyle/>
          <a:p>
            <a:endParaRPr lang="fr-FR"/>
          </a:p>
        </p:txBody>
      </p:sp>
      <p:pic>
        <p:nvPicPr>
          <p:cNvPr id="33" name="Image 5" descr="preencoded.png"/>
          <p:cNvPicPr>
            <a:picLocks noChangeAspect="1"/>
          </p:cNvPicPr>
          <p:nvPr/>
        </p:nvPicPr>
        <p:blipFill>
          <a:blip r:embed="rId6"/>
          <a:stretch>
            <a:fillRect/>
          </a:stretch>
        </p:blipFill>
        <p:spPr>
          <a:xfrm>
            <a:off x="821531" y="4602026"/>
            <a:ext cx="128588" cy="128588"/>
          </a:xfrm>
          <a:prstGeom prst="rect">
            <a:avLst/>
          </a:prstGeom>
        </p:spPr>
      </p:pic>
      <p:sp>
        <p:nvSpPr>
          <p:cNvPr id="34" name="Text 25"/>
          <p:cNvSpPr/>
          <p:nvPr/>
        </p:nvSpPr>
        <p:spPr>
          <a:xfrm>
            <a:off x="1021556" y="4580595"/>
            <a:ext cx="2300288" cy="241436"/>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FFFFFF"/>
                </a:solidFill>
                <a:latin typeface="Open Sans" pitchFamily="34" charset="0"/>
                <a:ea typeface="Open Sans" pitchFamily="34" charset="-122"/>
                <a:cs typeface="Open Sans" pitchFamily="34" charset="-120"/>
              </a:rPr>
              <a:t>Absence de vérification </a:t>
            </a:r>
            <a:r>
              <a:rPr lang="en-US" sz="634" b="1" dirty="0">
                <a:solidFill>
                  <a:srgbClr val="FF5252"/>
                </a:solidFill>
                <a:latin typeface="Open Sans" pitchFamily="34" charset="0"/>
                <a:ea typeface="Open Sans" pitchFamily="34" charset="-122"/>
                <a:cs typeface="Open Sans" pitchFamily="34" charset="-120"/>
              </a:rPr>
              <a:t>CSRF/Session</a:t>
            </a:r>
            <a:r>
              <a:rPr lang="en-US" sz="674" dirty="0">
                <a:solidFill>
                  <a:srgbClr val="FFFFFF"/>
                </a:solidFill>
                <a:latin typeface="Open Sans" pitchFamily="34" charset="0"/>
                <a:ea typeface="Open Sans" pitchFamily="34" charset="-122"/>
                <a:cs typeface="Open Sans" pitchFamily="34" charset="-120"/>
              </a:rPr>
              <a:t> sur les points de terminaison critiques.</a:t>
            </a:r>
            <a:endParaRPr lang="en-US" sz="674" dirty="0"/>
          </a:p>
        </p:txBody>
      </p:sp>
      <p:pic>
        <p:nvPicPr>
          <p:cNvPr id="35" name="Image 6" descr="preencoded.png"/>
          <p:cNvPicPr>
            <a:picLocks noChangeAspect="1"/>
          </p:cNvPicPr>
          <p:nvPr/>
        </p:nvPicPr>
        <p:blipFill>
          <a:blip r:embed="rId7"/>
          <a:stretch>
            <a:fillRect/>
          </a:stretch>
        </p:blipFill>
        <p:spPr>
          <a:xfrm>
            <a:off x="3464719" y="4602026"/>
            <a:ext cx="160734" cy="128588"/>
          </a:xfrm>
          <a:prstGeom prst="rect">
            <a:avLst/>
          </a:prstGeom>
        </p:spPr>
      </p:pic>
      <p:sp>
        <p:nvSpPr>
          <p:cNvPr id="36" name="Text 26"/>
          <p:cNvSpPr/>
          <p:nvPr/>
        </p:nvSpPr>
        <p:spPr>
          <a:xfrm>
            <a:off x="3696891" y="4580595"/>
            <a:ext cx="2268141" cy="241436"/>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FFFFFF"/>
                </a:solidFill>
                <a:latin typeface="Open Sans" pitchFamily="34" charset="0"/>
                <a:ea typeface="Open Sans" pitchFamily="34" charset="-122"/>
                <a:cs typeface="Open Sans" pitchFamily="34" charset="-120"/>
              </a:rPr>
              <a:t>Exécution du service avec des </a:t>
            </a:r>
            <a:r>
              <a:rPr lang="en-US" sz="634" b="1" dirty="0">
                <a:solidFill>
                  <a:srgbClr val="FF5252"/>
                </a:solidFill>
                <a:latin typeface="Open Sans" pitchFamily="34" charset="0"/>
                <a:ea typeface="Open Sans" pitchFamily="34" charset="-122"/>
                <a:cs typeface="Open Sans" pitchFamily="34" charset="-120"/>
              </a:rPr>
              <a:t>privilèges root</a:t>
            </a:r>
            <a:r>
              <a:rPr lang="en-US" sz="674" dirty="0">
                <a:solidFill>
                  <a:srgbClr val="FFFFFF"/>
                </a:solidFill>
                <a:latin typeface="Open Sans" pitchFamily="34" charset="0"/>
                <a:ea typeface="Open Sans" pitchFamily="34" charset="-122"/>
                <a:cs typeface="Open Sans" pitchFamily="34" charset="-120"/>
              </a:rPr>
              <a:t> (Violation du moindre privilège).</a:t>
            </a:r>
            <a:endParaRPr lang="en-US" sz="674" dirty="0"/>
          </a:p>
        </p:txBody>
      </p:sp>
      <p:pic>
        <p:nvPicPr>
          <p:cNvPr id="37" name="Image 7" descr="preencoded.png"/>
          <p:cNvPicPr>
            <a:picLocks noChangeAspect="1"/>
          </p:cNvPicPr>
          <p:nvPr/>
        </p:nvPicPr>
        <p:blipFill>
          <a:blip r:embed="rId8"/>
          <a:stretch>
            <a:fillRect/>
          </a:stretch>
        </p:blipFill>
        <p:spPr>
          <a:xfrm>
            <a:off x="6107906" y="4602026"/>
            <a:ext cx="112514" cy="128588"/>
          </a:xfrm>
          <a:prstGeom prst="rect">
            <a:avLst/>
          </a:prstGeom>
        </p:spPr>
      </p:pic>
      <p:sp>
        <p:nvSpPr>
          <p:cNvPr id="38" name="Text 27"/>
          <p:cNvSpPr/>
          <p:nvPr/>
        </p:nvSpPr>
        <p:spPr>
          <a:xfrm>
            <a:off x="6291858" y="4580595"/>
            <a:ext cx="2316361" cy="241436"/>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FFFFFF"/>
                </a:solidFill>
                <a:latin typeface="Open Sans" pitchFamily="34" charset="0"/>
                <a:ea typeface="Open Sans" pitchFamily="34" charset="-122"/>
                <a:cs typeface="Open Sans" pitchFamily="34" charset="-120"/>
              </a:rPr>
              <a:t>Sabotage physique </a:t>
            </a:r>
            <a:r>
              <a:rPr lang="en-US" sz="634" b="1" dirty="0">
                <a:solidFill>
                  <a:srgbClr val="FF5252"/>
                </a:solidFill>
                <a:latin typeface="Open Sans" pitchFamily="34" charset="0"/>
                <a:ea typeface="Open Sans" pitchFamily="34" charset="-122"/>
                <a:cs typeface="Open Sans" pitchFamily="34" charset="-120"/>
              </a:rPr>
              <a:t>irréversible</a:t>
            </a:r>
            <a:r>
              <a:rPr lang="en-US" sz="674" dirty="0">
                <a:solidFill>
                  <a:srgbClr val="FFFFFF"/>
                </a:solidFill>
                <a:latin typeface="Open Sans" pitchFamily="34" charset="0"/>
                <a:ea typeface="Open Sans" pitchFamily="34" charset="-122"/>
                <a:cs typeface="Open Sans" pitchFamily="34" charset="-120"/>
              </a:rPr>
              <a:t> et persistance sur le réseau industriel.</a:t>
            </a:r>
            <a:endParaRPr lang="en-US" sz="674" dirty="0"/>
          </a:p>
        </p:txBody>
      </p:sp>
      <p:pic>
        <p:nvPicPr>
          <p:cNvPr id="39" name="Image 38">
            <a:extLst>
              <a:ext uri="{FF2B5EF4-FFF2-40B4-BE49-F238E27FC236}">
                <a16:creationId xmlns:a16="http://schemas.microsoft.com/office/drawing/2014/main" id="{EAA05773-83E2-DB14-899B-5D475F80C8E5}"/>
              </a:ext>
            </a:extLst>
          </p:cNvPr>
          <p:cNvPicPr>
            <a:picLocks noChangeAspect="1"/>
          </p:cNvPicPr>
          <p:nvPr/>
        </p:nvPicPr>
        <p:blipFill>
          <a:blip r:embed="rId9"/>
          <a:stretch>
            <a:fillRect/>
          </a:stretch>
        </p:blipFill>
        <p:spPr>
          <a:xfrm>
            <a:off x="1003929" y="2722378"/>
            <a:ext cx="3244369" cy="1551036"/>
          </a:xfrm>
          <a:prstGeom prst="rect">
            <a:avLst/>
          </a:prstGeom>
        </p:spPr>
      </p:pic>
      <p:pic>
        <p:nvPicPr>
          <p:cNvPr id="41" name="Image 40">
            <a:extLst>
              <a:ext uri="{FF2B5EF4-FFF2-40B4-BE49-F238E27FC236}">
                <a16:creationId xmlns:a16="http://schemas.microsoft.com/office/drawing/2014/main" id="{134EB22C-C128-8B67-7DC6-BCB9374BA45F}"/>
              </a:ext>
            </a:extLst>
          </p:cNvPr>
          <p:cNvPicPr>
            <a:picLocks noChangeAspect="1"/>
          </p:cNvPicPr>
          <p:nvPr/>
        </p:nvPicPr>
        <p:blipFill>
          <a:blip r:embed="rId10"/>
          <a:stretch>
            <a:fillRect/>
          </a:stretch>
        </p:blipFill>
        <p:spPr>
          <a:xfrm>
            <a:off x="4929188" y="2730030"/>
            <a:ext cx="3580081" cy="15262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617209"/>
          </a:xfrm>
          <a:prstGeom prst="rect">
            <a:avLst/>
          </a:prstGeom>
          <a:noFill/>
          <a:ln/>
        </p:spPr>
        <p:txBody>
          <a:bodyPr wrap="squar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ABSENCE DE HEADERS DE SÉCURITÉ HTTP : EXPOSITION AUX ATTAQUES WEB</a:t>
            </a:r>
            <a:endParaRPr lang="en-US" sz="1808" dirty="0"/>
          </a:p>
        </p:txBody>
      </p:sp>
      <p:sp>
        <p:nvSpPr>
          <p:cNvPr id="5" name="Shape 1"/>
          <p:cNvSpPr/>
          <p:nvPr/>
        </p:nvSpPr>
        <p:spPr>
          <a:xfrm>
            <a:off x="714375" y="1045834"/>
            <a:ext cx="3506912" cy="1821182"/>
          </a:xfrm>
          <a:prstGeom prst="rect">
            <a:avLst/>
          </a:prstGeom>
          <a:solidFill>
            <a:srgbClr val="FFFFFF"/>
          </a:solidFill>
          <a:ln/>
        </p:spPr>
        <p:txBody>
          <a:bodyPr/>
          <a:lstStyle/>
          <a:p>
            <a:endParaRPr lang="fr-FR"/>
          </a:p>
        </p:txBody>
      </p:sp>
      <p:sp>
        <p:nvSpPr>
          <p:cNvPr id="6" name="Shape 2"/>
          <p:cNvSpPr/>
          <p:nvPr/>
        </p:nvSpPr>
        <p:spPr>
          <a:xfrm>
            <a:off x="714375" y="1045834"/>
            <a:ext cx="42863" cy="1821182"/>
          </a:xfrm>
          <a:prstGeom prst="rect">
            <a:avLst/>
          </a:prstGeom>
          <a:solidFill>
            <a:srgbClr val="D32F2F"/>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857250" y="1197639"/>
            <a:ext cx="157163" cy="157163"/>
          </a:xfrm>
          <a:prstGeom prst="rect">
            <a:avLst/>
          </a:prstGeom>
        </p:spPr>
      </p:pic>
      <p:sp>
        <p:nvSpPr>
          <p:cNvPr id="8" name="Text 3"/>
          <p:cNvSpPr/>
          <p:nvPr/>
        </p:nvSpPr>
        <p:spPr>
          <a:xfrm>
            <a:off x="1014413" y="1188709"/>
            <a:ext cx="2321719"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ANALYSE DES RÉPONSES HTTP</a:t>
            </a:r>
            <a:endParaRPr lang="en-US" sz="1090" dirty="0"/>
          </a:p>
        </p:txBody>
      </p:sp>
      <p:sp>
        <p:nvSpPr>
          <p:cNvPr id="9" name="Text 4"/>
          <p:cNvSpPr/>
          <p:nvPr/>
        </p:nvSpPr>
        <p:spPr>
          <a:xfrm>
            <a:off x="857250" y="1444098"/>
            <a:ext cx="3221162" cy="128004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L'analyse des réponses HTTP via </a:t>
            </a:r>
            <a:r>
              <a:rPr lang="en-US" sz="784" b="1" dirty="0">
                <a:solidFill>
                  <a:srgbClr val="D32F2F"/>
                </a:solidFill>
                <a:latin typeface="Open Sans" pitchFamily="34" charset="0"/>
                <a:ea typeface="Open Sans" pitchFamily="34" charset="-122"/>
                <a:cs typeface="Open Sans" pitchFamily="34" charset="-120"/>
              </a:rPr>
              <a:t>curl</a:t>
            </a:r>
            <a:r>
              <a:rPr lang="en-US" sz="834" dirty="0">
                <a:solidFill>
                  <a:srgbClr val="242424"/>
                </a:solidFill>
                <a:latin typeface="Open Sans" pitchFamily="34" charset="0"/>
                <a:ea typeface="Open Sans" pitchFamily="34" charset="-122"/>
                <a:cs typeface="Open Sans" pitchFamily="34" charset="-120"/>
              </a:rPr>
              <a:t> sur l'interface d'administration révèle une absence totale de headers de sécurité modernes. 
 L'interface d'administration ne respecte pas les standards de sécurité web (OWASP), facilitant l'exploitation de failles classiques.</a:t>
            </a:r>
            <a:endParaRPr lang="en-US" sz="834" dirty="0"/>
          </a:p>
        </p:txBody>
      </p:sp>
      <p:sp>
        <p:nvSpPr>
          <p:cNvPr id="10" name="Shape 5"/>
          <p:cNvSpPr/>
          <p:nvPr/>
        </p:nvSpPr>
        <p:spPr>
          <a:xfrm>
            <a:off x="714375" y="3009891"/>
            <a:ext cx="3506912" cy="1272592"/>
          </a:xfrm>
          <a:prstGeom prst="rect">
            <a:avLst/>
          </a:prstGeom>
          <a:solidFill>
            <a:srgbClr val="FFFFFF"/>
          </a:solidFill>
          <a:ln/>
        </p:spPr>
        <p:txBody>
          <a:bodyPr/>
          <a:lstStyle/>
          <a:p>
            <a:endParaRPr lang="fr-FR"/>
          </a:p>
        </p:txBody>
      </p:sp>
      <p:sp>
        <p:nvSpPr>
          <p:cNvPr id="11" name="Shape 6"/>
          <p:cNvSpPr/>
          <p:nvPr/>
        </p:nvSpPr>
        <p:spPr>
          <a:xfrm>
            <a:off x="714375" y="3009891"/>
            <a:ext cx="42863" cy="1272592"/>
          </a:xfrm>
          <a:prstGeom prst="rect">
            <a:avLst/>
          </a:prstGeom>
          <a:solidFill>
            <a:srgbClr val="242424"/>
          </a:solidFill>
          <a:ln/>
        </p:spPr>
        <p:txBody>
          <a:bodyPr/>
          <a:lstStyle/>
          <a:p>
            <a:endParaRPr lang="fr-FR"/>
          </a:p>
        </p:txBody>
      </p:sp>
      <p:pic>
        <p:nvPicPr>
          <p:cNvPr id="12" name="Image 2" descr="preencoded.png"/>
          <p:cNvPicPr>
            <a:picLocks noChangeAspect="1"/>
          </p:cNvPicPr>
          <p:nvPr/>
        </p:nvPicPr>
        <p:blipFill>
          <a:blip r:embed="rId5"/>
          <a:stretch>
            <a:fillRect/>
          </a:stretch>
        </p:blipFill>
        <p:spPr>
          <a:xfrm>
            <a:off x="857250" y="3161695"/>
            <a:ext cx="196453" cy="157163"/>
          </a:xfrm>
          <a:prstGeom prst="rect">
            <a:avLst/>
          </a:prstGeom>
        </p:spPr>
      </p:pic>
      <p:sp>
        <p:nvSpPr>
          <p:cNvPr id="13" name="Text 7"/>
          <p:cNvSpPr/>
          <p:nvPr/>
        </p:nvSpPr>
        <p:spPr>
          <a:xfrm>
            <a:off x="1053703" y="3152766"/>
            <a:ext cx="1752005"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HEADERS MANQUANTS</a:t>
            </a:r>
            <a:endParaRPr lang="en-US" sz="1090" dirty="0"/>
          </a:p>
        </p:txBody>
      </p:sp>
      <p:pic>
        <p:nvPicPr>
          <p:cNvPr id="14" name="Image 3" descr="preencoded.png"/>
          <p:cNvPicPr>
            <a:picLocks noChangeAspect="1"/>
          </p:cNvPicPr>
          <p:nvPr/>
        </p:nvPicPr>
        <p:blipFill>
          <a:blip r:embed="rId6"/>
          <a:stretch>
            <a:fillRect/>
          </a:stretch>
        </p:blipFill>
        <p:spPr>
          <a:xfrm>
            <a:off x="857250" y="3442088"/>
            <a:ext cx="114300" cy="114300"/>
          </a:xfrm>
          <a:prstGeom prst="rect">
            <a:avLst/>
          </a:prstGeom>
        </p:spPr>
      </p:pic>
      <p:sp>
        <p:nvSpPr>
          <p:cNvPr id="15" name="Text 8"/>
          <p:cNvSpPr/>
          <p:nvPr/>
        </p:nvSpPr>
        <p:spPr>
          <a:xfrm>
            <a:off x="971550" y="3420656"/>
            <a:ext cx="934045"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X-Frame-Options</a:t>
            </a:r>
            <a:endParaRPr lang="en-US" sz="834" dirty="0"/>
          </a:p>
        </p:txBody>
      </p:sp>
      <p:pic>
        <p:nvPicPr>
          <p:cNvPr id="16" name="Image 4" descr="preencoded.png"/>
          <p:cNvPicPr>
            <a:picLocks noChangeAspect="1"/>
          </p:cNvPicPr>
          <p:nvPr/>
        </p:nvPicPr>
        <p:blipFill>
          <a:blip r:embed="rId7"/>
          <a:stretch>
            <a:fillRect/>
          </a:stretch>
        </p:blipFill>
        <p:spPr>
          <a:xfrm>
            <a:off x="857250" y="3624951"/>
            <a:ext cx="114300" cy="114300"/>
          </a:xfrm>
          <a:prstGeom prst="rect">
            <a:avLst/>
          </a:prstGeom>
        </p:spPr>
      </p:pic>
      <p:sp>
        <p:nvSpPr>
          <p:cNvPr id="17" name="Text 9"/>
          <p:cNvSpPr/>
          <p:nvPr/>
        </p:nvSpPr>
        <p:spPr>
          <a:xfrm>
            <a:off x="971550" y="3603520"/>
            <a:ext cx="1568053"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Content-Security-Policy (CSP)</a:t>
            </a:r>
            <a:endParaRPr lang="en-US" sz="834" dirty="0"/>
          </a:p>
        </p:txBody>
      </p:sp>
      <p:pic>
        <p:nvPicPr>
          <p:cNvPr id="18" name="Image 5" descr="preencoded.png"/>
          <p:cNvPicPr>
            <a:picLocks noChangeAspect="1"/>
          </p:cNvPicPr>
          <p:nvPr/>
        </p:nvPicPr>
        <p:blipFill>
          <a:blip r:embed="rId8"/>
          <a:stretch>
            <a:fillRect/>
          </a:stretch>
        </p:blipFill>
        <p:spPr>
          <a:xfrm>
            <a:off x="857250" y="3807814"/>
            <a:ext cx="114300" cy="114300"/>
          </a:xfrm>
          <a:prstGeom prst="rect">
            <a:avLst/>
          </a:prstGeom>
        </p:spPr>
      </p:pic>
      <p:sp>
        <p:nvSpPr>
          <p:cNvPr id="19" name="Text 10"/>
          <p:cNvSpPr/>
          <p:nvPr/>
        </p:nvSpPr>
        <p:spPr>
          <a:xfrm>
            <a:off x="971550" y="3786383"/>
            <a:ext cx="1312664"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X-Content-Type-Options</a:t>
            </a:r>
            <a:endParaRPr lang="en-US" sz="834" dirty="0"/>
          </a:p>
        </p:txBody>
      </p:sp>
      <p:pic>
        <p:nvPicPr>
          <p:cNvPr id="20" name="Image 6" descr="preencoded.png"/>
          <p:cNvPicPr>
            <a:picLocks noChangeAspect="1"/>
          </p:cNvPicPr>
          <p:nvPr/>
        </p:nvPicPr>
        <p:blipFill>
          <a:blip r:embed="rId6"/>
          <a:stretch>
            <a:fillRect/>
          </a:stretch>
        </p:blipFill>
        <p:spPr>
          <a:xfrm>
            <a:off x="857250" y="3990677"/>
            <a:ext cx="114300" cy="114300"/>
          </a:xfrm>
          <a:prstGeom prst="rect">
            <a:avLst/>
          </a:prstGeom>
        </p:spPr>
      </p:pic>
      <p:sp>
        <p:nvSpPr>
          <p:cNvPr id="21" name="Text 11"/>
          <p:cNvSpPr/>
          <p:nvPr/>
        </p:nvSpPr>
        <p:spPr>
          <a:xfrm>
            <a:off x="971550" y="3969246"/>
            <a:ext cx="1700213"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242424"/>
                </a:solidFill>
                <a:latin typeface="Open Sans" pitchFamily="34" charset="0"/>
                <a:ea typeface="Open Sans" pitchFamily="34" charset="-122"/>
                <a:cs typeface="Open Sans" pitchFamily="34" charset="-120"/>
              </a:rPr>
              <a:t>Strict-Transport-Security (HSTS)</a:t>
            </a:r>
            <a:endParaRPr lang="en-US" sz="834" dirty="0"/>
          </a:p>
        </p:txBody>
      </p:sp>
      <p:pic>
        <p:nvPicPr>
          <p:cNvPr id="22" name="Image 7" descr="preencoded.png"/>
          <p:cNvPicPr>
            <a:picLocks noChangeAspect="1"/>
          </p:cNvPicPr>
          <p:nvPr/>
        </p:nvPicPr>
        <p:blipFill>
          <a:blip r:embed="rId9"/>
          <a:stretch>
            <a:fillRect/>
          </a:stretch>
        </p:blipFill>
        <p:spPr>
          <a:xfrm>
            <a:off x="4507037" y="1052978"/>
            <a:ext cx="128588" cy="128588"/>
          </a:xfrm>
          <a:prstGeom prst="rect">
            <a:avLst/>
          </a:prstGeom>
        </p:spPr>
      </p:pic>
      <p:sp>
        <p:nvSpPr>
          <p:cNvPr id="23" name="Text 12"/>
          <p:cNvSpPr/>
          <p:nvPr/>
        </p:nvSpPr>
        <p:spPr>
          <a:xfrm>
            <a:off x="4635624" y="1045834"/>
            <a:ext cx="1505545"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SYNTHÈSE DES RISQUES</a:t>
            </a:r>
            <a:endParaRPr lang="en-US" sz="885" dirty="0"/>
          </a:p>
        </p:txBody>
      </p:sp>
      <p:sp>
        <p:nvSpPr>
          <p:cNvPr id="24" name="Shape 13"/>
          <p:cNvSpPr/>
          <p:nvPr/>
        </p:nvSpPr>
        <p:spPr>
          <a:xfrm>
            <a:off x="4507037" y="1269076"/>
            <a:ext cx="4208338" cy="2303859"/>
          </a:xfrm>
          <a:prstGeom prst="rect">
            <a:avLst/>
          </a:prstGeom>
          <a:solidFill>
            <a:srgbClr val="FFFFFF"/>
          </a:solidFill>
          <a:ln/>
        </p:spPr>
        <p:txBody>
          <a:bodyPr/>
          <a:lstStyle/>
          <a:p>
            <a:endParaRPr lang="fr-FR"/>
          </a:p>
        </p:txBody>
      </p:sp>
      <p:sp>
        <p:nvSpPr>
          <p:cNvPr id="25" name="Shape 14"/>
          <p:cNvSpPr/>
          <p:nvPr/>
        </p:nvSpPr>
        <p:spPr>
          <a:xfrm>
            <a:off x="4507037" y="1269076"/>
            <a:ext cx="1194457" cy="332184"/>
          </a:xfrm>
          <a:prstGeom prst="rect">
            <a:avLst/>
          </a:prstGeom>
          <a:solidFill>
            <a:srgbClr val="242424"/>
          </a:solidFill>
          <a:ln/>
        </p:spPr>
        <p:txBody>
          <a:bodyPr/>
          <a:lstStyle/>
          <a:p>
            <a:endParaRPr lang="fr-FR"/>
          </a:p>
        </p:txBody>
      </p:sp>
      <p:sp>
        <p:nvSpPr>
          <p:cNvPr id="26" name="Text 15"/>
          <p:cNvSpPr/>
          <p:nvPr/>
        </p:nvSpPr>
        <p:spPr>
          <a:xfrm>
            <a:off x="4507037" y="1269076"/>
            <a:ext cx="1194457" cy="332184"/>
          </a:xfrm>
          <a:prstGeom prst="rect">
            <a:avLst/>
          </a:prstGeom>
          <a:noFill/>
          <a:ln/>
        </p:spPr>
        <p:txBody>
          <a:bodyPr wrap="square" lIns="127508" tIns="127508" rIns="127508" bIns="127508" rtlCol="0" anchor="ctr">
            <a:spAutoFit/>
          </a:bodyPr>
          <a:lstStyle/>
          <a:p>
            <a:pPr marL="0" indent="0" algn="l">
              <a:lnSpc>
                <a:spcPts val="900"/>
              </a:lnSpc>
              <a:buNone/>
            </a:pPr>
            <a:r>
              <a:rPr lang="en-US" sz="683" b="1" dirty="0">
                <a:solidFill>
                  <a:srgbClr val="FFFFFF"/>
                </a:solidFill>
                <a:latin typeface="Roboto" pitchFamily="34" charset="0"/>
                <a:ea typeface="Roboto" pitchFamily="34" charset="-122"/>
                <a:cs typeface="Roboto" pitchFamily="34" charset="-120"/>
              </a:rPr>
              <a:t>HEADER</a:t>
            </a:r>
            <a:endParaRPr lang="en-US" sz="683" dirty="0"/>
          </a:p>
        </p:txBody>
      </p:sp>
      <p:sp>
        <p:nvSpPr>
          <p:cNvPr id="27" name="Shape 16"/>
          <p:cNvSpPr/>
          <p:nvPr/>
        </p:nvSpPr>
        <p:spPr>
          <a:xfrm>
            <a:off x="5701494" y="1269076"/>
            <a:ext cx="2349484" cy="332184"/>
          </a:xfrm>
          <a:prstGeom prst="rect">
            <a:avLst/>
          </a:prstGeom>
          <a:solidFill>
            <a:srgbClr val="242424"/>
          </a:solidFill>
          <a:ln/>
        </p:spPr>
        <p:txBody>
          <a:bodyPr/>
          <a:lstStyle/>
          <a:p>
            <a:endParaRPr lang="fr-FR"/>
          </a:p>
        </p:txBody>
      </p:sp>
      <p:sp>
        <p:nvSpPr>
          <p:cNvPr id="28" name="Text 17"/>
          <p:cNvSpPr/>
          <p:nvPr/>
        </p:nvSpPr>
        <p:spPr>
          <a:xfrm>
            <a:off x="5701494" y="1269076"/>
            <a:ext cx="2349484" cy="332184"/>
          </a:xfrm>
          <a:prstGeom prst="rect">
            <a:avLst/>
          </a:prstGeom>
          <a:noFill/>
          <a:ln/>
        </p:spPr>
        <p:txBody>
          <a:bodyPr wrap="square" lIns="127508" tIns="127508" rIns="127508" bIns="127508" rtlCol="0" anchor="ctr">
            <a:spAutoFit/>
          </a:bodyPr>
          <a:lstStyle/>
          <a:p>
            <a:pPr marL="0" indent="0" algn="l">
              <a:lnSpc>
                <a:spcPts val="900"/>
              </a:lnSpc>
              <a:buNone/>
            </a:pPr>
            <a:r>
              <a:rPr lang="en-US" sz="683" b="1" dirty="0">
                <a:solidFill>
                  <a:srgbClr val="FFFFFF"/>
                </a:solidFill>
                <a:latin typeface="Roboto" pitchFamily="34" charset="0"/>
                <a:ea typeface="Roboto" pitchFamily="34" charset="-122"/>
                <a:cs typeface="Roboto" pitchFamily="34" charset="-120"/>
              </a:rPr>
              <a:t>RISQUE ASSOCIÉ</a:t>
            </a:r>
            <a:endParaRPr lang="en-US" sz="683" dirty="0"/>
          </a:p>
        </p:txBody>
      </p:sp>
      <p:sp>
        <p:nvSpPr>
          <p:cNvPr id="29" name="Shape 18"/>
          <p:cNvSpPr/>
          <p:nvPr/>
        </p:nvSpPr>
        <p:spPr>
          <a:xfrm>
            <a:off x="8050978" y="1269076"/>
            <a:ext cx="664397" cy="332184"/>
          </a:xfrm>
          <a:prstGeom prst="rect">
            <a:avLst/>
          </a:prstGeom>
          <a:solidFill>
            <a:srgbClr val="242424"/>
          </a:solidFill>
          <a:ln/>
        </p:spPr>
        <p:txBody>
          <a:bodyPr/>
          <a:lstStyle/>
          <a:p>
            <a:endParaRPr lang="fr-FR"/>
          </a:p>
        </p:txBody>
      </p:sp>
      <p:sp>
        <p:nvSpPr>
          <p:cNvPr id="30" name="Text 19"/>
          <p:cNvSpPr/>
          <p:nvPr/>
        </p:nvSpPr>
        <p:spPr>
          <a:xfrm>
            <a:off x="8050978" y="1269076"/>
            <a:ext cx="664397" cy="332184"/>
          </a:xfrm>
          <a:prstGeom prst="rect">
            <a:avLst/>
          </a:prstGeom>
          <a:noFill/>
          <a:ln/>
        </p:spPr>
        <p:txBody>
          <a:bodyPr wrap="square" lIns="127508" tIns="127508" rIns="127508" bIns="127508" rtlCol="0" anchor="ctr">
            <a:spAutoFit/>
          </a:bodyPr>
          <a:lstStyle/>
          <a:p>
            <a:pPr marL="0" indent="0" algn="l">
              <a:lnSpc>
                <a:spcPts val="900"/>
              </a:lnSpc>
              <a:buNone/>
            </a:pPr>
            <a:r>
              <a:rPr lang="en-US" sz="683" b="1" dirty="0">
                <a:solidFill>
                  <a:srgbClr val="FFFFFF"/>
                </a:solidFill>
                <a:latin typeface="Roboto" pitchFamily="34" charset="0"/>
                <a:ea typeface="Roboto" pitchFamily="34" charset="-122"/>
                <a:cs typeface="Roboto" pitchFamily="34" charset="-120"/>
              </a:rPr>
              <a:t>SÉVÉRITÉ</a:t>
            </a:r>
            <a:endParaRPr lang="en-US" sz="683" dirty="0"/>
          </a:p>
        </p:txBody>
      </p:sp>
      <p:sp>
        <p:nvSpPr>
          <p:cNvPr id="31" name="Text 20"/>
          <p:cNvSpPr/>
          <p:nvPr/>
        </p:nvSpPr>
        <p:spPr>
          <a:xfrm>
            <a:off x="4507037" y="1601260"/>
            <a:ext cx="1194457" cy="489347"/>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X-Frame-Options</a:t>
            </a:r>
            <a:endParaRPr lang="en-US" sz="727" dirty="0"/>
          </a:p>
        </p:txBody>
      </p:sp>
      <p:sp>
        <p:nvSpPr>
          <p:cNvPr id="32" name="Text 21"/>
          <p:cNvSpPr/>
          <p:nvPr/>
        </p:nvSpPr>
        <p:spPr>
          <a:xfrm>
            <a:off x="5701494" y="1601260"/>
            <a:ext cx="2349484" cy="489347"/>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Clickjacking — Chargement dans une iframe malveillante</a:t>
            </a:r>
            <a:endParaRPr lang="en-US" sz="727" dirty="0"/>
          </a:p>
        </p:txBody>
      </p:sp>
      <p:sp>
        <p:nvSpPr>
          <p:cNvPr id="33" name="Shape 22"/>
          <p:cNvSpPr/>
          <p:nvPr/>
        </p:nvSpPr>
        <p:spPr>
          <a:xfrm>
            <a:off x="8158135" y="1763781"/>
            <a:ext cx="433983" cy="173236"/>
          </a:xfrm>
          <a:prstGeom prst="rect">
            <a:avLst/>
          </a:prstGeom>
          <a:solidFill>
            <a:srgbClr val="FF9800"/>
          </a:solidFill>
          <a:ln/>
        </p:spPr>
        <p:txBody>
          <a:bodyPr/>
          <a:lstStyle/>
          <a:p>
            <a:endParaRPr lang="fr-FR"/>
          </a:p>
        </p:txBody>
      </p:sp>
      <p:sp>
        <p:nvSpPr>
          <p:cNvPr id="34" name="Text 23"/>
          <p:cNvSpPr/>
          <p:nvPr/>
        </p:nvSpPr>
        <p:spPr>
          <a:xfrm>
            <a:off x="8158135" y="1763781"/>
            <a:ext cx="433983" cy="173236"/>
          </a:xfrm>
          <a:prstGeom prst="rect">
            <a:avLst/>
          </a:prstGeom>
          <a:noFill/>
          <a:ln/>
        </p:spPr>
        <p:txBody>
          <a:bodyPr wrap="square" lIns="68072" tIns="34036" rIns="68072" bIns="34036"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MOYEN</a:t>
            </a:r>
            <a:endParaRPr lang="en-US" sz="584" dirty="0"/>
          </a:p>
        </p:txBody>
      </p:sp>
      <p:sp>
        <p:nvSpPr>
          <p:cNvPr id="35" name="Text 24"/>
          <p:cNvSpPr/>
          <p:nvPr/>
        </p:nvSpPr>
        <p:spPr>
          <a:xfrm>
            <a:off x="4507037" y="2090607"/>
            <a:ext cx="1194457" cy="492919"/>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Content-Security-Policy</a:t>
            </a:r>
            <a:endParaRPr lang="en-US" sz="727" dirty="0"/>
          </a:p>
        </p:txBody>
      </p:sp>
      <p:sp>
        <p:nvSpPr>
          <p:cNvPr id="36" name="Text 25"/>
          <p:cNvSpPr/>
          <p:nvPr/>
        </p:nvSpPr>
        <p:spPr>
          <a:xfrm>
            <a:off x="5701494" y="2090607"/>
            <a:ext cx="2349484" cy="492919"/>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XSS — Injection de scripts non autorisés</a:t>
            </a:r>
            <a:endParaRPr lang="en-US" sz="727" dirty="0"/>
          </a:p>
        </p:txBody>
      </p:sp>
      <p:sp>
        <p:nvSpPr>
          <p:cNvPr id="37" name="Shape 26"/>
          <p:cNvSpPr/>
          <p:nvPr/>
        </p:nvSpPr>
        <p:spPr>
          <a:xfrm>
            <a:off x="8158135" y="2256699"/>
            <a:ext cx="362545" cy="173236"/>
          </a:xfrm>
          <a:prstGeom prst="rect">
            <a:avLst/>
          </a:prstGeom>
          <a:solidFill>
            <a:srgbClr val="D32F2F"/>
          </a:solidFill>
          <a:ln/>
        </p:spPr>
        <p:txBody>
          <a:bodyPr/>
          <a:lstStyle/>
          <a:p>
            <a:endParaRPr lang="fr-FR"/>
          </a:p>
        </p:txBody>
      </p:sp>
      <p:sp>
        <p:nvSpPr>
          <p:cNvPr id="38" name="Text 27"/>
          <p:cNvSpPr/>
          <p:nvPr/>
        </p:nvSpPr>
        <p:spPr>
          <a:xfrm>
            <a:off x="8158135" y="2256699"/>
            <a:ext cx="362545" cy="173236"/>
          </a:xfrm>
          <a:prstGeom prst="rect">
            <a:avLst/>
          </a:prstGeom>
          <a:noFill/>
          <a:ln/>
        </p:spPr>
        <p:txBody>
          <a:bodyPr wrap="square" lIns="68072" tIns="34036" rIns="68072" bIns="34036"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ÉLEVÉ</a:t>
            </a:r>
            <a:endParaRPr lang="en-US" sz="584" dirty="0"/>
          </a:p>
        </p:txBody>
      </p:sp>
      <p:sp>
        <p:nvSpPr>
          <p:cNvPr id="39" name="Text 28"/>
          <p:cNvSpPr/>
          <p:nvPr/>
        </p:nvSpPr>
        <p:spPr>
          <a:xfrm>
            <a:off x="4507037" y="2583526"/>
            <a:ext cx="1194457" cy="492919"/>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X-Content-Type-Options</a:t>
            </a:r>
            <a:endParaRPr lang="en-US" sz="727" dirty="0"/>
          </a:p>
        </p:txBody>
      </p:sp>
      <p:sp>
        <p:nvSpPr>
          <p:cNvPr id="40" name="Text 29"/>
          <p:cNvSpPr/>
          <p:nvPr/>
        </p:nvSpPr>
        <p:spPr>
          <a:xfrm>
            <a:off x="5701494" y="2583526"/>
            <a:ext cx="2349484" cy="492919"/>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MIME Sniffing — Exécution de contenu inattendu</a:t>
            </a:r>
            <a:endParaRPr lang="en-US" sz="727" dirty="0"/>
          </a:p>
        </p:txBody>
      </p:sp>
      <p:sp>
        <p:nvSpPr>
          <p:cNvPr id="41" name="Shape 30"/>
          <p:cNvSpPr/>
          <p:nvPr/>
        </p:nvSpPr>
        <p:spPr>
          <a:xfrm>
            <a:off x="8158135" y="2749618"/>
            <a:ext cx="433983" cy="173236"/>
          </a:xfrm>
          <a:prstGeom prst="rect">
            <a:avLst/>
          </a:prstGeom>
          <a:solidFill>
            <a:srgbClr val="FF9800"/>
          </a:solidFill>
          <a:ln/>
        </p:spPr>
        <p:txBody>
          <a:bodyPr/>
          <a:lstStyle/>
          <a:p>
            <a:endParaRPr lang="fr-FR"/>
          </a:p>
        </p:txBody>
      </p:sp>
      <p:sp>
        <p:nvSpPr>
          <p:cNvPr id="42" name="Text 31"/>
          <p:cNvSpPr/>
          <p:nvPr/>
        </p:nvSpPr>
        <p:spPr>
          <a:xfrm>
            <a:off x="8158135" y="2749618"/>
            <a:ext cx="433983" cy="173236"/>
          </a:xfrm>
          <a:prstGeom prst="rect">
            <a:avLst/>
          </a:prstGeom>
          <a:noFill/>
          <a:ln/>
        </p:spPr>
        <p:txBody>
          <a:bodyPr wrap="square" lIns="68072" tIns="34036" rIns="68072" bIns="34036"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MOYEN</a:t>
            </a:r>
            <a:endParaRPr lang="en-US" sz="584" dirty="0"/>
          </a:p>
        </p:txBody>
      </p:sp>
      <p:sp>
        <p:nvSpPr>
          <p:cNvPr id="43" name="Text 32"/>
          <p:cNvSpPr/>
          <p:nvPr/>
        </p:nvSpPr>
        <p:spPr>
          <a:xfrm>
            <a:off x="4507037" y="3076445"/>
            <a:ext cx="1194457" cy="492919"/>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Strict-Transport-Security</a:t>
            </a:r>
            <a:endParaRPr lang="en-US" sz="727" dirty="0"/>
          </a:p>
        </p:txBody>
      </p:sp>
      <p:sp>
        <p:nvSpPr>
          <p:cNvPr id="44" name="Text 33"/>
          <p:cNvSpPr/>
          <p:nvPr/>
        </p:nvSpPr>
        <p:spPr>
          <a:xfrm>
            <a:off x="5701494" y="3076445"/>
            <a:ext cx="2349484" cy="492919"/>
          </a:xfrm>
          <a:prstGeom prst="rect">
            <a:avLst/>
          </a:prstGeom>
          <a:noFill/>
          <a:ln/>
        </p:spPr>
        <p:txBody>
          <a:bodyPr wrap="square" lIns="127508" tIns="127508" rIns="127508" bIns="127508" rtlCol="0" anchor="ctr">
            <a:spAutoFit/>
          </a:bodyPr>
          <a:lstStyle/>
          <a:p>
            <a:pPr marL="0" indent="0" algn="l">
              <a:lnSpc>
                <a:spcPts val="900"/>
              </a:lnSpc>
              <a:buNone/>
            </a:pPr>
            <a:r>
              <a:rPr lang="en-US" sz="727" dirty="0">
                <a:solidFill>
                  <a:srgbClr val="242424"/>
                </a:solidFill>
                <a:latin typeface="Open Sans" pitchFamily="34" charset="0"/>
                <a:ea typeface="Open Sans" pitchFamily="34" charset="-122"/>
                <a:cs typeface="Open Sans" pitchFamily="34" charset="-120"/>
              </a:rPr>
              <a:t>Downgrade HTTPS vers HTTP non chiffré</a:t>
            </a:r>
            <a:endParaRPr lang="en-US" sz="727" dirty="0"/>
          </a:p>
        </p:txBody>
      </p:sp>
      <p:sp>
        <p:nvSpPr>
          <p:cNvPr id="45" name="Shape 34"/>
          <p:cNvSpPr/>
          <p:nvPr/>
        </p:nvSpPr>
        <p:spPr>
          <a:xfrm>
            <a:off x="8158135" y="3242537"/>
            <a:ext cx="362545" cy="173236"/>
          </a:xfrm>
          <a:prstGeom prst="rect">
            <a:avLst/>
          </a:prstGeom>
          <a:solidFill>
            <a:srgbClr val="D32F2F"/>
          </a:solidFill>
          <a:ln/>
        </p:spPr>
        <p:txBody>
          <a:bodyPr/>
          <a:lstStyle/>
          <a:p>
            <a:endParaRPr lang="fr-FR"/>
          </a:p>
        </p:txBody>
      </p:sp>
      <p:sp>
        <p:nvSpPr>
          <p:cNvPr id="46" name="Text 35"/>
          <p:cNvSpPr/>
          <p:nvPr/>
        </p:nvSpPr>
        <p:spPr>
          <a:xfrm>
            <a:off x="8158135" y="3242537"/>
            <a:ext cx="362545" cy="173236"/>
          </a:xfrm>
          <a:prstGeom prst="rect">
            <a:avLst/>
          </a:prstGeom>
          <a:noFill/>
          <a:ln/>
        </p:spPr>
        <p:txBody>
          <a:bodyPr wrap="square" lIns="68072" tIns="34036" rIns="68072" bIns="34036" rtlCol="0" anchor="t">
            <a:spAutoFit/>
          </a:bodyPr>
          <a:lstStyle/>
          <a:p>
            <a:pPr marL="0" indent="0" algn="l">
              <a:lnSpc>
                <a:spcPts val="800"/>
              </a:lnSpc>
              <a:buNone/>
            </a:pPr>
            <a:r>
              <a:rPr lang="en-US" sz="584" b="1" dirty="0">
                <a:solidFill>
                  <a:srgbClr val="FFFFFF"/>
                </a:solidFill>
                <a:latin typeface="Open Sans" pitchFamily="34" charset="0"/>
                <a:ea typeface="Open Sans" pitchFamily="34" charset="-122"/>
                <a:cs typeface="Open Sans" pitchFamily="34" charset="-120"/>
              </a:rPr>
              <a:t>ÉLEVÉ</a:t>
            </a:r>
            <a:endParaRPr lang="en-US" sz="584"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617209"/>
          </a:xfrm>
          <a:prstGeom prst="rect">
            <a:avLst/>
          </a:prstGeom>
          <a:noFill/>
          <a:ln/>
        </p:spPr>
        <p:txBody>
          <a:bodyPr wrap="squar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IMPACT — LA SEGMENTATION ICS COMPROMISE EXPOSE L'ENSEMBLE DE LA CHAÎNE</a:t>
            </a:r>
            <a:endParaRPr lang="en-US" sz="1808" dirty="0"/>
          </a:p>
        </p:txBody>
      </p:sp>
      <p:sp>
        <p:nvSpPr>
          <p:cNvPr id="5" name="Shape 1"/>
          <p:cNvSpPr/>
          <p:nvPr/>
        </p:nvSpPr>
        <p:spPr>
          <a:xfrm>
            <a:off x="714375" y="1045834"/>
            <a:ext cx="3857625" cy="537567"/>
          </a:xfrm>
          <a:prstGeom prst="rect">
            <a:avLst/>
          </a:prstGeom>
          <a:solidFill>
            <a:srgbClr val="E0E0E0"/>
          </a:solidFill>
          <a:ln/>
        </p:spPr>
        <p:txBody>
          <a:bodyPr/>
          <a:lstStyle/>
          <a:p>
            <a:endParaRPr lang="fr-FR"/>
          </a:p>
        </p:txBody>
      </p:sp>
      <p:sp>
        <p:nvSpPr>
          <p:cNvPr id="6" name="Shape 2"/>
          <p:cNvSpPr/>
          <p:nvPr/>
        </p:nvSpPr>
        <p:spPr>
          <a:xfrm>
            <a:off x="714375" y="1045834"/>
            <a:ext cx="57150" cy="537567"/>
          </a:xfrm>
          <a:prstGeom prst="rect">
            <a:avLst/>
          </a:prstGeom>
          <a:solidFill>
            <a:srgbClr val="242424"/>
          </a:solidFill>
          <a:ln/>
        </p:spPr>
        <p:txBody>
          <a:bodyPr/>
          <a:lstStyle/>
          <a:p>
            <a:endParaRPr lang="fr-FR"/>
          </a:p>
        </p:txBody>
      </p:sp>
      <p:sp>
        <p:nvSpPr>
          <p:cNvPr id="7" name="Text 3"/>
          <p:cNvSpPr/>
          <p:nvPr/>
        </p:nvSpPr>
        <p:spPr>
          <a:xfrm>
            <a:off x="821531" y="1152990"/>
            <a:ext cx="3643313"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NIVEAU 3 — OPÉRATIONS (SITE)</a:t>
            </a:r>
            <a:endParaRPr lang="en-US" sz="885" dirty="0"/>
          </a:p>
        </p:txBody>
      </p:sp>
      <p:sp>
        <p:nvSpPr>
          <p:cNvPr id="8" name="Text 4"/>
          <p:cNvSpPr/>
          <p:nvPr/>
        </p:nvSpPr>
        <p:spPr>
          <a:xfrm>
            <a:off x="821531" y="1340514"/>
            <a:ext cx="3643313"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424242"/>
                </a:solidFill>
                <a:latin typeface="Open Sans" pitchFamily="34" charset="0"/>
                <a:ea typeface="Open Sans" pitchFamily="34" charset="-122"/>
                <a:cs typeface="Open Sans" pitchFamily="34" charset="-120"/>
              </a:rPr>
              <a:t>Serveurs de production, historiens, gestion de site.</a:t>
            </a:r>
            <a:endParaRPr lang="en-US" sz="727" dirty="0"/>
          </a:p>
        </p:txBody>
      </p:sp>
      <p:sp>
        <p:nvSpPr>
          <p:cNvPr id="9" name="Shape 5"/>
          <p:cNvSpPr/>
          <p:nvPr/>
        </p:nvSpPr>
        <p:spPr>
          <a:xfrm>
            <a:off x="714375" y="1626264"/>
            <a:ext cx="3857625" cy="673298"/>
          </a:xfrm>
          <a:prstGeom prst="rect">
            <a:avLst/>
          </a:prstGeom>
          <a:solidFill>
            <a:srgbClr val="FFEBEE"/>
          </a:solidFill>
          <a:ln/>
        </p:spPr>
        <p:txBody>
          <a:bodyPr/>
          <a:lstStyle/>
          <a:p>
            <a:endParaRPr lang="fr-FR"/>
          </a:p>
        </p:txBody>
      </p:sp>
      <p:sp>
        <p:nvSpPr>
          <p:cNvPr id="10" name="Shape 6"/>
          <p:cNvSpPr/>
          <p:nvPr/>
        </p:nvSpPr>
        <p:spPr>
          <a:xfrm>
            <a:off x="714375" y="1626264"/>
            <a:ext cx="57150" cy="673298"/>
          </a:xfrm>
          <a:prstGeom prst="rect">
            <a:avLst/>
          </a:prstGeom>
          <a:solidFill>
            <a:srgbClr val="D32F2F"/>
          </a:solidFill>
          <a:ln/>
        </p:spPr>
        <p:txBody>
          <a:bodyPr/>
          <a:lstStyle/>
          <a:p>
            <a:endParaRPr lang="fr-FR"/>
          </a:p>
        </p:txBody>
      </p:sp>
      <p:sp>
        <p:nvSpPr>
          <p:cNvPr id="11" name="Text 7"/>
          <p:cNvSpPr/>
          <p:nvPr/>
        </p:nvSpPr>
        <p:spPr>
          <a:xfrm>
            <a:off x="821531" y="1733420"/>
            <a:ext cx="3643313"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D32F2F"/>
                </a:solidFill>
                <a:latin typeface="Roboto" pitchFamily="34" charset="0"/>
                <a:ea typeface="Roboto" pitchFamily="34" charset="-122"/>
                <a:cs typeface="Roboto" pitchFamily="34" charset="-120"/>
              </a:rPr>
              <a:t>NIVEAU 2 — SUPERVISION (SCADA)</a:t>
            </a:r>
            <a:endParaRPr lang="en-US" sz="885" dirty="0"/>
          </a:p>
        </p:txBody>
      </p:sp>
      <p:sp>
        <p:nvSpPr>
          <p:cNvPr id="12" name="Text 8"/>
          <p:cNvSpPr/>
          <p:nvPr/>
        </p:nvSpPr>
        <p:spPr>
          <a:xfrm>
            <a:off x="821531" y="1920943"/>
            <a:ext cx="3643313" cy="271463"/>
          </a:xfrm>
          <a:prstGeom prst="rect">
            <a:avLst/>
          </a:prstGeom>
          <a:noFill/>
          <a:ln/>
        </p:spPr>
        <p:txBody>
          <a:bodyPr wrap="square" lIns="0" tIns="0" rIns="0" bIns="0" rtlCol="0" anchor="t">
            <a:spAutoFit/>
          </a:bodyPr>
          <a:lstStyle/>
          <a:p>
            <a:pPr marL="0" indent="0" algn="l">
              <a:lnSpc>
                <a:spcPts val="900"/>
              </a:lnSpc>
              <a:buNone/>
            </a:pPr>
            <a:r>
              <a:rPr lang="en-US" sz="727" dirty="0">
                <a:solidFill>
                  <a:srgbClr val="424242"/>
                </a:solidFill>
                <a:latin typeface="Open Sans" pitchFamily="34" charset="0"/>
                <a:ea typeface="Open Sans" pitchFamily="34" charset="-122"/>
                <a:cs typeface="Open Sans" pitchFamily="34" charset="-120"/>
              </a:rPr>
              <a:t>IHM, postes de contrôle, interface web OpenPLC (Port 8080).
</a:t>
            </a:r>
            <a:r>
              <a:rPr lang="en-US" sz="683" b="1" dirty="0">
                <a:solidFill>
                  <a:srgbClr val="424242"/>
                </a:solidFill>
                <a:latin typeface="Open Sans" pitchFamily="34" charset="0"/>
                <a:ea typeface="Open Sans" pitchFamily="34" charset="-122"/>
                <a:cs typeface="Open Sans" pitchFamily="34" charset="-120"/>
              </a:rPr>
              <a:t>Point d'entrée de l'attaquant (CVE-2021-47770).</a:t>
            </a:r>
            <a:endParaRPr lang="en-US" sz="727" dirty="0"/>
          </a:p>
        </p:txBody>
      </p:sp>
      <p:pic>
        <p:nvPicPr>
          <p:cNvPr id="13" name="Image 1" descr="preencoded.png"/>
          <p:cNvPicPr>
            <a:picLocks noChangeAspect="1"/>
          </p:cNvPicPr>
          <p:nvPr/>
        </p:nvPicPr>
        <p:blipFill>
          <a:blip r:embed="rId4"/>
          <a:stretch>
            <a:fillRect/>
          </a:stretch>
        </p:blipFill>
        <p:spPr>
          <a:xfrm>
            <a:off x="4300538" y="1697701"/>
            <a:ext cx="128588" cy="171450"/>
          </a:xfrm>
          <a:prstGeom prst="rect">
            <a:avLst/>
          </a:prstGeom>
        </p:spPr>
      </p:pic>
      <p:pic>
        <p:nvPicPr>
          <p:cNvPr id="14" name="Image 2" descr="preencoded.png"/>
          <p:cNvPicPr>
            <a:picLocks noChangeAspect="1"/>
          </p:cNvPicPr>
          <p:nvPr/>
        </p:nvPicPr>
        <p:blipFill>
          <a:blip r:embed="rId5"/>
          <a:stretch>
            <a:fillRect/>
          </a:stretch>
        </p:blipFill>
        <p:spPr>
          <a:xfrm>
            <a:off x="1156395" y="2412076"/>
            <a:ext cx="128588" cy="171450"/>
          </a:xfrm>
          <a:prstGeom prst="rect">
            <a:avLst/>
          </a:prstGeom>
        </p:spPr>
      </p:pic>
      <p:sp>
        <p:nvSpPr>
          <p:cNvPr id="15" name="Text 9"/>
          <p:cNvSpPr/>
          <p:nvPr/>
        </p:nvSpPr>
        <p:spPr>
          <a:xfrm>
            <a:off x="1284982" y="2378143"/>
            <a:ext cx="2716411" cy="233958"/>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D32F2F"/>
                </a:solidFill>
                <a:latin typeface="Open Sans" pitchFamily="34" charset="0"/>
                <a:ea typeface="Open Sans" pitchFamily="34" charset="-122"/>
                <a:cs typeface="Open Sans" pitchFamily="34" charset="-120"/>
              </a:rPr>
              <a:t>VIOLATION DE SEGMENTATION</a:t>
            </a:r>
            <a:endParaRPr lang="en-US" sz="1193" dirty="0"/>
          </a:p>
        </p:txBody>
      </p:sp>
      <p:pic>
        <p:nvPicPr>
          <p:cNvPr id="16" name="Image 3" descr="preencoded.png"/>
          <p:cNvPicPr>
            <a:picLocks noChangeAspect="1"/>
          </p:cNvPicPr>
          <p:nvPr/>
        </p:nvPicPr>
        <p:blipFill>
          <a:blip r:embed="rId6"/>
          <a:stretch>
            <a:fillRect/>
          </a:stretch>
        </p:blipFill>
        <p:spPr>
          <a:xfrm>
            <a:off x="4001393" y="2412076"/>
            <a:ext cx="128588" cy="171450"/>
          </a:xfrm>
          <a:prstGeom prst="rect">
            <a:avLst/>
          </a:prstGeom>
        </p:spPr>
      </p:pic>
      <p:sp>
        <p:nvSpPr>
          <p:cNvPr id="17" name="Shape 10"/>
          <p:cNvSpPr/>
          <p:nvPr/>
        </p:nvSpPr>
        <p:spPr>
          <a:xfrm>
            <a:off x="714375" y="2690682"/>
            <a:ext cx="3857625" cy="673298"/>
          </a:xfrm>
          <a:prstGeom prst="rect">
            <a:avLst/>
          </a:prstGeom>
          <a:solidFill>
            <a:srgbClr val="FFEBEE"/>
          </a:solidFill>
          <a:ln/>
        </p:spPr>
        <p:txBody>
          <a:bodyPr/>
          <a:lstStyle/>
          <a:p>
            <a:endParaRPr lang="fr-FR"/>
          </a:p>
        </p:txBody>
      </p:sp>
      <p:sp>
        <p:nvSpPr>
          <p:cNvPr id="18" name="Shape 11"/>
          <p:cNvSpPr/>
          <p:nvPr/>
        </p:nvSpPr>
        <p:spPr>
          <a:xfrm>
            <a:off x="714375" y="2690682"/>
            <a:ext cx="57150" cy="673298"/>
          </a:xfrm>
          <a:prstGeom prst="rect">
            <a:avLst/>
          </a:prstGeom>
          <a:solidFill>
            <a:srgbClr val="D32F2F"/>
          </a:solidFill>
          <a:ln/>
        </p:spPr>
        <p:txBody>
          <a:bodyPr/>
          <a:lstStyle/>
          <a:p>
            <a:endParaRPr lang="fr-FR"/>
          </a:p>
        </p:txBody>
      </p:sp>
      <p:sp>
        <p:nvSpPr>
          <p:cNvPr id="19" name="Text 12"/>
          <p:cNvSpPr/>
          <p:nvPr/>
        </p:nvSpPr>
        <p:spPr>
          <a:xfrm>
            <a:off x="821531" y="2797839"/>
            <a:ext cx="3643313"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D32F2F"/>
                </a:solidFill>
                <a:latin typeface="Roboto" pitchFamily="34" charset="0"/>
                <a:ea typeface="Roboto" pitchFamily="34" charset="-122"/>
                <a:cs typeface="Roboto" pitchFamily="34" charset="-120"/>
              </a:rPr>
              <a:t>NIVEAU 1 — CONTRÔLE (PLC)</a:t>
            </a:r>
            <a:endParaRPr lang="en-US" sz="885" dirty="0"/>
          </a:p>
        </p:txBody>
      </p:sp>
      <p:sp>
        <p:nvSpPr>
          <p:cNvPr id="20" name="Text 13"/>
          <p:cNvSpPr/>
          <p:nvPr/>
        </p:nvSpPr>
        <p:spPr>
          <a:xfrm>
            <a:off x="821531" y="2985362"/>
            <a:ext cx="3643313" cy="271463"/>
          </a:xfrm>
          <a:prstGeom prst="rect">
            <a:avLst/>
          </a:prstGeom>
          <a:noFill/>
          <a:ln/>
        </p:spPr>
        <p:txBody>
          <a:bodyPr wrap="square" lIns="0" tIns="0" rIns="0" bIns="0" rtlCol="0" anchor="t">
            <a:spAutoFit/>
          </a:bodyPr>
          <a:lstStyle/>
          <a:p>
            <a:pPr marL="0" indent="0" algn="l">
              <a:lnSpc>
                <a:spcPts val="900"/>
              </a:lnSpc>
              <a:buNone/>
            </a:pPr>
            <a:r>
              <a:rPr lang="en-US" sz="727" dirty="0">
                <a:solidFill>
                  <a:srgbClr val="424242"/>
                </a:solidFill>
                <a:latin typeface="Open Sans" pitchFamily="34" charset="0"/>
                <a:ea typeface="Open Sans" pitchFamily="34" charset="-122"/>
                <a:cs typeface="Open Sans" pitchFamily="34" charset="-120"/>
              </a:rPr>
              <a:t>Runtime OpenPLC, exécution du code ladder, Modbus/TCP (Port 502).
</a:t>
            </a:r>
            <a:r>
              <a:rPr lang="en-US" sz="683" b="1" dirty="0">
                <a:solidFill>
                  <a:srgbClr val="424242"/>
                </a:solidFill>
                <a:latin typeface="Open Sans" pitchFamily="34" charset="0"/>
                <a:ea typeface="Open Sans" pitchFamily="34" charset="-122"/>
                <a:cs typeface="Open Sans" pitchFamily="34" charset="-120"/>
              </a:rPr>
              <a:t>Compromission totale (RCE, Buffer Overflow).</a:t>
            </a:r>
            <a:endParaRPr lang="en-US" sz="727" dirty="0"/>
          </a:p>
        </p:txBody>
      </p:sp>
      <p:sp>
        <p:nvSpPr>
          <p:cNvPr id="21" name="Shape 14"/>
          <p:cNvSpPr/>
          <p:nvPr/>
        </p:nvSpPr>
        <p:spPr>
          <a:xfrm>
            <a:off x="714375" y="3406843"/>
            <a:ext cx="3857625" cy="673298"/>
          </a:xfrm>
          <a:prstGeom prst="rect">
            <a:avLst/>
          </a:prstGeom>
          <a:solidFill>
            <a:srgbClr val="E0E0E0"/>
          </a:solidFill>
          <a:ln/>
        </p:spPr>
        <p:txBody>
          <a:bodyPr/>
          <a:lstStyle/>
          <a:p>
            <a:endParaRPr lang="fr-FR"/>
          </a:p>
        </p:txBody>
      </p:sp>
      <p:sp>
        <p:nvSpPr>
          <p:cNvPr id="22" name="Shape 15"/>
          <p:cNvSpPr/>
          <p:nvPr/>
        </p:nvSpPr>
        <p:spPr>
          <a:xfrm>
            <a:off x="714375" y="3406843"/>
            <a:ext cx="57150" cy="673298"/>
          </a:xfrm>
          <a:prstGeom prst="rect">
            <a:avLst/>
          </a:prstGeom>
          <a:solidFill>
            <a:srgbClr val="0A0A0A"/>
          </a:solidFill>
          <a:ln/>
        </p:spPr>
        <p:txBody>
          <a:bodyPr/>
          <a:lstStyle/>
          <a:p>
            <a:endParaRPr lang="fr-FR"/>
          </a:p>
        </p:txBody>
      </p:sp>
      <p:sp>
        <p:nvSpPr>
          <p:cNvPr id="23" name="Text 16"/>
          <p:cNvSpPr/>
          <p:nvPr/>
        </p:nvSpPr>
        <p:spPr>
          <a:xfrm>
            <a:off x="821531" y="3513999"/>
            <a:ext cx="3643313"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0A0A0A"/>
                </a:solidFill>
                <a:latin typeface="Roboto" pitchFamily="34" charset="0"/>
                <a:ea typeface="Roboto" pitchFamily="34" charset="-122"/>
                <a:cs typeface="Roboto" pitchFamily="34" charset="-120"/>
              </a:rPr>
              <a:t>NIVEAU 0 — PROCESSUS PHYSIQUE</a:t>
            </a:r>
            <a:endParaRPr lang="en-US" sz="885" dirty="0"/>
          </a:p>
        </p:txBody>
      </p:sp>
      <p:sp>
        <p:nvSpPr>
          <p:cNvPr id="24" name="Text 17"/>
          <p:cNvSpPr/>
          <p:nvPr/>
        </p:nvSpPr>
        <p:spPr>
          <a:xfrm>
            <a:off x="821531" y="3701523"/>
            <a:ext cx="3643313" cy="271463"/>
          </a:xfrm>
          <a:prstGeom prst="rect">
            <a:avLst/>
          </a:prstGeom>
          <a:noFill/>
          <a:ln/>
        </p:spPr>
        <p:txBody>
          <a:bodyPr wrap="square" lIns="0" tIns="0" rIns="0" bIns="0" rtlCol="0" anchor="t">
            <a:spAutoFit/>
          </a:bodyPr>
          <a:lstStyle/>
          <a:p>
            <a:pPr marL="0" indent="0" algn="l">
              <a:lnSpc>
                <a:spcPts val="900"/>
              </a:lnSpc>
              <a:buNone/>
            </a:pPr>
            <a:r>
              <a:rPr lang="en-US" sz="727" dirty="0">
                <a:solidFill>
                  <a:srgbClr val="424242"/>
                </a:solidFill>
                <a:latin typeface="Open Sans" pitchFamily="34" charset="0"/>
                <a:ea typeface="Open Sans" pitchFamily="34" charset="-122"/>
                <a:cs typeface="Open Sans" pitchFamily="34" charset="-120"/>
              </a:rPr>
              <a:t>Capteurs, actionneurs, moteurs, vannes.
</a:t>
            </a:r>
            <a:r>
              <a:rPr lang="en-US" sz="683" b="1" dirty="0">
                <a:solidFill>
                  <a:srgbClr val="424242"/>
                </a:solidFill>
                <a:latin typeface="Open Sans" pitchFamily="34" charset="0"/>
                <a:ea typeface="Open Sans" pitchFamily="34" charset="-122"/>
                <a:cs typeface="Open Sans" pitchFamily="34" charset="-120"/>
              </a:rPr>
              <a:t>Exposés aux manipulations directes.</a:t>
            </a:r>
            <a:endParaRPr lang="en-US" sz="727" dirty="0"/>
          </a:p>
        </p:txBody>
      </p:sp>
      <p:sp>
        <p:nvSpPr>
          <p:cNvPr id="25" name="Shape 18"/>
          <p:cNvSpPr/>
          <p:nvPr/>
        </p:nvSpPr>
        <p:spPr>
          <a:xfrm>
            <a:off x="4857750" y="1045834"/>
            <a:ext cx="3857625" cy="1078706"/>
          </a:xfrm>
          <a:prstGeom prst="rect">
            <a:avLst/>
          </a:prstGeom>
          <a:solidFill>
            <a:srgbClr val="FFFFFF"/>
          </a:solidFill>
          <a:ln/>
        </p:spPr>
        <p:txBody>
          <a:bodyPr/>
          <a:lstStyle/>
          <a:p>
            <a:endParaRPr lang="fr-FR"/>
          </a:p>
        </p:txBody>
      </p:sp>
      <p:sp>
        <p:nvSpPr>
          <p:cNvPr id="26" name="Shape 19"/>
          <p:cNvSpPr/>
          <p:nvPr/>
        </p:nvSpPr>
        <p:spPr>
          <a:xfrm>
            <a:off x="4857750" y="1045834"/>
            <a:ext cx="28575" cy="1078706"/>
          </a:xfrm>
          <a:prstGeom prst="rect">
            <a:avLst/>
          </a:prstGeom>
          <a:solidFill>
            <a:srgbClr val="D32F2F"/>
          </a:solidFill>
          <a:ln/>
        </p:spPr>
        <p:txBody>
          <a:bodyPr/>
          <a:lstStyle/>
          <a:p>
            <a:endParaRPr lang="fr-FR"/>
          </a:p>
        </p:txBody>
      </p:sp>
      <p:sp>
        <p:nvSpPr>
          <p:cNvPr id="27" name="Text 20"/>
          <p:cNvSpPr/>
          <p:nvPr/>
        </p:nvSpPr>
        <p:spPr>
          <a:xfrm>
            <a:off x="4857750" y="1045834"/>
            <a:ext cx="3857625" cy="1078706"/>
          </a:xfrm>
          <a:prstGeom prst="rect">
            <a:avLst/>
          </a:prstGeom>
          <a:noFill/>
          <a:ln/>
        </p:spPr>
        <p:txBody>
          <a:bodyPr wrap="square" lIns="68072" tIns="68072" rIns="68072" bIns="68072" rtlCol="0" anchor="t">
            <a:spAutoFit/>
          </a:bodyPr>
          <a:lstStyle/>
          <a:p>
            <a:pPr marL="0" indent="0" algn="l">
              <a:lnSpc>
                <a:spcPts val="1500"/>
              </a:lnSpc>
              <a:buNone/>
            </a:pPr>
            <a:r>
              <a:rPr lang="en-US" sz="942" dirty="0">
                <a:solidFill>
                  <a:srgbClr val="242424"/>
                </a:solidFill>
                <a:latin typeface="Open Sans" pitchFamily="34" charset="0"/>
                <a:ea typeface="Open Sans" pitchFamily="34" charset="-122"/>
                <a:cs typeface="Open Sans" pitchFamily="34" charset="-120"/>
              </a:rPr>
              <a:t>L'architecture d'OpenPLC v3 fusionne l'interface web (Niveau 2) et le runtime PLC (Niveau 1) sur le même système hôte. Une compromission de l'interface web entraîne </a:t>
            </a:r>
            <a:r>
              <a:rPr lang="en-US" sz="885" b="1" dirty="0">
                <a:solidFill>
                  <a:srgbClr val="242424"/>
                </a:solidFill>
                <a:latin typeface="Open Sans" pitchFamily="34" charset="0"/>
                <a:ea typeface="Open Sans" pitchFamily="34" charset="-122"/>
                <a:cs typeface="Open Sans" pitchFamily="34" charset="-120"/>
              </a:rPr>
              <a:t>immédiatement</a:t>
            </a:r>
            <a:r>
              <a:rPr lang="en-US" sz="942" dirty="0">
                <a:solidFill>
                  <a:srgbClr val="242424"/>
                </a:solidFill>
                <a:latin typeface="Open Sans" pitchFamily="34" charset="0"/>
                <a:ea typeface="Open Sans" pitchFamily="34" charset="-122"/>
                <a:cs typeface="Open Sans" pitchFamily="34" charset="-120"/>
              </a:rPr>
              <a:t> la chute du niveau de contrôle, brisant le principe de défense en profondeur du modèle Purdue.</a:t>
            </a:r>
            <a:endParaRPr lang="en-US" sz="942" dirty="0"/>
          </a:p>
        </p:txBody>
      </p:sp>
      <p:sp>
        <p:nvSpPr>
          <p:cNvPr id="28" name="Shape 21"/>
          <p:cNvSpPr/>
          <p:nvPr/>
        </p:nvSpPr>
        <p:spPr>
          <a:xfrm>
            <a:off x="4857750" y="2167403"/>
            <a:ext cx="3857625" cy="1067991"/>
          </a:xfrm>
          <a:prstGeom prst="rect">
            <a:avLst/>
          </a:prstGeom>
          <a:solidFill>
            <a:srgbClr val="FFFFFF"/>
          </a:solidFill>
          <a:ln/>
        </p:spPr>
        <p:txBody>
          <a:bodyPr/>
          <a:lstStyle/>
          <a:p>
            <a:endParaRPr lang="fr-FR"/>
          </a:p>
        </p:txBody>
      </p:sp>
      <p:sp>
        <p:nvSpPr>
          <p:cNvPr id="29" name="Shape 22"/>
          <p:cNvSpPr/>
          <p:nvPr/>
        </p:nvSpPr>
        <p:spPr>
          <a:xfrm>
            <a:off x="4857750" y="2167403"/>
            <a:ext cx="3857625" cy="28575"/>
          </a:xfrm>
          <a:prstGeom prst="rect">
            <a:avLst/>
          </a:prstGeom>
          <a:solidFill>
            <a:srgbClr val="D32F2F"/>
          </a:solidFill>
          <a:ln/>
        </p:spPr>
        <p:txBody>
          <a:bodyPr/>
          <a:lstStyle/>
          <a:p>
            <a:endParaRPr lang="fr-FR"/>
          </a:p>
        </p:txBody>
      </p:sp>
      <p:pic>
        <p:nvPicPr>
          <p:cNvPr id="30" name="Image 4" descr="preencoded.png"/>
          <p:cNvPicPr>
            <a:picLocks noChangeAspect="1"/>
          </p:cNvPicPr>
          <p:nvPr/>
        </p:nvPicPr>
        <p:blipFill>
          <a:blip r:embed="rId7"/>
          <a:stretch>
            <a:fillRect/>
          </a:stretch>
        </p:blipFill>
        <p:spPr>
          <a:xfrm>
            <a:off x="4943475" y="2253128"/>
            <a:ext cx="257175" cy="228600"/>
          </a:xfrm>
          <a:prstGeom prst="rect">
            <a:avLst/>
          </a:prstGeom>
        </p:spPr>
      </p:pic>
      <p:sp>
        <p:nvSpPr>
          <p:cNvPr id="31" name="Text 23"/>
          <p:cNvSpPr/>
          <p:nvPr/>
        </p:nvSpPr>
        <p:spPr>
          <a:xfrm>
            <a:off x="5307806" y="2253128"/>
            <a:ext cx="3321844"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D32F2F"/>
                </a:solidFill>
                <a:latin typeface="Roboto" pitchFamily="34" charset="0"/>
                <a:ea typeface="Roboto" pitchFamily="34" charset="-122"/>
                <a:cs typeface="Roboto" pitchFamily="34" charset="-120"/>
              </a:rPr>
              <a:t>SABOTAGE PHYSIQUE</a:t>
            </a:r>
            <a:endParaRPr lang="en-US" sz="987" dirty="0"/>
          </a:p>
        </p:txBody>
      </p:sp>
      <p:sp>
        <p:nvSpPr>
          <p:cNvPr id="32" name="Text 24"/>
          <p:cNvSpPr/>
          <p:nvPr/>
        </p:nvSpPr>
        <p:spPr>
          <a:xfrm>
            <a:off x="5307806" y="2478156"/>
            <a:ext cx="3321844" cy="642938"/>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24242"/>
                </a:solidFill>
                <a:latin typeface="Open Sans" pitchFamily="34" charset="0"/>
                <a:ea typeface="Open Sans" pitchFamily="34" charset="-122"/>
                <a:cs typeface="Open Sans" pitchFamily="34" charset="-120"/>
              </a:rPr>
              <a:t>Manipulation directe des registres Modbus (Coils/Registers) permettant d'altérer le comportement des actionneurs (vannes, moteurs) au-delà des seuils de sécurité, risquant la destruction matérielle.</a:t>
            </a:r>
            <a:endParaRPr lang="en-US" sz="780" dirty="0"/>
          </a:p>
        </p:txBody>
      </p:sp>
      <p:sp>
        <p:nvSpPr>
          <p:cNvPr id="33" name="Shape 25"/>
          <p:cNvSpPr/>
          <p:nvPr/>
        </p:nvSpPr>
        <p:spPr>
          <a:xfrm>
            <a:off x="4857750" y="3249681"/>
            <a:ext cx="3857625" cy="907256"/>
          </a:xfrm>
          <a:prstGeom prst="rect">
            <a:avLst/>
          </a:prstGeom>
          <a:solidFill>
            <a:srgbClr val="FFFFFF"/>
          </a:solidFill>
          <a:ln/>
        </p:spPr>
        <p:txBody>
          <a:bodyPr/>
          <a:lstStyle/>
          <a:p>
            <a:endParaRPr lang="fr-FR"/>
          </a:p>
        </p:txBody>
      </p:sp>
      <p:sp>
        <p:nvSpPr>
          <p:cNvPr id="34" name="Shape 26"/>
          <p:cNvSpPr/>
          <p:nvPr/>
        </p:nvSpPr>
        <p:spPr>
          <a:xfrm>
            <a:off x="4857750" y="3249681"/>
            <a:ext cx="3857625" cy="28575"/>
          </a:xfrm>
          <a:prstGeom prst="rect">
            <a:avLst/>
          </a:prstGeom>
          <a:solidFill>
            <a:srgbClr val="D32F2F"/>
          </a:solidFill>
          <a:ln/>
        </p:spPr>
        <p:txBody>
          <a:bodyPr/>
          <a:lstStyle/>
          <a:p>
            <a:endParaRPr lang="fr-FR"/>
          </a:p>
        </p:txBody>
      </p:sp>
      <p:pic>
        <p:nvPicPr>
          <p:cNvPr id="35" name="Image 5" descr="preencoded.png"/>
          <p:cNvPicPr>
            <a:picLocks noChangeAspect="1"/>
          </p:cNvPicPr>
          <p:nvPr/>
        </p:nvPicPr>
        <p:blipFill>
          <a:blip r:embed="rId8"/>
          <a:stretch>
            <a:fillRect/>
          </a:stretch>
        </p:blipFill>
        <p:spPr>
          <a:xfrm>
            <a:off x="4943475" y="3335406"/>
            <a:ext cx="228600" cy="228600"/>
          </a:xfrm>
          <a:prstGeom prst="rect">
            <a:avLst/>
          </a:prstGeom>
        </p:spPr>
      </p:pic>
      <p:sp>
        <p:nvSpPr>
          <p:cNvPr id="36" name="Text 27"/>
          <p:cNvSpPr/>
          <p:nvPr/>
        </p:nvSpPr>
        <p:spPr>
          <a:xfrm>
            <a:off x="5279231" y="3335406"/>
            <a:ext cx="3350419"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D32F2F"/>
                </a:solidFill>
                <a:latin typeface="Roboto" pitchFamily="34" charset="0"/>
                <a:ea typeface="Roboto" pitchFamily="34" charset="-122"/>
                <a:cs typeface="Roboto" pitchFamily="34" charset="-120"/>
              </a:rPr>
              <a:t>ARRÊT DE PRODUCTION (DOS)</a:t>
            </a:r>
            <a:endParaRPr lang="en-US" sz="987" dirty="0"/>
          </a:p>
        </p:txBody>
      </p:sp>
      <p:sp>
        <p:nvSpPr>
          <p:cNvPr id="37" name="Text 28"/>
          <p:cNvSpPr/>
          <p:nvPr/>
        </p:nvSpPr>
        <p:spPr>
          <a:xfrm>
            <a:off x="5279231" y="3560434"/>
            <a:ext cx="3350419"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24242"/>
                </a:solidFill>
                <a:latin typeface="Open Sans" pitchFamily="34" charset="0"/>
                <a:ea typeface="Open Sans" pitchFamily="34" charset="-122"/>
                <a:cs typeface="Open Sans" pitchFamily="34" charset="-120"/>
              </a:rPr>
              <a:t>Exploitation des vulnérabilités de déni de service (CVE-2024-36980, CVE-2024-36981) pour crasher le runtime PLC, entraînant un arrêt immédiat et non planifié de la chaîne de production.</a:t>
            </a:r>
            <a:endParaRPr lang="en-US" sz="780" dirty="0"/>
          </a:p>
        </p:txBody>
      </p:sp>
      <p:sp>
        <p:nvSpPr>
          <p:cNvPr id="38" name="Shape 29"/>
          <p:cNvSpPr/>
          <p:nvPr/>
        </p:nvSpPr>
        <p:spPr>
          <a:xfrm>
            <a:off x="4857750" y="4171224"/>
            <a:ext cx="3857625" cy="907256"/>
          </a:xfrm>
          <a:prstGeom prst="rect">
            <a:avLst/>
          </a:prstGeom>
          <a:solidFill>
            <a:srgbClr val="FFFFFF"/>
          </a:solidFill>
          <a:ln/>
        </p:spPr>
        <p:txBody>
          <a:bodyPr/>
          <a:lstStyle/>
          <a:p>
            <a:endParaRPr lang="fr-FR"/>
          </a:p>
        </p:txBody>
      </p:sp>
      <p:sp>
        <p:nvSpPr>
          <p:cNvPr id="39" name="Shape 30"/>
          <p:cNvSpPr/>
          <p:nvPr/>
        </p:nvSpPr>
        <p:spPr>
          <a:xfrm>
            <a:off x="4857750" y="4171224"/>
            <a:ext cx="3857625" cy="28575"/>
          </a:xfrm>
          <a:prstGeom prst="rect">
            <a:avLst/>
          </a:prstGeom>
          <a:solidFill>
            <a:srgbClr val="242424"/>
          </a:solidFill>
          <a:ln/>
        </p:spPr>
        <p:txBody>
          <a:bodyPr/>
          <a:lstStyle/>
          <a:p>
            <a:endParaRPr lang="fr-FR"/>
          </a:p>
        </p:txBody>
      </p:sp>
      <p:pic>
        <p:nvPicPr>
          <p:cNvPr id="40" name="Image 6" descr="preencoded.png"/>
          <p:cNvPicPr>
            <a:picLocks noChangeAspect="1"/>
          </p:cNvPicPr>
          <p:nvPr/>
        </p:nvPicPr>
        <p:blipFill>
          <a:blip r:embed="rId9"/>
          <a:stretch>
            <a:fillRect/>
          </a:stretch>
        </p:blipFill>
        <p:spPr>
          <a:xfrm>
            <a:off x="4943475" y="4256949"/>
            <a:ext cx="200025" cy="228600"/>
          </a:xfrm>
          <a:prstGeom prst="rect">
            <a:avLst/>
          </a:prstGeom>
        </p:spPr>
      </p:pic>
      <p:sp>
        <p:nvSpPr>
          <p:cNvPr id="41" name="Text 31"/>
          <p:cNvSpPr/>
          <p:nvPr/>
        </p:nvSpPr>
        <p:spPr>
          <a:xfrm>
            <a:off x="5250656" y="4256949"/>
            <a:ext cx="3378994" cy="167878"/>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A0A0A"/>
                </a:solidFill>
                <a:latin typeface="Roboto" pitchFamily="34" charset="0"/>
                <a:ea typeface="Roboto" pitchFamily="34" charset="-122"/>
                <a:cs typeface="Roboto" pitchFamily="34" charset="-120"/>
              </a:rPr>
              <a:t>EXFILTRATION DE DONNÉES</a:t>
            </a:r>
            <a:endParaRPr lang="en-US" sz="987" dirty="0"/>
          </a:p>
        </p:txBody>
      </p:sp>
      <p:sp>
        <p:nvSpPr>
          <p:cNvPr id="42" name="Text 32"/>
          <p:cNvSpPr/>
          <p:nvPr/>
        </p:nvSpPr>
        <p:spPr>
          <a:xfrm>
            <a:off x="5250656" y="4481978"/>
            <a:ext cx="3378994" cy="482203"/>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24242"/>
                </a:solidFill>
                <a:latin typeface="Open Sans" pitchFamily="34" charset="0"/>
                <a:ea typeface="Open Sans" pitchFamily="34" charset="-122"/>
                <a:cs typeface="Open Sans" pitchFamily="34" charset="-120"/>
              </a:rPr>
              <a:t>Accès à la base de données SQLite interne et aux programmes ladder, permettant le vol de propriété intellectuelle (recettes industrielles, logiques de contrôle propriétaires).</a:t>
            </a:r>
            <a:endParaRPr lang="en-US" sz="780" dirty="0"/>
          </a:p>
        </p:txBody>
      </p:sp>
    </p:spTree>
    <p:extLst>
      <p:ext uri="{BB962C8B-B14F-4D97-AF65-F5344CB8AC3E}">
        <p14:creationId xmlns:p14="http://schemas.microsoft.com/office/powerpoint/2010/main" val="466445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p:cNvSpPr/>
          <p:nvPr/>
        </p:nvSpPr>
        <p:spPr>
          <a:xfrm>
            <a:off x="714375" y="285750"/>
            <a:ext cx="8001000" cy="617209"/>
          </a:xfrm>
          <a:prstGeom prst="rect">
            <a:avLst/>
          </a:prstGeom>
          <a:noFill/>
          <a:ln/>
        </p:spPr>
        <p:txBody>
          <a:bodyPr wrap="squar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ARCHITECTURE SCALABLE : JUSTIFICATION DES CHOIX D'INFRASTRUCTURE</a:t>
            </a:r>
            <a:endParaRPr lang="en-US" sz="1808" dirty="0"/>
          </a:p>
        </p:txBody>
      </p:sp>
      <p:sp>
        <p:nvSpPr>
          <p:cNvPr id="5" name="Shape 1"/>
          <p:cNvSpPr/>
          <p:nvPr/>
        </p:nvSpPr>
        <p:spPr>
          <a:xfrm>
            <a:off x="714375" y="1045834"/>
            <a:ext cx="3857625" cy="1716900"/>
          </a:xfrm>
          <a:prstGeom prst="rect">
            <a:avLst/>
          </a:prstGeom>
          <a:solidFill>
            <a:srgbClr val="FFFFFF"/>
          </a:solidFill>
          <a:ln/>
        </p:spPr>
        <p:txBody>
          <a:bodyPr/>
          <a:lstStyle/>
          <a:p>
            <a:endParaRPr lang="fr-FR"/>
          </a:p>
        </p:txBody>
      </p:sp>
      <p:sp>
        <p:nvSpPr>
          <p:cNvPr id="6" name="Shape 2"/>
          <p:cNvSpPr/>
          <p:nvPr/>
        </p:nvSpPr>
        <p:spPr>
          <a:xfrm>
            <a:off x="714375" y="1045834"/>
            <a:ext cx="3857625" cy="42863"/>
          </a:xfrm>
          <a:prstGeom prst="rect">
            <a:avLst/>
          </a:prstGeom>
          <a:solidFill>
            <a:srgbClr val="D32F2F"/>
          </a:solidFill>
          <a:ln/>
        </p:spPr>
        <p:txBody>
          <a:bodyPr/>
          <a:lstStyle/>
          <a:p>
            <a:endParaRPr lang="fr-FR"/>
          </a:p>
        </p:txBody>
      </p:sp>
      <p:pic>
        <p:nvPicPr>
          <p:cNvPr id="7" name="Image 1" descr="preencoded.png"/>
          <p:cNvPicPr>
            <a:picLocks noChangeAspect="1"/>
          </p:cNvPicPr>
          <p:nvPr/>
        </p:nvPicPr>
        <p:blipFill>
          <a:blip r:embed="rId3"/>
          <a:stretch>
            <a:fillRect/>
          </a:stretch>
        </p:blipFill>
        <p:spPr>
          <a:xfrm>
            <a:off x="857250" y="1202103"/>
            <a:ext cx="176808" cy="157163"/>
          </a:xfrm>
          <a:prstGeom prst="rect">
            <a:avLst/>
          </a:prstGeom>
        </p:spPr>
      </p:pic>
      <p:sp>
        <p:nvSpPr>
          <p:cNvPr id="8" name="Text 3"/>
          <p:cNvSpPr/>
          <p:nvPr/>
        </p:nvSpPr>
        <p:spPr>
          <a:xfrm>
            <a:off x="1105495" y="1188709"/>
            <a:ext cx="1984177"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CHOIX D'INFRASTRUCTURE</a:t>
            </a:r>
            <a:endParaRPr lang="en-US" sz="1090" dirty="0"/>
          </a:p>
        </p:txBody>
      </p:sp>
      <p:sp>
        <p:nvSpPr>
          <p:cNvPr id="9" name="Text 4"/>
          <p:cNvSpPr/>
          <p:nvPr/>
        </p:nvSpPr>
        <p:spPr>
          <a:xfrm>
            <a:off x="857250" y="1479817"/>
            <a:ext cx="3571875" cy="109718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Utilisation de la </a:t>
            </a:r>
            <a:r>
              <a:rPr lang="en-US" sz="784" b="1" dirty="0">
                <a:solidFill>
                  <a:srgbClr val="D32F2F"/>
                </a:solidFill>
                <a:latin typeface="Open Sans" pitchFamily="34" charset="0"/>
                <a:ea typeface="Open Sans" pitchFamily="34" charset="-122"/>
                <a:cs typeface="Open Sans" pitchFamily="34" charset="-120"/>
              </a:rPr>
              <a:t>conteneurisation (Docker)</a:t>
            </a:r>
            <a:r>
              <a:rPr lang="en-US" sz="834" dirty="0">
                <a:solidFill>
                  <a:srgbClr val="424242"/>
                </a:solidFill>
                <a:latin typeface="Open Sans" pitchFamily="34" charset="0"/>
                <a:ea typeface="Open Sans" pitchFamily="34" charset="-122"/>
                <a:cs typeface="Open Sans" pitchFamily="34" charset="-120"/>
              </a:rPr>
              <a:t> pour isoler les instances OpenPLC et faciliter le déploiement massif. 
 Cette approche permet une </a:t>
            </a:r>
            <a:r>
              <a:rPr lang="en-US" sz="784" b="1" dirty="0">
                <a:solidFill>
                  <a:srgbClr val="D32F2F"/>
                </a:solidFill>
                <a:latin typeface="Open Sans" pitchFamily="34" charset="0"/>
                <a:ea typeface="Open Sans" pitchFamily="34" charset="-122"/>
                <a:cs typeface="Open Sans" pitchFamily="34" charset="-120"/>
              </a:rPr>
              <a:t>scalabilité horizontale</a:t>
            </a:r>
            <a:r>
              <a:rPr lang="en-US" sz="834" dirty="0">
                <a:solidFill>
                  <a:srgbClr val="424242"/>
                </a:solidFill>
                <a:latin typeface="Open Sans" pitchFamily="34" charset="0"/>
                <a:ea typeface="Open Sans" pitchFamily="34" charset="-122"/>
                <a:cs typeface="Open Sans" pitchFamily="34" charset="-120"/>
              </a:rPr>
              <a:t>, où chaque automate virtuel peut être géré, mis à jour et surveillé indépendamment.</a:t>
            </a:r>
            <a:endParaRPr lang="en-US" sz="834" dirty="0"/>
          </a:p>
        </p:txBody>
      </p:sp>
      <p:sp>
        <p:nvSpPr>
          <p:cNvPr id="10" name="Shape 5"/>
          <p:cNvSpPr/>
          <p:nvPr/>
        </p:nvSpPr>
        <p:spPr>
          <a:xfrm>
            <a:off x="714375" y="2862746"/>
            <a:ext cx="3857625" cy="1168310"/>
          </a:xfrm>
          <a:prstGeom prst="rect">
            <a:avLst/>
          </a:prstGeom>
          <a:solidFill>
            <a:srgbClr val="FFFFFF"/>
          </a:solidFill>
          <a:ln/>
        </p:spPr>
        <p:txBody>
          <a:bodyPr/>
          <a:lstStyle/>
          <a:p>
            <a:endParaRPr lang="fr-FR"/>
          </a:p>
        </p:txBody>
      </p:sp>
      <p:sp>
        <p:nvSpPr>
          <p:cNvPr id="11" name="Shape 6"/>
          <p:cNvSpPr/>
          <p:nvPr/>
        </p:nvSpPr>
        <p:spPr>
          <a:xfrm>
            <a:off x="714375" y="2862746"/>
            <a:ext cx="3857625" cy="42863"/>
          </a:xfrm>
          <a:prstGeom prst="rect">
            <a:avLst/>
          </a:prstGeom>
          <a:solidFill>
            <a:srgbClr val="242424"/>
          </a:solidFill>
          <a:ln/>
        </p:spPr>
        <p:txBody>
          <a:bodyPr/>
          <a:lstStyle/>
          <a:p>
            <a:endParaRPr lang="fr-FR"/>
          </a:p>
        </p:txBody>
      </p:sp>
      <p:pic>
        <p:nvPicPr>
          <p:cNvPr id="12" name="Image 2" descr="preencoded.png"/>
          <p:cNvPicPr>
            <a:picLocks noChangeAspect="1"/>
          </p:cNvPicPr>
          <p:nvPr/>
        </p:nvPicPr>
        <p:blipFill>
          <a:blip r:embed="rId4"/>
          <a:stretch>
            <a:fillRect/>
          </a:stretch>
        </p:blipFill>
        <p:spPr>
          <a:xfrm>
            <a:off x="857250" y="3019016"/>
            <a:ext cx="157163" cy="157163"/>
          </a:xfrm>
          <a:prstGeom prst="rect">
            <a:avLst/>
          </a:prstGeom>
        </p:spPr>
      </p:pic>
      <p:sp>
        <p:nvSpPr>
          <p:cNvPr id="13" name="Text 7"/>
          <p:cNvSpPr/>
          <p:nvPr/>
        </p:nvSpPr>
        <p:spPr>
          <a:xfrm>
            <a:off x="1085850" y="3005621"/>
            <a:ext cx="1466255"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DÉPLOIEMENT EDGE</a:t>
            </a:r>
            <a:endParaRPr lang="en-US" sz="1090" dirty="0"/>
          </a:p>
        </p:txBody>
      </p:sp>
      <p:sp>
        <p:nvSpPr>
          <p:cNvPr id="14" name="Text 8"/>
          <p:cNvSpPr/>
          <p:nvPr/>
        </p:nvSpPr>
        <p:spPr>
          <a:xfrm>
            <a:off x="857250" y="3296729"/>
            <a:ext cx="3571875" cy="54859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Positionnement des instances au plus près des processus physiques (Edge Computing) pour garantir une </a:t>
            </a:r>
            <a:r>
              <a:rPr lang="en-US" sz="784" b="1" dirty="0">
                <a:solidFill>
                  <a:srgbClr val="D32F2F"/>
                </a:solidFill>
                <a:latin typeface="Open Sans" pitchFamily="34" charset="0"/>
                <a:ea typeface="Open Sans" pitchFamily="34" charset="-122"/>
                <a:cs typeface="Open Sans" pitchFamily="34" charset="-120"/>
              </a:rPr>
              <a:t>latence minimale</a:t>
            </a:r>
            <a:r>
              <a:rPr lang="en-US" sz="834" dirty="0">
                <a:solidFill>
                  <a:srgbClr val="424242"/>
                </a:solidFill>
                <a:latin typeface="Open Sans" pitchFamily="34" charset="0"/>
                <a:ea typeface="Open Sans" pitchFamily="34" charset="-122"/>
                <a:cs typeface="Open Sans" pitchFamily="34" charset="-120"/>
              </a:rPr>
              <a:t> indispensable aux protocoles industriels (Modbus, EtherNet/IP).</a:t>
            </a:r>
            <a:endParaRPr lang="en-US" sz="834" dirty="0"/>
          </a:p>
        </p:txBody>
      </p:sp>
      <p:sp>
        <p:nvSpPr>
          <p:cNvPr id="15" name="Shape 9"/>
          <p:cNvSpPr/>
          <p:nvPr/>
        </p:nvSpPr>
        <p:spPr>
          <a:xfrm>
            <a:off x="4857750" y="1045834"/>
            <a:ext cx="3857625" cy="1351173"/>
          </a:xfrm>
          <a:prstGeom prst="rect">
            <a:avLst/>
          </a:prstGeom>
          <a:solidFill>
            <a:srgbClr val="FFFFFF"/>
          </a:solidFill>
          <a:ln/>
        </p:spPr>
        <p:txBody>
          <a:bodyPr/>
          <a:lstStyle/>
          <a:p>
            <a:endParaRPr lang="fr-FR"/>
          </a:p>
        </p:txBody>
      </p:sp>
      <p:sp>
        <p:nvSpPr>
          <p:cNvPr id="16" name="Shape 10"/>
          <p:cNvSpPr/>
          <p:nvPr/>
        </p:nvSpPr>
        <p:spPr>
          <a:xfrm>
            <a:off x="4857750" y="1045834"/>
            <a:ext cx="3857625" cy="42863"/>
          </a:xfrm>
          <a:prstGeom prst="rect">
            <a:avLst/>
          </a:prstGeom>
          <a:solidFill>
            <a:srgbClr val="242424"/>
          </a:solidFill>
          <a:ln/>
        </p:spPr>
        <p:txBody>
          <a:bodyPr/>
          <a:lstStyle/>
          <a:p>
            <a:endParaRPr lang="fr-FR"/>
          </a:p>
        </p:txBody>
      </p:sp>
      <p:pic>
        <p:nvPicPr>
          <p:cNvPr id="17" name="Image 3" descr="preencoded.png"/>
          <p:cNvPicPr>
            <a:picLocks noChangeAspect="1"/>
          </p:cNvPicPr>
          <p:nvPr/>
        </p:nvPicPr>
        <p:blipFill>
          <a:blip r:embed="rId5"/>
          <a:stretch>
            <a:fillRect/>
          </a:stretch>
        </p:blipFill>
        <p:spPr>
          <a:xfrm>
            <a:off x="5000625" y="1202103"/>
            <a:ext cx="137517" cy="157163"/>
          </a:xfrm>
          <a:prstGeom prst="rect">
            <a:avLst/>
          </a:prstGeom>
        </p:spPr>
      </p:pic>
      <p:sp>
        <p:nvSpPr>
          <p:cNvPr id="18" name="Text 11"/>
          <p:cNvSpPr/>
          <p:nvPr/>
        </p:nvSpPr>
        <p:spPr>
          <a:xfrm>
            <a:off x="5209580" y="1188709"/>
            <a:ext cx="1301948"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SCALABILITÉ IIOT</a:t>
            </a:r>
            <a:endParaRPr lang="en-US" sz="1090" dirty="0"/>
          </a:p>
        </p:txBody>
      </p:sp>
      <p:sp>
        <p:nvSpPr>
          <p:cNvPr id="19" name="Text 12"/>
          <p:cNvSpPr/>
          <p:nvPr/>
        </p:nvSpPr>
        <p:spPr>
          <a:xfrm>
            <a:off x="5000625" y="1479817"/>
            <a:ext cx="3571875" cy="731453"/>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L'architecture est conçue pour supporter une </a:t>
            </a:r>
            <a:r>
              <a:rPr lang="en-US" sz="784" b="1" dirty="0">
                <a:solidFill>
                  <a:srgbClr val="D32F2F"/>
                </a:solidFill>
                <a:latin typeface="Open Sans" pitchFamily="34" charset="0"/>
                <a:ea typeface="Open Sans" pitchFamily="34" charset="-122"/>
                <a:cs typeface="Open Sans" pitchFamily="34" charset="-120"/>
              </a:rPr>
              <a:t>montée en charge</a:t>
            </a:r>
            <a:r>
              <a:rPr lang="en-US" sz="834" dirty="0">
                <a:solidFill>
                  <a:srgbClr val="424242"/>
                </a:solidFill>
                <a:latin typeface="Open Sans" pitchFamily="34" charset="0"/>
                <a:ea typeface="Open Sans" pitchFamily="34" charset="-122"/>
                <a:cs typeface="Open Sans" pitchFamily="34" charset="-120"/>
              </a:rPr>
              <a:t> allant de quelques automates à des centaines d'instances réparties sur plusieurs sites industriels, centralisées via une interface de supervision unique.</a:t>
            </a:r>
            <a:endParaRPr lang="en-US" sz="834"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617209"/>
          </a:xfrm>
          <a:prstGeom prst="rect">
            <a:avLst/>
          </a:prstGeom>
          <a:noFill/>
          <a:ln/>
        </p:spPr>
        <p:txBody>
          <a:bodyPr wrap="squar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CONTRÔLES DE SÉCURITÉ : RÉDUCTION DE LA SURFACE D'EXPOSITION</a:t>
            </a:r>
            <a:endParaRPr lang="en-US" sz="1808" dirty="0"/>
          </a:p>
        </p:txBody>
      </p:sp>
      <p:sp>
        <p:nvSpPr>
          <p:cNvPr id="5" name="Shape 1"/>
          <p:cNvSpPr/>
          <p:nvPr/>
        </p:nvSpPr>
        <p:spPr>
          <a:xfrm>
            <a:off x="714375" y="1045834"/>
            <a:ext cx="3857625" cy="1638402"/>
          </a:xfrm>
          <a:prstGeom prst="rect">
            <a:avLst/>
          </a:prstGeom>
          <a:solidFill>
            <a:srgbClr val="FFFFFF"/>
          </a:solidFill>
          <a:ln/>
        </p:spPr>
        <p:txBody>
          <a:bodyPr/>
          <a:lstStyle/>
          <a:p>
            <a:endParaRPr lang="fr-FR"/>
          </a:p>
        </p:txBody>
      </p:sp>
      <p:sp>
        <p:nvSpPr>
          <p:cNvPr id="6" name="Shape 2"/>
          <p:cNvSpPr/>
          <p:nvPr/>
        </p:nvSpPr>
        <p:spPr>
          <a:xfrm>
            <a:off x="714375" y="1045834"/>
            <a:ext cx="3857625" cy="42863"/>
          </a:xfrm>
          <a:prstGeom prst="rect">
            <a:avLst/>
          </a:prstGeom>
          <a:solidFill>
            <a:srgbClr val="D32F2F"/>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857250" y="1202103"/>
            <a:ext cx="157163" cy="157163"/>
          </a:xfrm>
          <a:prstGeom prst="rect">
            <a:avLst/>
          </a:prstGeom>
        </p:spPr>
      </p:pic>
      <p:sp>
        <p:nvSpPr>
          <p:cNvPr id="8" name="Text 3"/>
          <p:cNvSpPr/>
          <p:nvPr/>
        </p:nvSpPr>
        <p:spPr>
          <a:xfrm>
            <a:off x="1085850" y="1188709"/>
            <a:ext cx="1743075"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SURFACE D'EXPOSITION</a:t>
            </a:r>
            <a:endParaRPr lang="en-US" sz="1090" dirty="0"/>
          </a:p>
        </p:txBody>
      </p:sp>
      <p:sp>
        <p:nvSpPr>
          <p:cNvPr id="9" name="Text 4"/>
          <p:cNvSpPr/>
          <p:nvPr/>
        </p:nvSpPr>
        <p:spPr>
          <a:xfrm>
            <a:off x="857250" y="1492318"/>
            <a:ext cx="2736056"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L'audit a identifié trois vecteurs d'attaque majeurs :</a:t>
            </a:r>
            <a:endParaRPr lang="en-US" sz="834" dirty="0"/>
          </a:p>
        </p:txBody>
      </p:sp>
      <p:pic>
        <p:nvPicPr>
          <p:cNvPr id="10" name="Image 2" descr="preencoded.png"/>
          <p:cNvPicPr>
            <a:picLocks noChangeAspect="1"/>
          </p:cNvPicPr>
          <p:nvPr/>
        </p:nvPicPr>
        <p:blipFill>
          <a:blip r:embed="rId5"/>
          <a:stretch>
            <a:fillRect/>
          </a:stretch>
        </p:blipFill>
        <p:spPr>
          <a:xfrm>
            <a:off x="857250" y="1791267"/>
            <a:ext cx="128588" cy="128588"/>
          </a:xfrm>
          <a:prstGeom prst="rect">
            <a:avLst/>
          </a:prstGeom>
        </p:spPr>
      </p:pic>
      <p:sp>
        <p:nvSpPr>
          <p:cNvPr id="11" name="Text 5"/>
          <p:cNvSpPr/>
          <p:nvPr/>
        </p:nvSpPr>
        <p:spPr>
          <a:xfrm>
            <a:off x="1057275" y="1769836"/>
            <a:ext cx="1091208"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424242"/>
                </a:solidFill>
                <a:latin typeface="Open Sans" pitchFamily="34" charset="0"/>
                <a:ea typeface="Open Sans" pitchFamily="34" charset="-122"/>
                <a:cs typeface="Open Sans" pitchFamily="34" charset="-120"/>
              </a:rPr>
              <a:t>Interface Web (8080)</a:t>
            </a:r>
            <a:endParaRPr lang="en-US" sz="734" dirty="0"/>
          </a:p>
        </p:txBody>
      </p:sp>
      <p:sp>
        <p:nvSpPr>
          <p:cNvPr id="12" name="Text 6"/>
          <p:cNvSpPr/>
          <p:nvPr/>
        </p:nvSpPr>
        <p:spPr>
          <a:xfrm>
            <a:off x="2219920" y="1769836"/>
            <a:ext cx="1944886"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424242"/>
                </a:solidFill>
                <a:latin typeface="Open Sans" pitchFamily="34" charset="0"/>
                <a:ea typeface="Open Sans" pitchFamily="34" charset="-122"/>
                <a:cs typeface="Open Sans" pitchFamily="34" charset="-120"/>
              </a:rPr>
              <a:t>: Risques XSS, Clickjacking, Brute-force.</a:t>
            </a:r>
            <a:endParaRPr lang="en-US" sz="780" dirty="0"/>
          </a:p>
        </p:txBody>
      </p:sp>
      <p:pic>
        <p:nvPicPr>
          <p:cNvPr id="13" name="Image 3" descr="preencoded.png"/>
          <p:cNvPicPr>
            <a:picLocks noChangeAspect="1"/>
          </p:cNvPicPr>
          <p:nvPr/>
        </p:nvPicPr>
        <p:blipFill>
          <a:blip r:embed="rId6"/>
          <a:stretch>
            <a:fillRect/>
          </a:stretch>
        </p:blipFill>
        <p:spPr>
          <a:xfrm>
            <a:off x="857250" y="2034155"/>
            <a:ext cx="144661" cy="128588"/>
          </a:xfrm>
          <a:prstGeom prst="rect">
            <a:avLst/>
          </a:prstGeom>
        </p:spPr>
      </p:pic>
      <p:sp>
        <p:nvSpPr>
          <p:cNvPr id="14" name="Text 7"/>
          <p:cNvSpPr/>
          <p:nvPr/>
        </p:nvSpPr>
        <p:spPr>
          <a:xfrm>
            <a:off x="1073348" y="2012724"/>
            <a:ext cx="709017"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424242"/>
                </a:solidFill>
                <a:latin typeface="Open Sans" pitchFamily="34" charset="0"/>
                <a:ea typeface="Open Sans" pitchFamily="34" charset="-122"/>
                <a:cs typeface="Open Sans" pitchFamily="34" charset="-120"/>
              </a:rPr>
              <a:t>Modbus (502)</a:t>
            </a:r>
            <a:endParaRPr lang="en-US" sz="734" dirty="0"/>
          </a:p>
        </p:txBody>
      </p:sp>
      <p:sp>
        <p:nvSpPr>
          <p:cNvPr id="15" name="Text 8"/>
          <p:cNvSpPr/>
          <p:nvPr/>
        </p:nvSpPr>
        <p:spPr>
          <a:xfrm>
            <a:off x="1853803" y="2012724"/>
            <a:ext cx="1539478"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424242"/>
                </a:solidFill>
                <a:latin typeface="Open Sans" pitchFamily="34" charset="0"/>
                <a:ea typeface="Open Sans" pitchFamily="34" charset="-122"/>
                <a:cs typeface="Open Sans" pitchFamily="34" charset="-120"/>
              </a:rPr>
              <a:t>: Sabotage direct des registres.</a:t>
            </a:r>
            <a:endParaRPr lang="en-US" sz="780" dirty="0"/>
          </a:p>
        </p:txBody>
      </p:sp>
      <p:pic>
        <p:nvPicPr>
          <p:cNvPr id="16" name="Image 4" descr="preencoded.png"/>
          <p:cNvPicPr>
            <a:picLocks noChangeAspect="1"/>
          </p:cNvPicPr>
          <p:nvPr/>
        </p:nvPicPr>
        <p:blipFill>
          <a:blip r:embed="rId7"/>
          <a:stretch>
            <a:fillRect/>
          </a:stretch>
        </p:blipFill>
        <p:spPr>
          <a:xfrm>
            <a:off x="857250" y="2277042"/>
            <a:ext cx="160734" cy="128588"/>
          </a:xfrm>
          <a:prstGeom prst="rect">
            <a:avLst/>
          </a:prstGeom>
        </p:spPr>
      </p:pic>
      <p:sp>
        <p:nvSpPr>
          <p:cNvPr id="17" name="Text 9"/>
          <p:cNvSpPr/>
          <p:nvPr/>
        </p:nvSpPr>
        <p:spPr>
          <a:xfrm>
            <a:off x="1089422" y="2255611"/>
            <a:ext cx="1035844"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424242"/>
                </a:solidFill>
                <a:latin typeface="Open Sans" pitchFamily="34" charset="0"/>
                <a:ea typeface="Open Sans" pitchFamily="34" charset="-122"/>
                <a:cs typeface="Open Sans" pitchFamily="34" charset="-120"/>
              </a:rPr>
              <a:t>EtherNet/IP (44818)</a:t>
            </a:r>
            <a:endParaRPr lang="en-US" sz="734" dirty="0"/>
          </a:p>
        </p:txBody>
      </p:sp>
      <p:sp>
        <p:nvSpPr>
          <p:cNvPr id="18" name="Text 10"/>
          <p:cNvSpPr/>
          <p:nvPr/>
        </p:nvSpPr>
        <p:spPr>
          <a:xfrm>
            <a:off x="2196703" y="2255611"/>
            <a:ext cx="1453753"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424242"/>
                </a:solidFill>
                <a:latin typeface="Open Sans" pitchFamily="34" charset="0"/>
                <a:ea typeface="Open Sans" pitchFamily="34" charset="-122"/>
                <a:cs typeface="Open Sans" pitchFamily="34" charset="-120"/>
              </a:rPr>
              <a:t>: Risques de Buffer Overflow.</a:t>
            </a:r>
            <a:endParaRPr lang="en-US" sz="780" dirty="0"/>
          </a:p>
        </p:txBody>
      </p:sp>
      <p:sp>
        <p:nvSpPr>
          <p:cNvPr id="19" name="Shape 11"/>
          <p:cNvSpPr/>
          <p:nvPr/>
        </p:nvSpPr>
        <p:spPr>
          <a:xfrm>
            <a:off x="714375" y="2784249"/>
            <a:ext cx="3857625" cy="985447"/>
          </a:xfrm>
          <a:prstGeom prst="rect">
            <a:avLst/>
          </a:prstGeom>
          <a:solidFill>
            <a:srgbClr val="FFFFFF"/>
          </a:solidFill>
          <a:ln/>
        </p:spPr>
        <p:txBody>
          <a:bodyPr/>
          <a:lstStyle/>
          <a:p>
            <a:endParaRPr lang="fr-FR"/>
          </a:p>
        </p:txBody>
      </p:sp>
      <p:sp>
        <p:nvSpPr>
          <p:cNvPr id="20" name="Shape 12"/>
          <p:cNvSpPr/>
          <p:nvPr/>
        </p:nvSpPr>
        <p:spPr>
          <a:xfrm>
            <a:off x="714375" y="2784249"/>
            <a:ext cx="3857625" cy="42863"/>
          </a:xfrm>
          <a:prstGeom prst="rect">
            <a:avLst/>
          </a:prstGeom>
          <a:solidFill>
            <a:srgbClr val="242424"/>
          </a:solidFill>
          <a:ln/>
        </p:spPr>
        <p:txBody>
          <a:bodyPr/>
          <a:lstStyle/>
          <a:p>
            <a:endParaRPr lang="fr-FR"/>
          </a:p>
        </p:txBody>
      </p:sp>
      <p:pic>
        <p:nvPicPr>
          <p:cNvPr id="21" name="Image 5" descr="preencoded.png"/>
          <p:cNvPicPr>
            <a:picLocks noChangeAspect="1"/>
          </p:cNvPicPr>
          <p:nvPr/>
        </p:nvPicPr>
        <p:blipFill>
          <a:blip r:embed="rId8"/>
          <a:stretch>
            <a:fillRect/>
          </a:stretch>
        </p:blipFill>
        <p:spPr>
          <a:xfrm>
            <a:off x="857250" y="2940518"/>
            <a:ext cx="157163" cy="157163"/>
          </a:xfrm>
          <a:prstGeom prst="rect">
            <a:avLst/>
          </a:prstGeom>
        </p:spPr>
      </p:pic>
      <p:sp>
        <p:nvSpPr>
          <p:cNvPr id="22" name="Text 13"/>
          <p:cNvSpPr/>
          <p:nvPr/>
        </p:nvSpPr>
        <p:spPr>
          <a:xfrm>
            <a:off x="1085850" y="2927124"/>
            <a:ext cx="1802011"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SEGMENTATION RÉSEAU</a:t>
            </a:r>
            <a:endParaRPr lang="en-US" sz="1090" dirty="0"/>
          </a:p>
        </p:txBody>
      </p:sp>
      <p:sp>
        <p:nvSpPr>
          <p:cNvPr id="23" name="Text 14"/>
          <p:cNvSpPr/>
          <p:nvPr/>
        </p:nvSpPr>
        <p:spPr>
          <a:xfrm>
            <a:off x="857250" y="3218231"/>
            <a:ext cx="3571875"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Implémentation d'une </a:t>
            </a:r>
            <a:r>
              <a:rPr lang="en-US" sz="784" b="1" dirty="0">
                <a:solidFill>
                  <a:srgbClr val="D32F2F"/>
                </a:solidFill>
                <a:latin typeface="Open Sans" pitchFamily="34" charset="0"/>
                <a:ea typeface="Open Sans" pitchFamily="34" charset="-122"/>
                <a:cs typeface="Open Sans" pitchFamily="34" charset="-120"/>
              </a:rPr>
              <a:t>segmentation stricte</a:t>
            </a:r>
            <a:r>
              <a:rPr lang="en-US" sz="834" dirty="0">
                <a:solidFill>
                  <a:srgbClr val="424242"/>
                </a:solidFill>
                <a:latin typeface="Open Sans" pitchFamily="34" charset="0"/>
                <a:ea typeface="Open Sans" pitchFamily="34" charset="-122"/>
                <a:cs typeface="Open Sans" pitchFamily="34" charset="-120"/>
              </a:rPr>
              <a:t> entre les réseaux IT et OT via des VLANs dédiés et des pare-feux industriels.</a:t>
            </a:r>
            <a:endParaRPr lang="en-US" sz="834" dirty="0"/>
          </a:p>
        </p:txBody>
      </p:sp>
      <p:sp>
        <p:nvSpPr>
          <p:cNvPr id="24" name="Shape 15"/>
          <p:cNvSpPr/>
          <p:nvPr/>
        </p:nvSpPr>
        <p:spPr>
          <a:xfrm>
            <a:off x="4857750" y="1045834"/>
            <a:ext cx="3857625" cy="2052740"/>
          </a:xfrm>
          <a:prstGeom prst="rect">
            <a:avLst/>
          </a:prstGeom>
          <a:solidFill>
            <a:srgbClr val="FFFFFF"/>
          </a:solidFill>
          <a:ln/>
        </p:spPr>
        <p:txBody>
          <a:bodyPr/>
          <a:lstStyle/>
          <a:p>
            <a:endParaRPr lang="fr-FR"/>
          </a:p>
        </p:txBody>
      </p:sp>
      <p:sp>
        <p:nvSpPr>
          <p:cNvPr id="25" name="Shape 16"/>
          <p:cNvSpPr/>
          <p:nvPr/>
        </p:nvSpPr>
        <p:spPr>
          <a:xfrm>
            <a:off x="4857750" y="1045834"/>
            <a:ext cx="3857625" cy="42863"/>
          </a:xfrm>
          <a:prstGeom prst="rect">
            <a:avLst/>
          </a:prstGeom>
          <a:solidFill>
            <a:srgbClr val="D32F2F"/>
          </a:solidFill>
          <a:ln/>
        </p:spPr>
        <p:txBody>
          <a:bodyPr/>
          <a:lstStyle/>
          <a:p>
            <a:endParaRPr lang="fr-FR"/>
          </a:p>
        </p:txBody>
      </p:sp>
      <p:pic>
        <p:nvPicPr>
          <p:cNvPr id="26" name="Image 6" descr="preencoded.png"/>
          <p:cNvPicPr>
            <a:picLocks noChangeAspect="1"/>
          </p:cNvPicPr>
          <p:nvPr/>
        </p:nvPicPr>
        <p:blipFill>
          <a:blip r:embed="rId9"/>
          <a:stretch>
            <a:fillRect/>
          </a:stretch>
        </p:blipFill>
        <p:spPr>
          <a:xfrm>
            <a:off x="5000625" y="1202103"/>
            <a:ext cx="137517" cy="157163"/>
          </a:xfrm>
          <a:prstGeom prst="rect">
            <a:avLst/>
          </a:prstGeom>
        </p:spPr>
      </p:pic>
      <p:sp>
        <p:nvSpPr>
          <p:cNvPr id="27" name="Text 17"/>
          <p:cNvSpPr/>
          <p:nvPr/>
        </p:nvSpPr>
        <p:spPr>
          <a:xfrm>
            <a:off x="5209580" y="1188709"/>
            <a:ext cx="2128838"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D32F2F"/>
                </a:solidFill>
                <a:latin typeface="Roboto" pitchFamily="34" charset="0"/>
                <a:ea typeface="Roboto" pitchFamily="34" charset="-122"/>
                <a:cs typeface="Roboto" pitchFamily="34" charset="-120"/>
              </a:rPr>
              <a:t>CONTRÔLES DE PROTECTION</a:t>
            </a:r>
            <a:endParaRPr lang="en-US" sz="1090" dirty="0"/>
          </a:p>
        </p:txBody>
      </p:sp>
      <p:sp>
        <p:nvSpPr>
          <p:cNvPr id="28" name="Text 18"/>
          <p:cNvSpPr/>
          <p:nvPr/>
        </p:nvSpPr>
        <p:spPr>
          <a:xfrm>
            <a:off x="5000625" y="1492318"/>
            <a:ext cx="2366367" cy="155377"/>
          </a:xfrm>
          <a:prstGeom prst="rect">
            <a:avLst/>
          </a:prstGeom>
          <a:noFill/>
          <a:ln/>
        </p:spPr>
        <p:txBody>
          <a:bodyPr wrap="non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Déploiement de mesures de défense active :</a:t>
            </a:r>
            <a:endParaRPr lang="en-US" sz="834" dirty="0"/>
          </a:p>
        </p:txBody>
      </p:sp>
      <p:pic>
        <p:nvPicPr>
          <p:cNvPr id="29" name="Image 7" descr="preencoded.png"/>
          <p:cNvPicPr>
            <a:picLocks noChangeAspect="1"/>
          </p:cNvPicPr>
          <p:nvPr/>
        </p:nvPicPr>
        <p:blipFill>
          <a:blip r:embed="rId10"/>
          <a:stretch>
            <a:fillRect/>
          </a:stretch>
        </p:blipFill>
        <p:spPr>
          <a:xfrm>
            <a:off x="5000625" y="1791267"/>
            <a:ext cx="128588" cy="128588"/>
          </a:xfrm>
          <a:prstGeom prst="rect">
            <a:avLst/>
          </a:prstGeom>
        </p:spPr>
      </p:pic>
      <p:sp>
        <p:nvSpPr>
          <p:cNvPr id="30" name="Text 19"/>
          <p:cNvSpPr/>
          <p:nvPr/>
        </p:nvSpPr>
        <p:spPr>
          <a:xfrm>
            <a:off x="5200650" y="1769836"/>
            <a:ext cx="1655564"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424242"/>
                </a:solidFill>
                <a:latin typeface="Open Sans" pitchFamily="34" charset="0"/>
                <a:ea typeface="Open Sans" pitchFamily="34" charset="-122"/>
                <a:cs typeface="Open Sans" pitchFamily="34" charset="-120"/>
              </a:rPr>
              <a:t>WAF (Web Application Firewall)</a:t>
            </a:r>
            <a:endParaRPr lang="en-US" sz="734" dirty="0"/>
          </a:p>
        </p:txBody>
      </p:sp>
      <p:sp>
        <p:nvSpPr>
          <p:cNvPr id="31" name="Text 20"/>
          <p:cNvSpPr/>
          <p:nvPr/>
        </p:nvSpPr>
        <p:spPr>
          <a:xfrm>
            <a:off x="6927652" y="1769836"/>
            <a:ext cx="1559123"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424242"/>
                </a:solidFill>
                <a:latin typeface="Open Sans" pitchFamily="34" charset="0"/>
                <a:ea typeface="Open Sans" pitchFamily="34" charset="-122"/>
                <a:cs typeface="Open Sans" pitchFamily="34" charset="-120"/>
              </a:rPr>
              <a:t>: Protection de l'interface Flask.</a:t>
            </a:r>
            <a:endParaRPr lang="en-US" sz="780" dirty="0"/>
          </a:p>
        </p:txBody>
      </p:sp>
      <p:pic>
        <p:nvPicPr>
          <p:cNvPr id="32" name="Image 8" descr="preencoded.png"/>
          <p:cNvPicPr>
            <a:picLocks noChangeAspect="1"/>
          </p:cNvPicPr>
          <p:nvPr/>
        </p:nvPicPr>
        <p:blipFill>
          <a:blip r:embed="rId11"/>
          <a:stretch>
            <a:fillRect/>
          </a:stretch>
        </p:blipFill>
        <p:spPr>
          <a:xfrm>
            <a:off x="5000625" y="2034155"/>
            <a:ext cx="128588" cy="128588"/>
          </a:xfrm>
          <a:prstGeom prst="rect">
            <a:avLst/>
          </a:prstGeom>
        </p:spPr>
      </p:pic>
      <p:sp>
        <p:nvSpPr>
          <p:cNvPr id="33" name="Text 21"/>
          <p:cNvSpPr/>
          <p:nvPr/>
        </p:nvSpPr>
        <p:spPr>
          <a:xfrm>
            <a:off x="5200650" y="2012724"/>
            <a:ext cx="771525"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424242"/>
                </a:solidFill>
                <a:latin typeface="Open Sans" pitchFamily="34" charset="0"/>
                <a:ea typeface="Open Sans" pitchFamily="34" charset="-122"/>
                <a:cs typeface="Open Sans" pitchFamily="34" charset="-120"/>
              </a:rPr>
              <a:t>VPN Industriel</a:t>
            </a:r>
            <a:endParaRPr lang="en-US" sz="734" dirty="0"/>
          </a:p>
        </p:txBody>
      </p:sp>
      <p:sp>
        <p:nvSpPr>
          <p:cNvPr id="34" name="Text 22"/>
          <p:cNvSpPr/>
          <p:nvPr/>
        </p:nvSpPr>
        <p:spPr>
          <a:xfrm>
            <a:off x="6043613" y="2012724"/>
            <a:ext cx="1884164"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424242"/>
                </a:solidFill>
                <a:latin typeface="Open Sans" pitchFamily="34" charset="0"/>
                <a:ea typeface="Open Sans" pitchFamily="34" charset="-122"/>
                <a:cs typeface="Open Sans" pitchFamily="34" charset="-120"/>
              </a:rPr>
              <a:t>: Accès distant sécurisé et authentifié.</a:t>
            </a:r>
            <a:endParaRPr lang="en-US" sz="780" dirty="0"/>
          </a:p>
        </p:txBody>
      </p:sp>
      <p:pic>
        <p:nvPicPr>
          <p:cNvPr id="35" name="Image 9" descr="preencoded.png"/>
          <p:cNvPicPr>
            <a:picLocks noChangeAspect="1"/>
          </p:cNvPicPr>
          <p:nvPr/>
        </p:nvPicPr>
        <p:blipFill>
          <a:blip r:embed="rId12"/>
          <a:stretch>
            <a:fillRect/>
          </a:stretch>
        </p:blipFill>
        <p:spPr>
          <a:xfrm>
            <a:off x="5000625" y="2362767"/>
            <a:ext cx="144661" cy="128588"/>
          </a:xfrm>
          <a:prstGeom prst="rect">
            <a:avLst/>
          </a:prstGeom>
        </p:spPr>
      </p:pic>
      <p:sp>
        <p:nvSpPr>
          <p:cNvPr id="36" name="Text 23"/>
          <p:cNvSpPr/>
          <p:nvPr/>
        </p:nvSpPr>
        <p:spPr>
          <a:xfrm>
            <a:off x="5216723" y="2255611"/>
            <a:ext cx="514406" cy="342900"/>
          </a:xfrm>
          <a:prstGeom prst="rect">
            <a:avLst/>
          </a:prstGeom>
          <a:noFill/>
          <a:ln/>
        </p:spPr>
        <p:txBody>
          <a:bodyPr wrap="square" lIns="0" tIns="0" rIns="0" bIns="0" rtlCol="0" anchor="t">
            <a:spAutoFit/>
          </a:bodyPr>
          <a:lstStyle/>
          <a:p>
            <a:pPr marL="0" indent="0" algn="l">
              <a:lnSpc>
                <a:spcPts val="1400"/>
              </a:lnSpc>
              <a:buNone/>
            </a:pPr>
            <a:r>
              <a:rPr lang="en-US" sz="734" b="1" dirty="0">
                <a:solidFill>
                  <a:srgbClr val="424242"/>
                </a:solidFill>
                <a:latin typeface="Open Sans" pitchFamily="34" charset="0"/>
                <a:ea typeface="Open Sans" pitchFamily="34" charset="-122"/>
                <a:cs typeface="Open Sans" pitchFamily="34" charset="-120"/>
              </a:rPr>
              <a:t>IDS/IPS OT</a:t>
            </a:r>
            <a:endParaRPr lang="en-US" sz="734" dirty="0"/>
          </a:p>
        </p:txBody>
      </p:sp>
      <p:sp>
        <p:nvSpPr>
          <p:cNvPr id="37" name="Text 24"/>
          <p:cNvSpPr/>
          <p:nvPr/>
        </p:nvSpPr>
        <p:spPr>
          <a:xfrm>
            <a:off x="5802567" y="2255611"/>
            <a:ext cx="2769933" cy="342900"/>
          </a:xfrm>
          <a:prstGeom prst="rect">
            <a:avLst/>
          </a:prstGeom>
          <a:noFill/>
          <a:ln/>
        </p:spPr>
        <p:txBody>
          <a:bodyPr wrap="square" lIns="0" tIns="0" rIns="0" bIns="0" rtlCol="0" anchor="t">
            <a:spAutoFit/>
          </a:bodyPr>
          <a:lstStyle/>
          <a:p>
            <a:pPr marL="0" indent="0" algn="l">
              <a:lnSpc>
                <a:spcPts val="1400"/>
              </a:lnSpc>
              <a:buNone/>
            </a:pPr>
            <a:r>
              <a:rPr lang="en-US" sz="780" dirty="0">
                <a:solidFill>
                  <a:srgbClr val="424242"/>
                </a:solidFill>
                <a:latin typeface="Open Sans" pitchFamily="34" charset="0"/>
                <a:ea typeface="Open Sans" pitchFamily="34" charset="-122"/>
                <a:cs typeface="Open Sans" pitchFamily="34" charset="-120"/>
              </a:rPr>
              <a:t>: Surveillance du trafic Modbus pour détecter les anomalies.</a:t>
            </a:r>
            <a:endParaRPr lang="en-US" sz="780" dirty="0"/>
          </a:p>
        </p:txBody>
      </p:sp>
      <p:pic>
        <p:nvPicPr>
          <p:cNvPr id="38" name="Image 10" descr="preencoded.png"/>
          <p:cNvPicPr>
            <a:picLocks noChangeAspect="1"/>
          </p:cNvPicPr>
          <p:nvPr/>
        </p:nvPicPr>
        <p:blipFill>
          <a:blip r:embed="rId13"/>
          <a:stretch>
            <a:fillRect/>
          </a:stretch>
        </p:blipFill>
        <p:spPr>
          <a:xfrm>
            <a:off x="5000625" y="2691380"/>
            <a:ext cx="160734" cy="128588"/>
          </a:xfrm>
          <a:prstGeom prst="rect">
            <a:avLst/>
          </a:prstGeom>
        </p:spPr>
      </p:pic>
      <p:sp>
        <p:nvSpPr>
          <p:cNvPr id="39" name="Text 25"/>
          <p:cNvSpPr/>
          <p:nvPr/>
        </p:nvSpPr>
        <p:spPr>
          <a:xfrm>
            <a:off x="5232797" y="2669949"/>
            <a:ext cx="233958" cy="171450"/>
          </a:xfrm>
          <a:prstGeom prst="rect">
            <a:avLst/>
          </a:prstGeom>
          <a:noFill/>
          <a:ln/>
        </p:spPr>
        <p:txBody>
          <a:bodyPr wrap="none" lIns="0" tIns="0" rIns="0" bIns="0" rtlCol="0" anchor="t">
            <a:spAutoFit/>
          </a:bodyPr>
          <a:lstStyle/>
          <a:p>
            <a:pPr marL="0" indent="0" algn="l">
              <a:lnSpc>
                <a:spcPts val="1400"/>
              </a:lnSpc>
              <a:buNone/>
            </a:pPr>
            <a:r>
              <a:rPr lang="en-US" sz="734" b="1" dirty="0">
                <a:solidFill>
                  <a:srgbClr val="424242"/>
                </a:solidFill>
                <a:latin typeface="Open Sans" pitchFamily="34" charset="0"/>
                <a:ea typeface="Open Sans" pitchFamily="34" charset="-122"/>
                <a:cs typeface="Open Sans" pitchFamily="34" charset="-120"/>
              </a:rPr>
              <a:t>MFA</a:t>
            </a:r>
            <a:endParaRPr lang="en-US" sz="734" dirty="0"/>
          </a:p>
        </p:txBody>
      </p:sp>
      <p:sp>
        <p:nvSpPr>
          <p:cNvPr id="40" name="Text 26"/>
          <p:cNvSpPr/>
          <p:nvPr/>
        </p:nvSpPr>
        <p:spPr>
          <a:xfrm>
            <a:off x="5538192" y="2669949"/>
            <a:ext cx="2689622" cy="171450"/>
          </a:xfrm>
          <a:prstGeom prst="rect">
            <a:avLst/>
          </a:prstGeom>
          <a:noFill/>
          <a:ln/>
        </p:spPr>
        <p:txBody>
          <a:bodyPr wrap="none" lIns="0" tIns="0" rIns="0" bIns="0" rtlCol="0" anchor="t">
            <a:spAutoFit/>
          </a:bodyPr>
          <a:lstStyle/>
          <a:p>
            <a:pPr marL="0" indent="0" algn="l">
              <a:lnSpc>
                <a:spcPts val="1400"/>
              </a:lnSpc>
              <a:buNone/>
            </a:pPr>
            <a:r>
              <a:rPr lang="en-US" sz="780" dirty="0">
                <a:solidFill>
                  <a:srgbClr val="424242"/>
                </a:solidFill>
                <a:latin typeface="Open Sans" pitchFamily="34" charset="0"/>
                <a:ea typeface="Open Sans" pitchFamily="34" charset="-122"/>
                <a:cs typeface="Open Sans" pitchFamily="34" charset="-120"/>
              </a:rPr>
              <a:t>: Authentification multi-facteurs pour l'administration.</a:t>
            </a:r>
            <a:endParaRPr lang="en-US" sz="780" dirty="0"/>
          </a:p>
        </p:txBody>
      </p:sp>
      <p:sp>
        <p:nvSpPr>
          <p:cNvPr id="41" name="Shape 27"/>
          <p:cNvSpPr/>
          <p:nvPr/>
        </p:nvSpPr>
        <p:spPr>
          <a:xfrm>
            <a:off x="4857750" y="3198586"/>
            <a:ext cx="3857625" cy="985447"/>
          </a:xfrm>
          <a:prstGeom prst="rect">
            <a:avLst/>
          </a:prstGeom>
          <a:solidFill>
            <a:srgbClr val="FFFFFF"/>
          </a:solidFill>
          <a:ln/>
        </p:spPr>
        <p:txBody>
          <a:bodyPr/>
          <a:lstStyle/>
          <a:p>
            <a:endParaRPr lang="fr-FR"/>
          </a:p>
        </p:txBody>
      </p:sp>
      <p:sp>
        <p:nvSpPr>
          <p:cNvPr id="42" name="Shape 28"/>
          <p:cNvSpPr/>
          <p:nvPr/>
        </p:nvSpPr>
        <p:spPr>
          <a:xfrm>
            <a:off x="4857750" y="3198586"/>
            <a:ext cx="3857625" cy="42863"/>
          </a:xfrm>
          <a:prstGeom prst="rect">
            <a:avLst/>
          </a:prstGeom>
          <a:solidFill>
            <a:srgbClr val="242424"/>
          </a:solidFill>
          <a:ln/>
        </p:spPr>
        <p:txBody>
          <a:bodyPr/>
          <a:lstStyle/>
          <a:p>
            <a:endParaRPr lang="fr-FR"/>
          </a:p>
        </p:txBody>
      </p:sp>
      <p:pic>
        <p:nvPicPr>
          <p:cNvPr id="43" name="Image 11" descr="preencoded.png"/>
          <p:cNvPicPr>
            <a:picLocks noChangeAspect="1"/>
          </p:cNvPicPr>
          <p:nvPr/>
        </p:nvPicPr>
        <p:blipFill>
          <a:blip r:embed="rId14"/>
          <a:stretch>
            <a:fillRect/>
          </a:stretch>
        </p:blipFill>
        <p:spPr>
          <a:xfrm>
            <a:off x="5000625" y="3354856"/>
            <a:ext cx="157163" cy="157163"/>
          </a:xfrm>
          <a:prstGeom prst="rect">
            <a:avLst/>
          </a:prstGeom>
        </p:spPr>
      </p:pic>
      <p:sp>
        <p:nvSpPr>
          <p:cNvPr id="44" name="Text 29"/>
          <p:cNvSpPr/>
          <p:nvPr/>
        </p:nvSpPr>
        <p:spPr>
          <a:xfrm>
            <a:off x="5229225" y="3341461"/>
            <a:ext cx="1482328" cy="183952"/>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42424"/>
                </a:solidFill>
                <a:latin typeface="Roboto" pitchFamily="34" charset="0"/>
                <a:ea typeface="Roboto" pitchFamily="34" charset="-122"/>
                <a:cs typeface="Roboto" pitchFamily="34" charset="-120"/>
              </a:rPr>
              <a:t>RÉSULTAT ATTENDU</a:t>
            </a:r>
            <a:endParaRPr lang="en-US" sz="1090" dirty="0"/>
          </a:p>
        </p:txBody>
      </p:sp>
      <p:sp>
        <p:nvSpPr>
          <p:cNvPr id="45" name="Text 30"/>
          <p:cNvSpPr/>
          <p:nvPr/>
        </p:nvSpPr>
        <p:spPr>
          <a:xfrm>
            <a:off x="5000625" y="3632569"/>
            <a:ext cx="3571875"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Réduction drastique de la surface d'attaque et </a:t>
            </a:r>
            <a:r>
              <a:rPr lang="en-US" sz="784" b="1" dirty="0">
                <a:solidFill>
                  <a:srgbClr val="D32F2F"/>
                </a:solidFill>
                <a:latin typeface="Open Sans" pitchFamily="34" charset="0"/>
                <a:ea typeface="Open Sans" pitchFamily="34" charset="-122"/>
                <a:cs typeface="Open Sans" pitchFamily="34" charset="-120"/>
              </a:rPr>
              <a:t>confinement des menaces</a:t>
            </a:r>
            <a:r>
              <a:rPr lang="en-US" sz="834" dirty="0">
                <a:solidFill>
                  <a:srgbClr val="424242"/>
                </a:solidFill>
                <a:latin typeface="Open Sans" pitchFamily="34" charset="0"/>
                <a:ea typeface="Open Sans" pitchFamily="34" charset="-122"/>
                <a:cs typeface="Open Sans" pitchFamily="34" charset="-120"/>
              </a:rPr>
              <a:t> au niveau local, empêchant toute propagation latérale.</a:t>
            </a:r>
            <a:endParaRPr lang="en-US" sz="834"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19783"/>
            <a:ext cx="9144000" cy="5167945"/>
          </a:xfrm>
          <a:prstGeom prst="rect">
            <a:avLst/>
          </a:prstGeom>
        </p:spPr>
      </p:pic>
      <p:sp>
        <p:nvSpPr>
          <p:cNvPr id="4" name="Text 0"/>
          <p:cNvSpPr/>
          <p:nvPr/>
        </p:nvSpPr>
        <p:spPr>
          <a:xfrm>
            <a:off x="714375" y="285750"/>
            <a:ext cx="8001000" cy="327205"/>
          </a:xfrm>
          <a:prstGeom prst="rect">
            <a:avLst/>
          </a:prstGeom>
          <a:noFill/>
          <a:ln/>
        </p:spPr>
        <p:txBody>
          <a:bodyPr wrap="square" lIns="0" tIns="0" rIns="0" bIns="0" rtlCol="0" anchor="t">
            <a:spAutoFit/>
          </a:bodyPr>
          <a:lstStyle/>
          <a:p>
            <a:pPr marL="0" indent="0" algn="l">
              <a:lnSpc>
                <a:spcPts val="2700"/>
              </a:lnSpc>
              <a:buNone/>
            </a:pPr>
            <a:r>
              <a:rPr lang="en-US" sz="2016" b="1" dirty="0">
                <a:solidFill>
                  <a:srgbClr val="0A0A0A"/>
                </a:solidFill>
                <a:latin typeface="Roboto" pitchFamily="34" charset="0"/>
                <a:ea typeface="Roboto" pitchFamily="34" charset="-122"/>
                <a:cs typeface="Roboto" pitchFamily="34" charset="-120"/>
              </a:rPr>
              <a:t>PLAN DE REMÉDIATION</a:t>
            </a:r>
            <a:endParaRPr lang="en-US" sz="2016" dirty="0"/>
          </a:p>
        </p:txBody>
      </p:sp>
      <p:sp>
        <p:nvSpPr>
          <p:cNvPr id="6" name="Shape 2"/>
          <p:cNvSpPr/>
          <p:nvPr/>
        </p:nvSpPr>
        <p:spPr>
          <a:xfrm>
            <a:off x="714375" y="1393031"/>
            <a:ext cx="2571750" cy="2651559"/>
          </a:xfrm>
          <a:prstGeom prst="rect">
            <a:avLst/>
          </a:prstGeom>
          <a:solidFill>
            <a:srgbClr val="FFFFFF"/>
          </a:solidFill>
          <a:ln/>
        </p:spPr>
        <p:txBody>
          <a:bodyPr/>
          <a:lstStyle/>
          <a:p>
            <a:endParaRPr lang="fr-FR"/>
          </a:p>
        </p:txBody>
      </p:sp>
      <p:sp>
        <p:nvSpPr>
          <p:cNvPr id="7" name="Shape 3"/>
          <p:cNvSpPr/>
          <p:nvPr/>
        </p:nvSpPr>
        <p:spPr>
          <a:xfrm>
            <a:off x="714375" y="1393031"/>
            <a:ext cx="2571750" cy="42863"/>
          </a:xfrm>
          <a:prstGeom prst="rect">
            <a:avLst/>
          </a:prstGeom>
          <a:solidFill>
            <a:srgbClr val="D32F2F"/>
          </a:solidFill>
          <a:ln/>
        </p:spPr>
        <p:txBody>
          <a:bodyPr/>
          <a:lstStyle/>
          <a:p>
            <a:endParaRPr lang="fr-FR"/>
          </a:p>
        </p:txBody>
      </p:sp>
      <p:pic>
        <p:nvPicPr>
          <p:cNvPr id="8" name="Image 1" descr="preencoded.png"/>
          <p:cNvPicPr>
            <a:picLocks noChangeAspect="1"/>
          </p:cNvPicPr>
          <p:nvPr/>
        </p:nvPicPr>
        <p:blipFill>
          <a:blip r:embed="rId4"/>
          <a:stretch>
            <a:fillRect/>
          </a:stretch>
        </p:blipFill>
        <p:spPr>
          <a:xfrm>
            <a:off x="807244" y="1568053"/>
            <a:ext cx="214313" cy="171450"/>
          </a:xfrm>
          <a:prstGeom prst="rect">
            <a:avLst/>
          </a:prstGeom>
        </p:spPr>
      </p:pic>
      <p:sp>
        <p:nvSpPr>
          <p:cNvPr id="9" name="Text 4"/>
          <p:cNvSpPr/>
          <p:nvPr/>
        </p:nvSpPr>
        <p:spPr>
          <a:xfrm>
            <a:off x="1092994" y="1485900"/>
            <a:ext cx="816173" cy="335756"/>
          </a:xfrm>
          <a:prstGeom prst="rect">
            <a:avLst/>
          </a:prstGeom>
          <a:noFill/>
          <a:ln/>
        </p:spPr>
        <p:txBody>
          <a:bodyPr wrap="square" lIns="0" tIns="0" rIns="0" bIns="0" rtlCol="0" anchor="t">
            <a:spAutoFit/>
          </a:bodyPr>
          <a:lstStyle/>
          <a:p>
            <a:pPr marL="0" indent="0" algn="l">
              <a:lnSpc>
                <a:spcPts val="1400"/>
              </a:lnSpc>
              <a:buNone/>
            </a:pPr>
            <a:r>
              <a:rPr lang="en-US" sz="987" b="1" dirty="0">
                <a:solidFill>
                  <a:srgbClr val="242424"/>
                </a:solidFill>
                <a:latin typeface="Roboto" pitchFamily="34" charset="0"/>
                <a:ea typeface="Roboto" pitchFamily="34" charset="-122"/>
                <a:cs typeface="Roboto" pitchFamily="34" charset="-120"/>
              </a:rPr>
              <a:t>IMMÉDIAT
(0-7 JOURS)</a:t>
            </a:r>
            <a:endParaRPr lang="en-US" sz="987" dirty="0"/>
          </a:p>
        </p:txBody>
      </p:sp>
      <p:sp>
        <p:nvSpPr>
          <p:cNvPr id="10" name="Text 5"/>
          <p:cNvSpPr/>
          <p:nvPr/>
        </p:nvSpPr>
        <p:spPr>
          <a:xfrm>
            <a:off x="807244" y="2000250"/>
            <a:ext cx="2386013" cy="28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Changer les mots de passe :</a:t>
            </a:r>
            <a:r>
              <a:rPr lang="en-US" sz="727" dirty="0">
                <a:solidFill>
                  <a:srgbClr val="242424"/>
                </a:solidFill>
                <a:latin typeface="Open Sans" pitchFamily="34" charset="0"/>
                <a:ea typeface="Open Sans" pitchFamily="34" charset="-122"/>
                <a:cs typeface="Open Sans" pitchFamily="34" charset="-120"/>
              </a:rPr>
              <a:t> Remplacer openplc/openplc par des credentials forts.</a:t>
            </a:r>
            <a:endParaRPr lang="en-US" sz="683" dirty="0"/>
          </a:p>
        </p:txBody>
      </p:sp>
      <p:sp>
        <p:nvSpPr>
          <p:cNvPr id="11" name="Text 6"/>
          <p:cNvSpPr/>
          <p:nvPr/>
        </p:nvSpPr>
        <p:spPr>
          <a:xfrm>
            <a:off x="807244" y="2337402"/>
            <a:ext cx="2386013" cy="42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Isolation réseau :</a:t>
            </a:r>
            <a:r>
              <a:rPr lang="en-US" sz="727" dirty="0">
                <a:solidFill>
                  <a:srgbClr val="242424"/>
                </a:solidFill>
                <a:latin typeface="Open Sans" pitchFamily="34" charset="0"/>
                <a:ea typeface="Open Sans" pitchFamily="34" charset="-122"/>
                <a:cs typeface="Open Sans" pitchFamily="34" charset="-120"/>
              </a:rPr>
              <a:t> Bloquer l'accès externe aux ports 502 (Modbus) et 44818 (EtherNet/IP) via pare-feu.</a:t>
            </a:r>
            <a:endParaRPr lang="en-US" sz="683" dirty="0"/>
          </a:p>
        </p:txBody>
      </p:sp>
      <p:sp>
        <p:nvSpPr>
          <p:cNvPr id="12" name="Text 7"/>
          <p:cNvSpPr/>
          <p:nvPr/>
        </p:nvSpPr>
        <p:spPr>
          <a:xfrm>
            <a:off x="807244" y="2814554"/>
            <a:ext cx="2386013" cy="42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Désactiver les services inutilisés :</a:t>
            </a:r>
            <a:r>
              <a:rPr lang="en-US" sz="727" dirty="0">
                <a:solidFill>
                  <a:srgbClr val="242424"/>
                </a:solidFill>
                <a:latin typeface="Open Sans" pitchFamily="34" charset="0"/>
                <a:ea typeface="Open Sans" pitchFamily="34" charset="-122"/>
                <a:cs typeface="Open Sans" pitchFamily="34" charset="-120"/>
              </a:rPr>
              <a:t> Si DNP3 ou EtherNet/IP ne sont pas requis, les désactiver dans la configuration.</a:t>
            </a:r>
            <a:endParaRPr lang="en-US" sz="683" dirty="0"/>
          </a:p>
        </p:txBody>
      </p:sp>
      <p:sp>
        <p:nvSpPr>
          <p:cNvPr id="13" name="Text 8"/>
          <p:cNvSpPr/>
          <p:nvPr/>
        </p:nvSpPr>
        <p:spPr>
          <a:xfrm>
            <a:off x="807244" y="3291706"/>
            <a:ext cx="2386013" cy="28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Mise à jour :</a:t>
            </a:r>
            <a:r>
              <a:rPr lang="en-US" sz="727" dirty="0">
                <a:solidFill>
                  <a:srgbClr val="242424"/>
                </a:solidFill>
                <a:latin typeface="Open Sans" pitchFamily="34" charset="0"/>
                <a:ea typeface="Open Sans" pitchFamily="34" charset="-122"/>
                <a:cs typeface="Open Sans" pitchFamily="34" charset="-120"/>
              </a:rPr>
              <a:t> Appliquer le dernier commit du dépôt GitHub pour patcher CVE-2024-34026.</a:t>
            </a:r>
            <a:endParaRPr lang="en-US" sz="683" dirty="0"/>
          </a:p>
        </p:txBody>
      </p:sp>
      <p:sp>
        <p:nvSpPr>
          <p:cNvPr id="14" name="Shape 9"/>
          <p:cNvSpPr/>
          <p:nvPr/>
        </p:nvSpPr>
        <p:spPr>
          <a:xfrm>
            <a:off x="3429000" y="1393031"/>
            <a:ext cx="2571750" cy="2651559"/>
          </a:xfrm>
          <a:prstGeom prst="rect">
            <a:avLst/>
          </a:prstGeom>
          <a:solidFill>
            <a:srgbClr val="FFFFFF"/>
          </a:solidFill>
          <a:ln/>
        </p:spPr>
        <p:txBody>
          <a:bodyPr/>
          <a:lstStyle/>
          <a:p>
            <a:endParaRPr lang="fr-FR"/>
          </a:p>
        </p:txBody>
      </p:sp>
      <p:sp>
        <p:nvSpPr>
          <p:cNvPr id="15" name="Shape 10"/>
          <p:cNvSpPr/>
          <p:nvPr/>
        </p:nvSpPr>
        <p:spPr>
          <a:xfrm>
            <a:off x="3429000" y="1393031"/>
            <a:ext cx="2571750" cy="42863"/>
          </a:xfrm>
          <a:prstGeom prst="rect">
            <a:avLst/>
          </a:prstGeom>
          <a:solidFill>
            <a:srgbClr val="D32F2F"/>
          </a:solidFill>
          <a:ln/>
        </p:spPr>
        <p:txBody>
          <a:bodyPr/>
          <a:lstStyle/>
          <a:p>
            <a:endParaRPr lang="fr-FR"/>
          </a:p>
        </p:txBody>
      </p:sp>
      <p:sp>
        <p:nvSpPr>
          <p:cNvPr id="16" name="Text 11"/>
          <p:cNvSpPr/>
          <p:nvPr/>
        </p:nvSpPr>
        <p:spPr>
          <a:xfrm>
            <a:off x="807244" y="2028825"/>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17" name="Text 12"/>
          <p:cNvSpPr/>
          <p:nvPr/>
        </p:nvSpPr>
        <p:spPr>
          <a:xfrm>
            <a:off x="807244" y="2365977"/>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18" name="Text 13"/>
          <p:cNvSpPr/>
          <p:nvPr/>
        </p:nvSpPr>
        <p:spPr>
          <a:xfrm>
            <a:off x="807244" y="2843129"/>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19" name="Text 14"/>
          <p:cNvSpPr/>
          <p:nvPr/>
        </p:nvSpPr>
        <p:spPr>
          <a:xfrm>
            <a:off x="807244" y="3320281"/>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pic>
        <p:nvPicPr>
          <p:cNvPr id="20" name="Image 2" descr="preencoded.png"/>
          <p:cNvPicPr>
            <a:picLocks noChangeAspect="1"/>
          </p:cNvPicPr>
          <p:nvPr/>
        </p:nvPicPr>
        <p:blipFill>
          <a:blip r:embed="rId5"/>
          <a:stretch>
            <a:fillRect/>
          </a:stretch>
        </p:blipFill>
        <p:spPr>
          <a:xfrm>
            <a:off x="3521869" y="1568053"/>
            <a:ext cx="214313" cy="171450"/>
          </a:xfrm>
          <a:prstGeom prst="rect">
            <a:avLst/>
          </a:prstGeom>
        </p:spPr>
      </p:pic>
      <p:sp>
        <p:nvSpPr>
          <p:cNvPr id="21" name="Text 15"/>
          <p:cNvSpPr/>
          <p:nvPr/>
        </p:nvSpPr>
        <p:spPr>
          <a:xfrm>
            <a:off x="3807619" y="1485900"/>
            <a:ext cx="960834" cy="335756"/>
          </a:xfrm>
          <a:prstGeom prst="rect">
            <a:avLst/>
          </a:prstGeom>
          <a:noFill/>
          <a:ln/>
        </p:spPr>
        <p:txBody>
          <a:bodyPr wrap="square" lIns="0" tIns="0" rIns="0" bIns="0" rtlCol="0" anchor="t">
            <a:spAutoFit/>
          </a:bodyPr>
          <a:lstStyle/>
          <a:p>
            <a:pPr marL="0" indent="0" algn="l">
              <a:lnSpc>
                <a:spcPts val="1400"/>
              </a:lnSpc>
              <a:buNone/>
            </a:pPr>
            <a:r>
              <a:rPr lang="en-US" sz="987" b="1" dirty="0">
                <a:solidFill>
                  <a:srgbClr val="242424"/>
                </a:solidFill>
                <a:latin typeface="Roboto" pitchFamily="34" charset="0"/>
                <a:ea typeface="Roboto" pitchFamily="34" charset="-122"/>
                <a:cs typeface="Roboto" pitchFamily="34" charset="-120"/>
              </a:rPr>
              <a:t>COURT TERME
(1-3 MOIS)</a:t>
            </a:r>
            <a:endParaRPr lang="en-US" sz="987" dirty="0"/>
          </a:p>
        </p:txBody>
      </p:sp>
      <p:sp>
        <p:nvSpPr>
          <p:cNvPr id="22" name="Text 16"/>
          <p:cNvSpPr/>
          <p:nvPr/>
        </p:nvSpPr>
        <p:spPr>
          <a:xfrm>
            <a:off x="3521869" y="2000250"/>
            <a:ext cx="2386013" cy="42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Sécurisation Web :</a:t>
            </a:r>
            <a:r>
              <a:rPr lang="en-US" sz="727" dirty="0">
                <a:solidFill>
                  <a:srgbClr val="242424"/>
                </a:solidFill>
                <a:latin typeface="Open Sans" pitchFamily="34" charset="0"/>
                <a:ea typeface="Open Sans" pitchFamily="34" charset="-122"/>
                <a:cs typeface="Open Sans" pitchFamily="34" charset="-120"/>
              </a:rPr>
              <a:t> Implémenter les headers de sécurité HTTP manquants (CSP, X-Frame-Options).</a:t>
            </a:r>
            <a:endParaRPr lang="en-US" sz="683" dirty="0"/>
          </a:p>
        </p:txBody>
      </p:sp>
      <p:sp>
        <p:nvSpPr>
          <p:cNvPr id="23" name="Text 17"/>
          <p:cNvSpPr/>
          <p:nvPr/>
        </p:nvSpPr>
        <p:spPr>
          <a:xfrm>
            <a:off x="3521869" y="2477402"/>
            <a:ext cx="2386013" cy="28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Segmentation réseau :</a:t>
            </a:r>
            <a:r>
              <a:rPr lang="en-US" sz="727" dirty="0">
                <a:solidFill>
                  <a:srgbClr val="242424"/>
                </a:solidFill>
                <a:latin typeface="Open Sans" pitchFamily="34" charset="0"/>
                <a:ea typeface="Open Sans" pitchFamily="34" charset="-122"/>
                <a:cs typeface="Open Sans" pitchFamily="34" charset="-120"/>
              </a:rPr>
              <a:t> Placer le PLC dans un VLAN OT dédié, séparé du réseau IT.</a:t>
            </a:r>
            <a:endParaRPr lang="en-US" sz="683" dirty="0"/>
          </a:p>
        </p:txBody>
      </p:sp>
      <p:sp>
        <p:nvSpPr>
          <p:cNvPr id="24" name="Text 18"/>
          <p:cNvSpPr/>
          <p:nvPr/>
        </p:nvSpPr>
        <p:spPr>
          <a:xfrm>
            <a:off x="3521869" y="2814554"/>
            <a:ext cx="2386013" cy="28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VPN/Tunneling :</a:t>
            </a:r>
            <a:r>
              <a:rPr lang="en-US" sz="727" dirty="0">
                <a:solidFill>
                  <a:srgbClr val="242424"/>
                </a:solidFill>
                <a:latin typeface="Open Sans" pitchFamily="34" charset="0"/>
                <a:ea typeface="Open Sans" pitchFamily="34" charset="-122"/>
                <a:cs typeface="Open Sans" pitchFamily="34" charset="-120"/>
              </a:rPr>
              <a:t> Exiger un VPN pour tout accès à l'interface d'administration (port 8080).</a:t>
            </a:r>
            <a:endParaRPr lang="en-US" sz="683" dirty="0"/>
          </a:p>
        </p:txBody>
      </p:sp>
      <p:sp>
        <p:nvSpPr>
          <p:cNvPr id="25" name="Text 19"/>
          <p:cNvSpPr/>
          <p:nvPr/>
        </p:nvSpPr>
        <p:spPr>
          <a:xfrm>
            <a:off x="3521869" y="3151705"/>
            <a:ext cx="2386013" cy="28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Audit des programmes :</a:t>
            </a:r>
            <a:r>
              <a:rPr lang="en-US" sz="727" dirty="0">
                <a:solidFill>
                  <a:srgbClr val="242424"/>
                </a:solidFill>
                <a:latin typeface="Open Sans" pitchFamily="34" charset="0"/>
                <a:ea typeface="Open Sans" pitchFamily="34" charset="-122"/>
                <a:cs typeface="Open Sans" pitchFamily="34" charset="-120"/>
              </a:rPr>
              <a:t> Vérifier tous les programmes ladder/ST uploadés.</a:t>
            </a:r>
            <a:endParaRPr lang="en-US" sz="683" dirty="0"/>
          </a:p>
        </p:txBody>
      </p:sp>
      <p:sp>
        <p:nvSpPr>
          <p:cNvPr id="26" name="Shape 20"/>
          <p:cNvSpPr/>
          <p:nvPr/>
        </p:nvSpPr>
        <p:spPr>
          <a:xfrm>
            <a:off x="6143625" y="1393031"/>
            <a:ext cx="2571750" cy="2651559"/>
          </a:xfrm>
          <a:prstGeom prst="rect">
            <a:avLst/>
          </a:prstGeom>
          <a:solidFill>
            <a:srgbClr val="FFFFFF"/>
          </a:solidFill>
          <a:ln/>
        </p:spPr>
        <p:txBody>
          <a:bodyPr/>
          <a:lstStyle/>
          <a:p>
            <a:endParaRPr lang="fr-FR"/>
          </a:p>
        </p:txBody>
      </p:sp>
      <p:sp>
        <p:nvSpPr>
          <p:cNvPr id="27" name="Shape 21"/>
          <p:cNvSpPr/>
          <p:nvPr/>
        </p:nvSpPr>
        <p:spPr>
          <a:xfrm>
            <a:off x="6143625" y="1393031"/>
            <a:ext cx="2571750" cy="42863"/>
          </a:xfrm>
          <a:prstGeom prst="rect">
            <a:avLst/>
          </a:prstGeom>
          <a:solidFill>
            <a:srgbClr val="D32F2F"/>
          </a:solidFill>
          <a:ln/>
        </p:spPr>
        <p:txBody>
          <a:bodyPr/>
          <a:lstStyle/>
          <a:p>
            <a:endParaRPr lang="fr-FR"/>
          </a:p>
        </p:txBody>
      </p:sp>
      <p:sp>
        <p:nvSpPr>
          <p:cNvPr id="28" name="Text 22"/>
          <p:cNvSpPr/>
          <p:nvPr/>
        </p:nvSpPr>
        <p:spPr>
          <a:xfrm>
            <a:off x="3521869" y="2028825"/>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29" name="Text 23"/>
          <p:cNvSpPr/>
          <p:nvPr/>
        </p:nvSpPr>
        <p:spPr>
          <a:xfrm>
            <a:off x="3521869" y="2505977"/>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30" name="Text 24"/>
          <p:cNvSpPr/>
          <p:nvPr/>
        </p:nvSpPr>
        <p:spPr>
          <a:xfrm>
            <a:off x="3521869" y="2843129"/>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31" name="Text 25"/>
          <p:cNvSpPr/>
          <p:nvPr/>
        </p:nvSpPr>
        <p:spPr>
          <a:xfrm>
            <a:off x="3521869" y="3180280"/>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pic>
        <p:nvPicPr>
          <p:cNvPr id="32" name="Image 3" descr="preencoded.png"/>
          <p:cNvPicPr>
            <a:picLocks noChangeAspect="1"/>
          </p:cNvPicPr>
          <p:nvPr/>
        </p:nvPicPr>
        <p:blipFill>
          <a:blip r:embed="rId6"/>
          <a:stretch>
            <a:fillRect/>
          </a:stretch>
        </p:blipFill>
        <p:spPr>
          <a:xfrm>
            <a:off x="6236494" y="1568053"/>
            <a:ext cx="214313" cy="171450"/>
          </a:xfrm>
          <a:prstGeom prst="rect">
            <a:avLst/>
          </a:prstGeom>
        </p:spPr>
      </p:pic>
      <p:sp>
        <p:nvSpPr>
          <p:cNvPr id="33" name="Text 26"/>
          <p:cNvSpPr/>
          <p:nvPr/>
        </p:nvSpPr>
        <p:spPr>
          <a:xfrm>
            <a:off x="6522244" y="1485900"/>
            <a:ext cx="989409" cy="335756"/>
          </a:xfrm>
          <a:prstGeom prst="rect">
            <a:avLst/>
          </a:prstGeom>
          <a:noFill/>
          <a:ln/>
        </p:spPr>
        <p:txBody>
          <a:bodyPr wrap="square" lIns="0" tIns="0" rIns="0" bIns="0" rtlCol="0" anchor="t">
            <a:spAutoFit/>
          </a:bodyPr>
          <a:lstStyle/>
          <a:p>
            <a:pPr marL="0" indent="0" algn="l">
              <a:lnSpc>
                <a:spcPts val="1400"/>
              </a:lnSpc>
              <a:buNone/>
            </a:pPr>
            <a:r>
              <a:rPr lang="en-US" sz="987" b="1" dirty="0">
                <a:solidFill>
                  <a:srgbClr val="242424"/>
                </a:solidFill>
                <a:latin typeface="Roboto" pitchFamily="34" charset="0"/>
                <a:ea typeface="Roboto" pitchFamily="34" charset="-122"/>
                <a:cs typeface="Roboto" pitchFamily="34" charset="-120"/>
              </a:rPr>
              <a:t>MOYEN TERME
(3-6 MOIS)</a:t>
            </a:r>
            <a:endParaRPr lang="en-US" sz="987" dirty="0"/>
          </a:p>
        </p:txBody>
      </p:sp>
      <p:sp>
        <p:nvSpPr>
          <p:cNvPr id="36" name="Text 29"/>
          <p:cNvSpPr/>
          <p:nvPr/>
        </p:nvSpPr>
        <p:spPr>
          <a:xfrm>
            <a:off x="6236494" y="2004982"/>
            <a:ext cx="2386013" cy="42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Authentification forte :</a:t>
            </a:r>
            <a:r>
              <a:rPr lang="en-US" sz="727" dirty="0">
                <a:solidFill>
                  <a:srgbClr val="242424"/>
                </a:solidFill>
                <a:latin typeface="Open Sans" pitchFamily="34" charset="0"/>
                <a:ea typeface="Open Sans" pitchFamily="34" charset="-122"/>
                <a:cs typeface="Open Sans" pitchFamily="34" charset="-120"/>
              </a:rPr>
              <a:t> Intégrer une authentification multi-facteurs (MFA) pour l'interface web.</a:t>
            </a:r>
            <a:endParaRPr lang="en-US" sz="683" dirty="0"/>
          </a:p>
        </p:txBody>
      </p:sp>
      <p:sp>
        <p:nvSpPr>
          <p:cNvPr id="37" name="Text 30"/>
          <p:cNvSpPr/>
          <p:nvPr/>
        </p:nvSpPr>
        <p:spPr>
          <a:xfrm>
            <a:off x="6253739" y="2588829"/>
            <a:ext cx="2386013" cy="420002"/>
          </a:xfrm>
          <a:prstGeom prst="rect">
            <a:avLst/>
          </a:prstGeom>
          <a:noFill/>
          <a:ln/>
        </p:spPr>
        <p:txBody>
          <a:bodyPr wrap="square" lIns="127508" tIns="0" rIns="0" bIns="0" rtlCol="0" anchor="t">
            <a:spAutoFit/>
          </a:bodyPr>
          <a:lstStyle/>
          <a:p>
            <a:pPr marL="0" indent="0" algn="l">
              <a:lnSpc>
                <a:spcPts val="1100"/>
              </a:lnSpc>
              <a:buNone/>
            </a:pPr>
            <a:r>
              <a:rPr lang="en-US" sz="683" b="1" dirty="0">
                <a:solidFill>
                  <a:srgbClr val="242424"/>
                </a:solidFill>
                <a:latin typeface="Open Sans" pitchFamily="34" charset="0"/>
                <a:ea typeface="Open Sans" pitchFamily="34" charset="-122"/>
                <a:cs typeface="Open Sans" pitchFamily="34" charset="-120"/>
              </a:rPr>
              <a:t>Revue d'architecture :</a:t>
            </a:r>
            <a:r>
              <a:rPr lang="en-US" sz="727" dirty="0">
                <a:solidFill>
                  <a:srgbClr val="242424"/>
                </a:solidFill>
                <a:latin typeface="Open Sans" pitchFamily="34" charset="0"/>
                <a:ea typeface="Open Sans" pitchFamily="34" charset="-122"/>
                <a:cs typeface="Open Sans" pitchFamily="34" charset="-120"/>
              </a:rPr>
              <a:t> Évaluer la transition vers des protocoles ICS sécurisés (ex: Modbus Secure).</a:t>
            </a:r>
            <a:endParaRPr lang="en-US" sz="683" dirty="0"/>
          </a:p>
        </p:txBody>
      </p:sp>
      <p:sp>
        <p:nvSpPr>
          <p:cNvPr id="41" name="Text 34"/>
          <p:cNvSpPr/>
          <p:nvPr/>
        </p:nvSpPr>
        <p:spPr>
          <a:xfrm>
            <a:off x="6236494" y="2505977"/>
            <a:ext cx="65" cy="71623"/>
          </a:xfrm>
          <a:prstGeom prst="rect">
            <a:avLst/>
          </a:prstGeom>
          <a:noFill/>
          <a:ln/>
        </p:spPr>
        <p:txBody>
          <a:bodyPr wrap="none" lIns="0" tIns="0" rIns="0" bIns="0" rtlCol="0" anchor="t">
            <a:spAutoFit/>
          </a:bodyPr>
          <a:lstStyle/>
          <a:p>
            <a:pPr marL="0" indent="0" algn="l">
              <a:lnSpc>
                <a:spcPts val="600"/>
              </a:lnSpc>
              <a:buNone/>
            </a:pPr>
            <a:endParaRPr lang="en-US" sz="411" dirty="0"/>
          </a:p>
        </p:txBody>
      </p:sp>
      <p:sp>
        <p:nvSpPr>
          <p:cNvPr id="42" name="Text 35"/>
          <p:cNvSpPr/>
          <p:nvPr/>
        </p:nvSpPr>
        <p:spPr>
          <a:xfrm>
            <a:off x="6270985" y="2052870"/>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
        <p:nvSpPr>
          <p:cNvPr id="43" name="Text 36"/>
          <p:cNvSpPr/>
          <p:nvPr/>
        </p:nvSpPr>
        <p:spPr>
          <a:xfrm>
            <a:off x="6253739" y="2589522"/>
            <a:ext cx="34491" cy="79977"/>
          </a:xfrm>
          <a:prstGeom prst="rect">
            <a:avLst/>
          </a:prstGeom>
          <a:noFill/>
          <a:ln/>
        </p:spPr>
        <p:txBody>
          <a:bodyPr wrap="none" lIns="0" tIns="0" rIns="0" bIns="0" rtlCol="0" anchor="t">
            <a:spAutoFit/>
          </a:bodyPr>
          <a:lstStyle/>
          <a:p>
            <a:pPr marL="0" indent="0" algn="l">
              <a:lnSpc>
                <a:spcPts val="600"/>
              </a:lnSpc>
              <a:buNone/>
            </a:pPr>
            <a:r>
              <a:rPr lang="en-US" sz="411" dirty="0">
                <a:solidFill>
                  <a:srgbClr val="D32F2F"/>
                </a:solidFill>
                <a:latin typeface="Open Sans" pitchFamily="34" charset="0"/>
                <a:ea typeface="Open Sans" pitchFamily="34" charset="-122"/>
                <a:cs typeface="Open Sans" pitchFamily="34" charset="-120"/>
              </a:rPr>
              <a:t>■</a:t>
            </a:r>
            <a:endParaRPr lang="en-US" sz="411" dirty="0"/>
          </a:p>
        </p:txBody>
      </p:sp>
    </p:spTree>
    <p:extLst>
      <p:ext uri="{BB962C8B-B14F-4D97-AF65-F5344CB8AC3E}">
        <p14:creationId xmlns:p14="http://schemas.microsoft.com/office/powerpoint/2010/main" val="40869559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30860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ANNEXES I : BOÎTE À OUTILS DE L'AUDIT ICS/SCADA</a:t>
            </a:r>
            <a:endParaRPr lang="en-US" sz="1808" dirty="0"/>
          </a:p>
        </p:txBody>
      </p:sp>
      <p:sp>
        <p:nvSpPr>
          <p:cNvPr id="5" name="Shape 1"/>
          <p:cNvSpPr/>
          <p:nvPr/>
        </p:nvSpPr>
        <p:spPr>
          <a:xfrm>
            <a:off x="714375" y="737229"/>
            <a:ext cx="3893344" cy="2095965"/>
          </a:xfrm>
          <a:prstGeom prst="rect">
            <a:avLst/>
          </a:prstGeom>
          <a:solidFill>
            <a:srgbClr val="FFFFFF"/>
          </a:solidFill>
          <a:ln/>
        </p:spPr>
        <p:txBody>
          <a:bodyPr/>
          <a:lstStyle/>
          <a:p>
            <a:endParaRPr lang="fr-FR"/>
          </a:p>
        </p:txBody>
      </p:sp>
      <p:sp>
        <p:nvSpPr>
          <p:cNvPr id="6" name="Shape 2"/>
          <p:cNvSpPr/>
          <p:nvPr/>
        </p:nvSpPr>
        <p:spPr>
          <a:xfrm>
            <a:off x="714375" y="737229"/>
            <a:ext cx="3893344" cy="42863"/>
          </a:xfrm>
          <a:prstGeom prst="rect">
            <a:avLst/>
          </a:prstGeom>
          <a:solidFill>
            <a:srgbClr val="242424"/>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892969" y="915823"/>
            <a:ext cx="285750" cy="228600"/>
          </a:xfrm>
          <a:prstGeom prst="rect">
            <a:avLst/>
          </a:prstGeom>
        </p:spPr>
      </p:pic>
      <p:sp>
        <p:nvSpPr>
          <p:cNvPr id="8" name="Text 3"/>
          <p:cNvSpPr/>
          <p:nvPr/>
        </p:nvSpPr>
        <p:spPr>
          <a:xfrm>
            <a:off x="1285875" y="930111"/>
            <a:ext cx="500063" cy="20002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42424"/>
                </a:solidFill>
                <a:latin typeface="Roboto" pitchFamily="34" charset="0"/>
                <a:ea typeface="Roboto" pitchFamily="34" charset="-122"/>
                <a:cs typeface="Roboto" pitchFamily="34" charset="-120"/>
              </a:rPr>
              <a:t>NMAP</a:t>
            </a:r>
            <a:endParaRPr lang="en-US" sz="1193" dirty="0"/>
          </a:p>
        </p:txBody>
      </p:sp>
      <p:sp>
        <p:nvSpPr>
          <p:cNvPr id="9" name="Text 4"/>
          <p:cNvSpPr/>
          <p:nvPr/>
        </p:nvSpPr>
        <p:spPr>
          <a:xfrm>
            <a:off x="892969" y="1251579"/>
            <a:ext cx="3536156"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Utilisé pour la reconnaissance réseau, le scan de ports et le fingerprinting des services (Werkzeug, Modbus, EtherNet/IP).</a:t>
            </a:r>
            <a:endParaRPr lang="en-US" sz="834" dirty="0"/>
          </a:p>
        </p:txBody>
      </p:sp>
      <p:sp>
        <p:nvSpPr>
          <p:cNvPr id="10" name="Text 5"/>
          <p:cNvSpPr/>
          <p:nvPr/>
        </p:nvSpPr>
        <p:spPr>
          <a:xfrm>
            <a:off x="892969" y="2536729"/>
            <a:ext cx="3536156" cy="11787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Roboto" pitchFamily="34" charset="0"/>
                <a:ea typeface="Roboto" pitchFamily="34" charset="-122"/>
                <a:cs typeface="Roboto" pitchFamily="34" charset="-120"/>
              </a:rPr>
              <a:t>RECONNAISSANCE &amp; FINGERPRINTING</a:t>
            </a:r>
            <a:endParaRPr lang="en-US" sz="683" dirty="0"/>
          </a:p>
        </p:txBody>
      </p:sp>
      <p:sp>
        <p:nvSpPr>
          <p:cNvPr id="11" name="Shape 6"/>
          <p:cNvSpPr/>
          <p:nvPr/>
        </p:nvSpPr>
        <p:spPr>
          <a:xfrm>
            <a:off x="4822031" y="737229"/>
            <a:ext cx="3893344" cy="2095965"/>
          </a:xfrm>
          <a:prstGeom prst="rect">
            <a:avLst/>
          </a:prstGeom>
          <a:solidFill>
            <a:srgbClr val="FFFFFF"/>
          </a:solidFill>
          <a:ln/>
        </p:spPr>
        <p:txBody>
          <a:bodyPr/>
          <a:lstStyle/>
          <a:p>
            <a:endParaRPr lang="fr-FR"/>
          </a:p>
        </p:txBody>
      </p:sp>
      <p:sp>
        <p:nvSpPr>
          <p:cNvPr id="12" name="Shape 7"/>
          <p:cNvSpPr/>
          <p:nvPr/>
        </p:nvSpPr>
        <p:spPr>
          <a:xfrm>
            <a:off x="4822031" y="737229"/>
            <a:ext cx="3893344" cy="42863"/>
          </a:xfrm>
          <a:prstGeom prst="rect">
            <a:avLst/>
          </a:prstGeom>
          <a:solidFill>
            <a:srgbClr val="242424"/>
          </a:solidFill>
          <a:ln/>
        </p:spPr>
        <p:txBody>
          <a:bodyPr/>
          <a:lstStyle/>
          <a:p>
            <a:endParaRPr lang="fr-FR"/>
          </a:p>
        </p:txBody>
      </p:sp>
      <p:pic>
        <p:nvPicPr>
          <p:cNvPr id="13" name="Image 2" descr="preencoded.png"/>
          <p:cNvPicPr>
            <a:picLocks noChangeAspect="1"/>
          </p:cNvPicPr>
          <p:nvPr/>
        </p:nvPicPr>
        <p:blipFill>
          <a:blip r:embed="rId5"/>
          <a:stretch>
            <a:fillRect/>
          </a:stretch>
        </p:blipFill>
        <p:spPr>
          <a:xfrm>
            <a:off x="5000625" y="915823"/>
            <a:ext cx="285750" cy="228600"/>
          </a:xfrm>
          <a:prstGeom prst="rect">
            <a:avLst/>
          </a:prstGeom>
        </p:spPr>
      </p:pic>
      <p:sp>
        <p:nvSpPr>
          <p:cNvPr id="14" name="Text 8"/>
          <p:cNvSpPr/>
          <p:nvPr/>
        </p:nvSpPr>
        <p:spPr>
          <a:xfrm>
            <a:off x="5393531" y="930111"/>
            <a:ext cx="505420" cy="20002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42424"/>
                </a:solidFill>
                <a:latin typeface="Roboto" pitchFamily="34" charset="0"/>
                <a:ea typeface="Roboto" pitchFamily="34" charset="-122"/>
                <a:cs typeface="Roboto" pitchFamily="34" charset="-120"/>
              </a:rPr>
              <a:t>NIKTO</a:t>
            </a:r>
            <a:endParaRPr lang="en-US" sz="1193" dirty="0"/>
          </a:p>
        </p:txBody>
      </p:sp>
      <p:sp>
        <p:nvSpPr>
          <p:cNvPr id="15" name="Text 9"/>
          <p:cNvSpPr/>
          <p:nvPr/>
        </p:nvSpPr>
        <p:spPr>
          <a:xfrm>
            <a:off x="5000625" y="1251579"/>
            <a:ext cx="3536156"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Scanner de vulnérabilités web utilisé pour identifier les mauvaises configurations, les headers manquants et les fichiers sensibles.</a:t>
            </a:r>
            <a:endParaRPr lang="en-US" sz="834" dirty="0"/>
          </a:p>
        </p:txBody>
      </p:sp>
      <p:sp>
        <p:nvSpPr>
          <p:cNvPr id="16" name="Text 10"/>
          <p:cNvSpPr/>
          <p:nvPr/>
        </p:nvSpPr>
        <p:spPr>
          <a:xfrm>
            <a:off x="5000625" y="2536729"/>
            <a:ext cx="3536156" cy="11787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Roboto" pitchFamily="34" charset="0"/>
                <a:ea typeface="Roboto" pitchFamily="34" charset="-122"/>
                <a:cs typeface="Roboto" pitchFamily="34" charset="-120"/>
              </a:rPr>
              <a:t>SCAN DE VULNÉRABILITÉS WEB</a:t>
            </a:r>
            <a:endParaRPr lang="en-US" sz="683" dirty="0"/>
          </a:p>
        </p:txBody>
      </p:sp>
      <p:sp>
        <p:nvSpPr>
          <p:cNvPr id="17" name="Shape 11"/>
          <p:cNvSpPr/>
          <p:nvPr/>
        </p:nvSpPr>
        <p:spPr>
          <a:xfrm>
            <a:off x="714375" y="3047507"/>
            <a:ext cx="3893344" cy="2095993"/>
          </a:xfrm>
          <a:prstGeom prst="rect">
            <a:avLst/>
          </a:prstGeom>
          <a:solidFill>
            <a:srgbClr val="FFFFFF"/>
          </a:solidFill>
          <a:ln/>
        </p:spPr>
        <p:txBody>
          <a:bodyPr/>
          <a:lstStyle/>
          <a:p>
            <a:endParaRPr lang="fr-FR"/>
          </a:p>
        </p:txBody>
      </p:sp>
      <p:sp>
        <p:nvSpPr>
          <p:cNvPr id="18" name="Shape 12"/>
          <p:cNvSpPr/>
          <p:nvPr/>
        </p:nvSpPr>
        <p:spPr>
          <a:xfrm>
            <a:off x="714375" y="3047507"/>
            <a:ext cx="3893344" cy="42863"/>
          </a:xfrm>
          <a:prstGeom prst="rect">
            <a:avLst/>
          </a:prstGeom>
          <a:solidFill>
            <a:srgbClr val="242424"/>
          </a:solidFill>
          <a:ln/>
        </p:spPr>
        <p:txBody>
          <a:bodyPr/>
          <a:lstStyle/>
          <a:p>
            <a:endParaRPr lang="fr-FR"/>
          </a:p>
        </p:txBody>
      </p:sp>
      <p:pic>
        <p:nvPicPr>
          <p:cNvPr id="19" name="Image 3" descr="preencoded.png"/>
          <p:cNvPicPr>
            <a:picLocks noChangeAspect="1"/>
          </p:cNvPicPr>
          <p:nvPr/>
        </p:nvPicPr>
        <p:blipFill>
          <a:blip r:embed="rId6"/>
          <a:stretch>
            <a:fillRect/>
          </a:stretch>
        </p:blipFill>
        <p:spPr>
          <a:xfrm>
            <a:off x="892969" y="3226101"/>
            <a:ext cx="285750" cy="228600"/>
          </a:xfrm>
          <a:prstGeom prst="rect">
            <a:avLst/>
          </a:prstGeom>
        </p:spPr>
      </p:pic>
      <p:sp>
        <p:nvSpPr>
          <p:cNvPr id="20" name="Text 13"/>
          <p:cNvSpPr/>
          <p:nvPr/>
        </p:nvSpPr>
        <p:spPr>
          <a:xfrm>
            <a:off x="1285875" y="3240388"/>
            <a:ext cx="430411" cy="20002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42424"/>
                </a:solidFill>
                <a:latin typeface="Roboto" pitchFamily="34" charset="0"/>
                <a:ea typeface="Roboto" pitchFamily="34" charset="-122"/>
                <a:cs typeface="Roboto" pitchFamily="34" charset="-120"/>
              </a:rPr>
              <a:t>CURL</a:t>
            </a:r>
            <a:endParaRPr lang="en-US" sz="1193" dirty="0"/>
          </a:p>
        </p:txBody>
      </p:sp>
      <p:sp>
        <p:nvSpPr>
          <p:cNvPr id="21" name="Text 14"/>
          <p:cNvSpPr/>
          <p:nvPr/>
        </p:nvSpPr>
        <p:spPr>
          <a:xfrm>
            <a:off x="892969" y="3561857"/>
            <a:ext cx="3536156"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Outil en ligne de commande pour interagir avec l'interface web, analyser les headers HTTP et tester l'authentification (POST/GET).</a:t>
            </a:r>
            <a:endParaRPr lang="en-US" sz="834" dirty="0"/>
          </a:p>
        </p:txBody>
      </p:sp>
      <p:sp>
        <p:nvSpPr>
          <p:cNvPr id="22" name="Text 15"/>
          <p:cNvSpPr/>
          <p:nvPr/>
        </p:nvSpPr>
        <p:spPr>
          <a:xfrm>
            <a:off x="892969" y="4847034"/>
            <a:ext cx="3536156" cy="11787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Roboto" pitchFamily="34" charset="0"/>
                <a:ea typeface="Roboto" pitchFamily="34" charset="-122"/>
                <a:cs typeface="Roboto" pitchFamily="34" charset="-120"/>
              </a:rPr>
              <a:t>ANALYSE HTTP &amp; API</a:t>
            </a:r>
            <a:endParaRPr lang="en-US" sz="683" dirty="0"/>
          </a:p>
        </p:txBody>
      </p:sp>
      <p:sp>
        <p:nvSpPr>
          <p:cNvPr id="23" name="Shape 16"/>
          <p:cNvSpPr/>
          <p:nvPr/>
        </p:nvSpPr>
        <p:spPr>
          <a:xfrm>
            <a:off x="4822031" y="3047507"/>
            <a:ext cx="3893344" cy="2095993"/>
          </a:xfrm>
          <a:prstGeom prst="rect">
            <a:avLst/>
          </a:prstGeom>
          <a:solidFill>
            <a:srgbClr val="FFFFFF"/>
          </a:solidFill>
          <a:ln/>
        </p:spPr>
        <p:txBody>
          <a:bodyPr/>
          <a:lstStyle/>
          <a:p>
            <a:endParaRPr lang="fr-FR"/>
          </a:p>
        </p:txBody>
      </p:sp>
      <p:sp>
        <p:nvSpPr>
          <p:cNvPr id="24" name="Shape 17"/>
          <p:cNvSpPr/>
          <p:nvPr/>
        </p:nvSpPr>
        <p:spPr>
          <a:xfrm>
            <a:off x="4822031" y="3047507"/>
            <a:ext cx="3893344" cy="42863"/>
          </a:xfrm>
          <a:prstGeom prst="rect">
            <a:avLst/>
          </a:prstGeom>
          <a:solidFill>
            <a:srgbClr val="242424"/>
          </a:solidFill>
          <a:ln/>
        </p:spPr>
        <p:txBody>
          <a:bodyPr/>
          <a:lstStyle/>
          <a:p>
            <a:endParaRPr lang="fr-FR"/>
          </a:p>
        </p:txBody>
      </p:sp>
      <p:pic>
        <p:nvPicPr>
          <p:cNvPr id="25" name="Image 4" descr="preencoded.png"/>
          <p:cNvPicPr>
            <a:picLocks noChangeAspect="1"/>
          </p:cNvPicPr>
          <p:nvPr/>
        </p:nvPicPr>
        <p:blipFill>
          <a:blip r:embed="rId7"/>
          <a:stretch>
            <a:fillRect/>
          </a:stretch>
        </p:blipFill>
        <p:spPr>
          <a:xfrm>
            <a:off x="5000625" y="3226101"/>
            <a:ext cx="285750" cy="228600"/>
          </a:xfrm>
          <a:prstGeom prst="rect">
            <a:avLst/>
          </a:prstGeom>
        </p:spPr>
      </p:pic>
      <p:sp>
        <p:nvSpPr>
          <p:cNvPr id="26" name="Text 18"/>
          <p:cNvSpPr/>
          <p:nvPr/>
        </p:nvSpPr>
        <p:spPr>
          <a:xfrm>
            <a:off x="5393531" y="3240388"/>
            <a:ext cx="669727" cy="200025"/>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42424"/>
                </a:solidFill>
                <a:latin typeface="Roboto" pitchFamily="34" charset="0"/>
                <a:ea typeface="Roboto" pitchFamily="34" charset="-122"/>
                <a:cs typeface="Roboto" pitchFamily="34" charset="-120"/>
              </a:rPr>
              <a:t>SQLITE3</a:t>
            </a:r>
            <a:endParaRPr lang="en-US" sz="1193" dirty="0"/>
          </a:p>
        </p:txBody>
      </p:sp>
      <p:sp>
        <p:nvSpPr>
          <p:cNvPr id="27" name="Text 19"/>
          <p:cNvSpPr/>
          <p:nvPr/>
        </p:nvSpPr>
        <p:spPr>
          <a:xfrm>
            <a:off x="5000625" y="3561857"/>
            <a:ext cx="3536156" cy="342900"/>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24242"/>
                </a:solidFill>
                <a:latin typeface="Open Sans" pitchFamily="34" charset="0"/>
                <a:ea typeface="Open Sans" pitchFamily="34" charset="-122"/>
                <a:cs typeface="Open Sans" pitchFamily="34" charset="-120"/>
              </a:rPr>
              <a:t>Utilisé pour l'analyse directe de la base de données interne d'OpenPLC (openplc.db) et l'extraction des credentials.</a:t>
            </a:r>
            <a:endParaRPr lang="en-US" sz="834" dirty="0"/>
          </a:p>
        </p:txBody>
      </p:sp>
      <p:sp>
        <p:nvSpPr>
          <p:cNvPr id="28" name="Text 20"/>
          <p:cNvSpPr/>
          <p:nvPr/>
        </p:nvSpPr>
        <p:spPr>
          <a:xfrm>
            <a:off x="5000625" y="4847034"/>
            <a:ext cx="3536156" cy="11787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D32F2F"/>
                </a:solidFill>
                <a:latin typeface="Roboto" pitchFamily="34" charset="0"/>
                <a:ea typeface="Roboto" pitchFamily="34" charset="-122"/>
                <a:cs typeface="Roboto" pitchFamily="34" charset="-120"/>
              </a:rPr>
              <a:t>ANALYSE DE BASE DE DONNÉES</a:t>
            </a:r>
            <a:endParaRPr lang="en-US" sz="683"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30860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ANNEXES II : COMMANDES D'AUDIT &amp; RECONNAISSANCE WEB</a:t>
            </a:r>
            <a:endParaRPr lang="en-US" sz="1808" dirty="0"/>
          </a:p>
        </p:txBody>
      </p:sp>
      <p:sp>
        <p:nvSpPr>
          <p:cNvPr id="5" name="Shape 1"/>
          <p:cNvSpPr/>
          <p:nvPr/>
        </p:nvSpPr>
        <p:spPr>
          <a:xfrm>
            <a:off x="714375" y="737229"/>
            <a:ext cx="3086100" cy="537567"/>
          </a:xfrm>
          <a:prstGeom prst="rect">
            <a:avLst/>
          </a:prstGeom>
          <a:solidFill>
            <a:srgbClr val="FFFFFF"/>
          </a:solidFill>
          <a:ln/>
        </p:spPr>
        <p:txBody>
          <a:bodyPr/>
          <a:lstStyle/>
          <a:p>
            <a:endParaRPr lang="fr-FR"/>
          </a:p>
        </p:txBody>
      </p:sp>
      <p:sp>
        <p:nvSpPr>
          <p:cNvPr id="6" name="Shape 2"/>
          <p:cNvSpPr/>
          <p:nvPr/>
        </p:nvSpPr>
        <p:spPr>
          <a:xfrm>
            <a:off x="714375" y="737229"/>
            <a:ext cx="42863" cy="537567"/>
          </a:xfrm>
          <a:prstGeom prst="rect">
            <a:avLst/>
          </a:prstGeom>
          <a:solidFill>
            <a:srgbClr val="D32F2F"/>
          </a:solidFill>
          <a:ln/>
        </p:spPr>
        <p:txBody>
          <a:bodyPr/>
          <a:lstStyle/>
          <a:p>
            <a:endParaRPr lang="fr-FR"/>
          </a:p>
        </p:txBody>
      </p:sp>
      <p:sp>
        <p:nvSpPr>
          <p:cNvPr id="7" name="Text 3"/>
          <p:cNvSpPr/>
          <p:nvPr/>
        </p:nvSpPr>
        <p:spPr>
          <a:xfrm>
            <a:off x="821531" y="844386"/>
            <a:ext cx="2871788"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SCAN DE PORTS &amp; SERVICES</a:t>
            </a:r>
            <a:endParaRPr lang="en-US" sz="885" dirty="0"/>
          </a:p>
        </p:txBody>
      </p:sp>
      <p:sp>
        <p:nvSpPr>
          <p:cNvPr id="8" name="Text 4"/>
          <p:cNvSpPr/>
          <p:nvPr/>
        </p:nvSpPr>
        <p:spPr>
          <a:xfrm>
            <a:off x="821531" y="1031909"/>
            <a:ext cx="287178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Open Sans" pitchFamily="34" charset="0"/>
                <a:ea typeface="Open Sans" pitchFamily="34" charset="-122"/>
                <a:cs typeface="Open Sans" pitchFamily="34" charset="-120"/>
              </a:rPr>
              <a:t>Reconnaissance réseau et fingerprinting des versions.</a:t>
            </a:r>
            <a:endParaRPr lang="en-US" sz="727" dirty="0"/>
          </a:p>
        </p:txBody>
      </p:sp>
      <p:sp>
        <p:nvSpPr>
          <p:cNvPr id="9" name="Shape 5"/>
          <p:cNvSpPr/>
          <p:nvPr/>
        </p:nvSpPr>
        <p:spPr>
          <a:xfrm>
            <a:off x="714375" y="1417672"/>
            <a:ext cx="3086100" cy="537567"/>
          </a:xfrm>
          <a:prstGeom prst="rect">
            <a:avLst/>
          </a:prstGeom>
          <a:solidFill>
            <a:srgbClr val="FFFFFF"/>
          </a:solidFill>
          <a:ln/>
        </p:spPr>
        <p:txBody>
          <a:bodyPr/>
          <a:lstStyle/>
          <a:p>
            <a:endParaRPr lang="fr-FR"/>
          </a:p>
        </p:txBody>
      </p:sp>
      <p:sp>
        <p:nvSpPr>
          <p:cNvPr id="10" name="Shape 6"/>
          <p:cNvSpPr/>
          <p:nvPr/>
        </p:nvSpPr>
        <p:spPr>
          <a:xfrm>
            <a:off x="714375" y="1417672"/>
            <a:ext cx="42863" cy="537567"/>
          </a:xfrm>
          <a:prstGeom prst="rect">
            <a:avLst/>
          </a:prstGeom>
          <a:solidFill>
            <a:srgbClr val="D32F2F"/>
          </a:solidFill>
          <a:ln/>
        </p:spPr>
        <p:txBody>
          <a:bodyPr/>
          <a:lstStyle/>
          <a:p>
            <a:endParaRPr lang="fr-FR"/>
          </a:p>
        </p:txBody>
      </p:sp>
      <p:sp>
        <p:nvSpPr>
          <p:cNvPr id="11" name="Text 7"/>
          <p:cNvSpPr/>
          <p:nvPr/>
        </p:nvSpPr>
        <p:spPr>
          <a:xfrm>
            <a:off x="821531" y="1524828"/>
            <a:ext cx="2871788"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ANALYSE DES HEADERS HTTP</a:t>
            </a:r>
            <a:endParaRPr lang="en-US" sz="885" dirty="0"/>
          </a:p>
        </p:txBody>
      </p:sp>
      <p:sp>
        <p:nvSpPr>
          <p:cNvPr id="12" name="Text 8"/>
          <p:cNvSpPr/>
          <p:nvPr/>
        </p:nvSpPr>
        <p:spPr>
          <a:xfrm>
            <a:off x="821531" y="1712351"/>
            <a:ext cx="287178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Open Sans" pitchFamily="34" charset="0"/>
                <a:ea typeface="Open Sans" pitchFamily="34" charset="-122"/>
                <a:cs typeface="Open Sans" pitchFamily="34" charset="-120"/>
              </a:rPr>
              <a:t>Vérification des protections de sécurité web.</a:t>
            </a:r>
            <a:endParaRPr lang="en-US" sz="727" dirty="0"/>
          </a:p>
        </p:txBody>
      </p:sp>
      <p:sp>
        <p:nvSpPr>
          <p:cNvPr id="13" name="Shape 9"/>
          <p:cNvSpPr/>
          <p:nvPr/>
        </p:nvSpPr>
        <p:spPr>
          <a:xfrm>
            <a:off x="714375" y="2098114"/>
            <a:ext cx="3086100" cy="537567"/>
          </a:xfrm>
          <a:prstGeom prst="rect">
            <a:avLst/>
          </a:prstGeom>
          <a:solidFill>
            <a:srgbClr val="FFFFFF"/>
          </a:solidFill>
          <a:ln/>
        </p:spPr>
        <p:txBody>
          <a:bodyPr/>
          <a:lstStyle/>
          <a:p>
            <a:endParaRPr lang="fr-FR"/>
          </a:p>
        </p:txBody>
      </p:sp>
      <p:sp>
        <p:nvSpPr>
          <p:cNvPr id="14" name="Shape 10"/>
          <p:cNvSpPr/>
          <p:nvPr/>
        </p:nvSpPr>
        <p:spPr>
          <a:xfrm>
            <a:off x="714375" y="2098114"/>
            <a:ext cx="42863" cy="537567"/>
          </a:xfrm>
          <a:prstGeom prst="rect">
            <a:avLst/>
          </a:prstGeom>
          <a:solidFill>
            <a:srgbClr val="D32F2F"/>
          </a:solidFill>
          <a:ln/>
        </p:spPr>
        <p:txBody>
          <a:bodyPr/>
          <a:lstStyle/>
          <a:p>
            <a:endParaRPr lang="fr-FR"/>
          </a:p>
        </p:txBody>
      </p:sp>
      <p:sp>
        <p:nvSpPr>
          <p:cNvPr id="15" name="Text 11"/>
          <p:cNvSpPr/>
          <p:nvPr/>
        </p:nvSpPr>
        <p:spPr>
          <a:xfrm>
            <a:off x="821531" y="2205270"/>
            <a:ext cx="2871788"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TEST D'AUTHENTIFICATION</a:t>
            </a:r>
            <a:endParaRPr lang="en-US" sz="885" dirty="0"/>
          </a:p>
        </p:txBody>
      </p:sp>
      <p:sp>
        <p:nvSpPr>
          <p:cNvPr id="16" name="Text 12"/>
          <p:cNvSpPr/>
          <p:nvPr/>
        </p:nvSpPr>
        <p:spPr>
          <a:xfrm>
            <a:off x="821531" y="2392793"/>
            <a:ext cx="287178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Open Sans" pitchFamily="34" charset="0"/>
                <a:ea typeface="Open Sans" pitchFamily="34" charset="-122"/>
                <a:cs typeface="Open Sans" pitchFamily="34" charset="-120"/>
              </a:rPr>
              <a:t>Soumission POST avec credentials par défaut.</a:t>
            </a:r>
            <a:endParaRPr lang="en-US" sz="727" dirty="0"/>
          </a:p>
        </p:txBody>
      </p:sp>
      <p:sp>
        <p:nvSpPr>
          <p:cNvPr id="17" name="Shape 13"/>
          <p:cNvSpPr/>
          <p:nvPr/>
        </p:nvSpPr>
        <p:spPr>
          <a:xfrm>
            <a:off x="714375" y="2778556"/>
            <a:ext cx="3086100" cy="537567"/>
          </a:xfrm>
          <a:prstGeom prst="rect">
            <a:avLst/>
          </a:prstGeom>
          <a:solidFill>
            <a:srgbClr val="FFFFFF"/>
          </a:solidFill>
          <a:ln/>
        </p:spPr>
        <p:txBody>
          <a:bodyPr/>
          <a:lstStyle/>
          <a:p>
            <a:endParaRPr lang="fr-FR"/>
          </a:p>
        </p:txBody>
      </p:sp>
      <p:sp>
        <p:nvSpPr>
          <p:cNvPr id="18" name="Shape 14"/>
          <p:cNvSpPr/>
          <p:nvPr/>
        </p:nvSpPr>
        <p:spPr>
          <a:xfrm>
            <a:off x="714375" y="2778556"/>
            <a:ext cx="42863" cy="537567"/>
          </a:xfrm>
          <a:prstGeom prst="rect">
            <a:avLst/>
          </a:prstGeom>
          <a:solidFill>
            <a:srgbClr val="D32F2F"/>
          </a:solidFill>
          <a:ln/>
        </p:spPr>
        <p:txBody>
          <a:bodyPr/>
          <a:lstStyle/>
          <a:p>
            <a:endParaRPr lang="fr-FR"/>
          </a:p>
        </p:txBody>
      </p:sp>
      <p:sp>
        <p:nvSpPr>
          <p:cNvPr id="19" name="Text 15"/>
          <p:cNvSpPr/>
          <p:nvPr/>
        </p:nvSpPr>
        <p:spPr>
          <a:xfrm>
            <a:off x="821531" y="2885712"/>
            <a:ext cx="2871788"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SCAN DE VULNÉRABILITÉS WEB</a:t>
            </a:r>
            <a:endParaRPr lang="en-US" sz="885" dirty="0"/>
          </a:p>
        </p:txBody>
      </p:sp>
      <p:sp>
        <p:nvSpPr>
          <p:cNvPr id="20" name="Text 16"/>
          <p:cNvSpPr/>
          <p:nvPr/>
        </p:nvSpPr>
        <p:spPr>
          <a:xfrm>
            <a:off x="821531" y="3073236"/>
            <a:ext cx="2871788" cy="135731"/>
          </a:xfrm>
          <a:prstGeom prst="rect">
            <a:avLst/>
          </a:prstGeom>
          <a:noFill/>
          <a:ln/>
        </p:spPr>
        <p:txBody>
          <a:bodyPr wrap="none" lIns="0" tIns="0" rIns="0" bIns="0" rtlCol="0" anchor="t">
            <a:spAutoFit/>
          </a:bodyPr>
          <a:lstStyle/>
          <a:p>
            <a:pPr marL="0" indent="0" algn="l">
              <a:lnSpc>
                <a:spcPts val="900"/>
              </a:lnSpc>
              <a:buNone/>
            </a:pPr>
            <a:r>
              <a:rPr lang="en-US" sz="727" dirty="0">
                <a:solidFill>
                  <a:srgbClr val="666666"/>
                </a:solidFill>
                <a:latin typeface="Open Sans" pitchFamily="34" charset="0"/>
                <a:ea typeface="Open Sans" pitchFamily="34" charset="-122"/>
                <a:cs typeface="Open Sans" pitchFamily="34" charset="-120"/>
              </a:rPr>
              <a:t>Analyse automatisée avec Nikto.</a:t>
            </a:r>
            <a:endParaRPr lang="en-US" sz="727" dirty="0"/>
          </a:p>
        </p:txBody>
      </p:sp>
      <p:sp>
        <p:nvSpPr>
          <p:cNvPr id="21" name="Shape 17"/>
          <p:cNvSpPr/>
          <p:nvPr/>
        </p:nvSpPr>
        <p:spPr>
          <a:xfrm>
            <a:off x="4086225" y="737229"/>
            <a:ext cx="4629150" cy="617209"/>
          </a:xfrm>
          <a:prstGeom prst="rect">
            <a:avLst/>
          </a:prstGeom>
          <a:solidFill>
            <a:srgbClr val="1A1A1A"/>
          </a:solidFill>
          <a:ln/>
        </p:spPr>
        <p:txBody>
          <a:bodyPr/>
          <a:lstStyle/>
          <a:p>
            <a:endParaRPr lang="fr-FR"/>
          </a:p>
        </p:txBody>
      </p:sp>
      <p:sp>
        <p:nvSpPr>
          <p:cNvPr id="22" name="Shape 18"/>
          <p:cNvSpPr/>
          <p:nvPr/>
        </p:nvSpPr>
        <p:spPr>
          <a:xfrm>
            <a:off x="4086225" y="737229"/>
            <a:ext cx="4629150" cy="142875"/>
          </a:xfrm>
          <a:prstGeom prst="rect">
            <a:avLst/>
          </a:prstGeom>
          <a:solidFill>
            <a:srgbClr val="333333"/>
          </a:solidFill>
          <a:ln/>
        </p:spPr>
        <p:txBody>
          <a:bodyPr/>
          <a:lstStyle/>
          <a:p>
            <a:endParaRPr lang="fr-FR"/>
          </a:p>
        </p:txBody>
      </p:sp>
      <p:sp>
        <p:nvSpPr>
          <p:cNvPr id="23" name="Text 19"/>
          <p:cNvSpPr/>
          <p:nvPr/>
        </p:nvSpPr>
        <p:spPr>
          <a:xfrm>
            <a:off x="4086225" y="737229"/>
            <a:ext cx="4629150" cy="617209"/>
          </a:xfrm>
          <a:prstGeom prst="rect">
            <a:avLst/>
          </a:prstGeom>
          <a:noFill/>
          <a:ln/>
        </p:spPr>
        <p:txBody>
          <a:bodyPr wrap="square" lIns="127508" tIns="127508" rIns="127508" bIns="127508" rtlCol="0" anchor="t">
            <a:spAutoFit/>
          </a:bodyPr>
          <a:lstStyle/>
          <a:p>
            <a:pPr marL="0" indent="0" algn="l">
              <a:lnSpc>
                <a:spcPts val="1000"/>
              </a:lnSpc>
              <a:buNone/>
            </a:pPr>
            <a:r>
              <a:rPr lang="en-US" sz="674" dirty="0">
                <a:solidFill>
                  <a:srgbClr val="4CAF50"/>
                </a:solidFill>
                <a:latin typeface="Fira Code" pitchFamily="34" charset="0"/>
                <a:ea typeface="Fira Code" pitchFamily="34" charset="-122"/>
                <a:cs typeface="Fira Code" pitchFamily="34" charset="-120"/>
              </a:rPr>
              <a:t>user@ubuntu:~$</a:t>
            </a:r>
            <a:r>
              <a:rPr lang="en-US" sz="674" dirty="0">
                <a:solidFill>
                  <a:srgbClr val="E0E0E0"/>
                </a:solidFill>
                <a:latin typeface="Fira Code" pitchFamily="34" charset="0"/>
                <a:ea typeface="Fira Code" pitchFamily="34" charset="-122"/>
                <a:cs typeface="Fira Code" pitchFamily="34" charset="-120"/>
              </a:rPr>
              <a:t> </a:t>
            </a:r>
            <a:r>
              <a:rPr lang="en-US" sz="674" dirty="0">
                <a:solidFill>
                  <a:srgbClr val="FFFFFF"/>
                </a:solidFill>
                <a:latin typeface="Fira Code" pitchFamily="34" charset="0"/>
                <a:ea typeface="Fira Code" pitchFamily="34" charset="-122"/>
                <a:cs typeface="Fira Code" pitchFamily="34" charset="-120"/>
              </a:rPr>
              <a:t>nmap -sV -p 8080,502,44818 localhost</a:t>
            </a:r>
            <a:r>
              <a:rPr lang="en-US" sz="674" dirty="0">
                <a:solidFill>
                  <a:srgbClr val="E0E0E0"/>
                </a:solidFill>
                <a:latin typeface="Fira Code" pitchFamily="34" charset="0"/>
                <a:ea typeface="Fira Code" pitchFamily="34" charset="-122"/>
                <a:cs typeface="Fira Code" pitchFamily="34" charset="-120"/>
              </a:rPr>
              <a:t> 
</a:t>
            </a:r>
            <a:r>
              <a:rPr lang="en-US" sz="674" i="1" dirty="0">
                <a:solidFill>
                  <a:srgbClr val="666666"/>
                </a:solidFill>
                <a:latin typeface="Fira Code" pitchFamily="34" charset="0"/>
                <a:ea typeface="Fira Code" pitchFamily="34" charset="-122"/>
                <a:cs typeface="Fira Code" pitchFamily="34" charset="-120"/>
              </a:rPr>
              <a:t># Scan des ports Admin, Modbus et EtherNet/IP</a:t>
            </a:r>
            <a:endParaRPr lang="en-US" sz="674" dirty="0"/>
          </a:p>
        </p:txBody>
      </p:sp>
      <p:sp>
        <p:nvSpPr>
          <p:cNvPr id="24" name="Shape 20"/>
          <p:cNvSpPr/>
          <p:nvPr/>
        </p:nvSpPr>
        <p:spPr>
          <a:xfrm>
            <a:off x="4086225" y="1318720"/>
            <a:ext cx="4629150" cy="617209"/>
          </a:xfrm>
          <a:prstGeom prst="rect">
            <a:avLst/>
          </a:prstGeom>
          <a:solidFill>
            <a:srgbClr val="1A1A1A"/>
          </a:solidFill>
          <a:ln/>
        </p:spPr>
        <p:txBody>
          <a:bodyPr/>
          <a:lstStyle/>
          <a:p>
            <a:endParaRPr lang="fr-FR"/>
          </a:p>
        </p:txBody>
      </p:sp>
      <p:sp>
        <p:nvSpPr>
          <p:cNvPr id="25" name="Shape 21"/>
          <p:cNvSpPr/>
          <p:nvPr/>
        </p:nvSpPr>
        <p:spPr>
          <a:xfrm>
            <a:off x="4086225" y="1318720"/>
            <a:ext cx="4629150" cy="142875"/>
          </a:xfrm>
          <a:prstGeom prst="rect">
            <a:avLst/>
          </a:prstGeom>
          <a:solidFill>
            <a:srgbClr val="333333"/>
          </a:solidFill>
          <a:ln/>
        </p:spPr>
        <p:txBody>
          <a:bodyPr/>
          <a:lstStyle/>
          <a:p>
            <a:endParaRPr lang="fr-FR"/>
          </a:p>
        </p:txBody>
      </p:sp>
      <p:sp>
        <p:nvSpPr>
          <p:cNvPr id="26" name="Text 22"/>
          <p:cNvSpPr/>
          <p:nvPr/>
        </p:nvSpPr>
        <p:spPr>
          <a:xfrm>
            <a:off x="4086225" y="1318720"/>
            <a:ext cx="4629150" cy="617209"/>
          </a:xfrm>
          <a:prstGeom prst="rect">
            <a:avLst/>
          </a:prstGeom>
          <a:noFill/>
          <a:ln/>
        </p:spPr>
        <p:txBody>
          <a:bodyPr wrap="square" lIns="127508" tIns="127508" rIns="127508" bIns="127508" rtlCol="0" anchor="t">
            <a:spAutoFit/>
          </a:bodyPr>
          <a:lstStyle/>
          <a:p>
            <a:pPr marL="0" indent="0" algn="l">
              <a:lnSpc>
                <a:spcPts val="1000"/>
              </a:lnSpc>
              <a:buNone/>
            </a:pPr>
            <a:r>
              <a:rPr lang="en-US" sz="674" dirty="0">
                <a:solidFill>
                  <a:srgbClr val="4CAF50"/>
                </a:solidFill>
                <a:latin typeface="Fira Code" pitchFamily="34" charset="0"/>
                <a:ea typeface="Fira Code" pitchFamily="34" charset="-122"/>
                <a:cs typeface="Fira Code" pitchFamily="34" charset="-120"/>
              </a:rPr>
              <a:t>user@ubuntu:~$</a:t>
            </a:r>
            <a:r>
              <a:rPr lang="en-US" sz="674" dirty="0">
                <a:solidFill>
                  <a:srgbClr val="E0E0E0"/>
                </a:solidFill>
                <a:latin typeface="Fira Code" pitchFamily="34" charset="0"/>
                <a:ea typeface="Fira Code" pitchFamily="34" charset="-122"/>
                <a:cs typeface="Fira Code" pitchFamily="34" charset="-120"/>
              </a:rPr>
              <a:t> </a:t>
            </a:r>
            <a:r>
              <a:rPr lang="en-US" sz="674" dirty="0">
                <a:solidFill>
                  <a:srgbClr val="FFFFFF"/>
                </a:solidFill>
                <a:latin typeface="Fira Code" pitchFamily="34" charset="0"/>
                <a:ea typeface="Fira Code" pitchFamily="34" charset="-122"/>
                <a:cs typeface="Fira Code" pitchFamily="34" charset="-120"/>
              </a:rPr>
              <a:t>curl -sI http://localhost:8080/login</a:t>
            </a:r>
            <a:r>
              <a:rPr lang="en-US" sz="674" dirty="0">
                <a:solidFill>
                  <a:srgbClr val="E0E0E0"/>
                </a:solidFill>
                <a:latin typeface="Fira Code" pitchFamily="34" charset="0"/>
                <a:ea typeface="Fira Code" pitchFamily="34" charset="-122"/>
                <a:cs typeface="Fira Code" pitchFamily="34" charset="-120"/>
              </a:rPr>
              <a:t> 
</a:t>
            </a:r>
            <a:r>
              <a:rPr lang="en-US" sz="674" i="1" dirty="0">
                <a:solidFill>
                  <a:srgbClr val="666666"/>
                </a:solidFill>
                <a:latin typeface="Fira Code" pitchFamily="34" charset="0"/>
                <a:ea typeface="Fira Code" pitchFamily="34" charset="-122"/>
                <a:cs typeface="Fira Code" pitchFamily="34" charset="-120"/>
              </a:rPr>
              <a:t># Analyse des headers HTTP de la page de login</a:t>
            </a:r>
            <a:endParaRPr lang="en-US" sz="674" dirty="0"/>
          </a:p>
        </p:txBody>
      </p:sp>
      <p:sp>
        <p:nvSpPr>
          <p:cNvPr id="27" name="Shape 23"/>
          <p:cNvSpPr/>
          <p:nvPr/>
        </p:nvSpPr>
        <p:spPr>
          <a:xfrm>
            <a:off x="4086225" y="1900210"/>
            <a:ext cx="4629150" cy="747220"/>
          </a:xfrm>
          <a:prstGeom prst="rect">
            <a:avLst/>
          </a:prstGeom>
          <a:solidFill>
            <a:srgbClr val="1A1A1A"/>
          </a:solidFill>
          <a:ln/>
        </p:spPr>
        <p:txBody>
          <a:bodyPr/>
          <a:lstStyle/>
          <a:p>
            <a:endParaRPr lang="fr-FR"/>
          </a:p>
        </p:txBody>
      </p:sp>
      <p:sp>
        <p:nvSpPr>
          <p:cNvPr id="28" name="Shape 24"/>
          <p:cNvSpPr/>
          <p:nvPr/>
        </p:nvSpPr>
        <p:spPr>
          <a:xfrm>
            <a:off x="4086225" y="1900210"/>
            <a:ext cx="4629150" cy="142875"/>
          </a:xfrm>
          <a:prstGeom prst="rect">
            <a:avLst/>
          </a:prstGeom>
          <a:solidFill>
            <a:srgbClr val="333333"/>
          </a:solidFill>
          <a:ln/>
        </p:spPr>
        <p:txBody>
          <a:bodyPr/>
          <a:lstStyle/>
          <a:p>
            <a:endParaRPr lang="fr-FR"/>
          </a:p>
        </p:txBody>
      </p:sp>
      <p:sp>
        <p:nvSpPr>
          <p:cNvPr id="29" name="Text 25"/>
          <p:cNvSpPr/>
          <p:nvPr/>
        </p:nvSpPr>
        <p:spPr>
          <a:xfrm>
            <a:off x="4086225" y="1900210"/>
            <a:ext cx="4629150" cy="747220"/>
          </a:xfrm>
          <a:prstGeom prst="rect">
            <a:avLst/>
          </a:prstGeom>
          <a:noFill/>
          <a:ln/>
        </p:spPr>
        <p:txBody>
          <a:bodyPr wrap="square" lIns="127508" tIns="127508" rIns="127508" bIns="127508" rtlCol="0" anchor="t">
            <a:spAutoFit/>
          </a:bodyPr>
          <a:lstStyle/>
          <a:p>
            <a:pPr marL="0" indent="0" algn="l">
              <a:lnSpc>
                <a:spcPts val="1000"/>
              </a:lnSpc>
              <a:buNone/>
            </a:pPr>
            <a:r>
              <a:rPr lang="en-US" sz="674" dirty="0">
                <a:solidFill>
                  <a:srgbClr val="4CAF50"/>
                </a:solidFill>
                <a:latin typeface="Fira Code" pitchFamily="34" charset="0"/>
                <a:ea typeface="Fira Code" pitchFamily="34" charset="-122"/>
                <a:cs typeface="Fira Code" pitchFamily="34" charset="-120"/>
              </a:rPr>
              <a:t>user@ubuntu:~$</a:t>
            </a:r>
            <a:r>
              <a:rPr lang="en-US" sz="674" dirty="0">
                <a:solidFill>
                  <a:srgbClr val="E0E0E0"/>
                </a:solidFill>
                <a:latin typeface="Fira Code" pitchFamily="34" charset="0"/>
                <a:ea typeface="Fira Code" pitchFamily="34" charset="-122"/>
                <a:cs typeface="Fira Code" pitchFamily="34" charset="-120"/>
              </a:rPr>
              <a:t> </a:t>
            </a:r>
            <a:r>
              <a:rPr lang="en-US" sz="674" dirty="0">
                <a:solidFill>
                  <a:srgbClr val="FFFFFF"/>
                </a:solidFill>
                <a:latin typeface="Fira Code" pitchFamily="34" charset="0"/>
                <a:ea typeface="Fira Code" pitchFamily="34" charset="-122"/>
                <a:cs typeface="Fira Code" pitchFamily="34" charset="-120"/>
              </a:rPr>
              <a:t>curl -si -X POST http://localhost:8080/login \</a:t>
            </a:r>
            <a:r>
              <a:rPr lang="en-US" sz="674" dirty="0">
                <a:solidFill>
                  <a:srgbClr val="E0E0E0"/>
                </a:solidFill>
                <a:latin typeface="Fira Code" pitchFamily="34" charset="0"/>
                <a:ea typeface="Fira Code" pitchFamily="34" charset="-122"/>
                <a:cs typeface="Fira Code" pitchFamily="34" charset="-120"/>
              </a:rPr>
              <a:t> 
</a:t>
            </a:r>
            <a:r>
              <a:rPr lang="en-US" sz="674" dirty="0">
                <a:solidFill>
                  <a:srgbClr val="FFFFFF"/>
                </a:solidFill>
                <a:latin typeface="Fira Code" pitchFamily="34" charset="0"/>
                <a:ea typeface="Fira Code" pitchFamily="34" charset="-122"/>
                <a:cs typeface="Fira Code" pitchFamily="34" charset="-120"/>
              </a:rPr>
              <a:t>-d "username=openplc&amp;password=openplc&amp;csrf_token=$CSRF"</a:t>
            </a:r>
            <a:r>
              <a:rPr lang="en-US" sz="674" dirty="0">
                <a:solidFill>
                  <a:srgbClr val="E0E0E0"/>
                </a:solidFill>
                <a:latin typeface="Fira Code" pitchFamily="34" charset="0"/>
                <a:ea typeface="Fira Code" pitchFamily="34" charset="-122"/>
                <a:cs typeface="Fira Code" pitchFamily="34" charset="-120"/>
              </a:rPr>
              <a:t> 
</a:t>
            </a:r>
            <a:r>
              <a:rPr lang="en-US" sz="674" i="1" dirty="0">
                <a:solidFill>
                  <a:srgbClr val="666666"/>
                </a:solidFill>
                <a:latin typeface="Fira Code" pitchFamily="34" charset="0"/>
                <a:ea typeface="Fira Code" pitchFamily="34" charset="-122"/>
                <a:cs typeface="Fira Code" pitchFamily="34" charset="-120"/>
              </a:rPr>
              <a:t># Test d'authentification par défaut</a:t>
            </a:r>
            <a:endParaRPr lang="en-US" sz="674" dirty="0"/>
          </a:p>
        </p:txBody>
      </p:sp>
      <p:sp>
        <p:nvSpPr>
          <p:cNvPr id="30" name="Shape 26"/>
          <p:cNvSpPr/>
          <p:nvPr/>
        </p:nvSpPr>
        <p:spPr>
          <a:xfrm>
            <a:off x="4086225" y="2611710"/>
            <a:ext cx="4629150" cy="617209"/>
          </a:xfrm>
          <a:prstGeom prst="rect">
            <a:avLst/>
          </a:prstGeom>
          <a:solidFill>
            <a:srgbClr val="1A1A1A"/>
          </a:solidFill>
          <a:ln/>
        </p:spPr>
        <p:txBody>
          <a:bodyPr/>
          <a:lstStyle/>
          <a:p>
            <a:endParaRPr lang="fr-FR"/>
          </a:p>
        </p:txBody>
      </p:sp>
      <p:sp>
        <p:nvSpPr>
          <p:cNvPr id="31" name="Shape 27"/>
          <p:cNvSpPr/>
          <p:nvPr/>
        </p:nvSpPr>
        <p:spPr>
          <a:xfrm>
            <a:off x="4086225" y="2611710"/>
            <a:ext cx="4629150" cy="142875"/>
          </a:xfrm>
          <a:prstGeom prst="rect">
            <a:avLst/>
          </a:prstGeom>
          <a:solidFill>
            <a:srgbClr val="333333"/>
          </a:solidFill>
          <a:ln/>
        </p:spPr>
        <p:txBody>
          <a:bodyPr/>
          <a:lstStyle/>
          <a:p>
            <a:endParaRPr lang="fr-FR"/>
          </a:p>
        </p:txBody>
      </p:sp>
      <p:sp>
        <p:nvSpPr>
          <p:cNvPr id="32" name="Text 28"/>
          <p:cNvSpPr/>
          <p:nvPr/>
        </p:nvSpPr>
        <p:spPr>
          <a:xfrm>
            <a:off x="4086225" y="2611710"/>
            <a:ext cx="4629150" cy="617209"/>
          </a:xfrm>
          <a:prstGeom prst="rect">
            <a:avLst/>
          </a:prstGeom>
          <a:noFill/>
          <a:ln/>
        </p:spPr>
        <p:txBody>
          <a:bodyPr wrap="square" lIns="127508" tIns="127508" rIns="127508" bIns="127508" rtlCol="0" anchor="t">
            <a:spAutoFit/>
          </a:bodyPr>
          <a:lstStyle/>
          <a:p>
            <a:pPr marL="0" indent="0" algn="l">
              <a:lnSpc>
                <a:spcPts val="1000"/>
              </a:lnSpc>
              <a:buNone/>
            </a:pPr>
            <a:r>
              <a:rPr lang="en-US" sz="674" dirty="0">
                <a:solidFill>
                  <a:srgbClr val="4CAF50"/>
                </a:solidFill>
                <a:latin typeface="Fira Code" pitchFamily="34" charset="0"/>
                <a:ea typeface="Fira Code" pitchFamily="34" charset="-122"/>
                <a:cs typeface="Fira Code" pitchFamily="34" charset="-120"/>
              </a:rPr>
              <a:t>user@ubuntu:~$</a:t>
            </a:r>
            <a:r>
              <a:rPr lang="en-US" sz="674" dirty="0">
                <a:solidFill>
                  <a:srgbClr val="E0E0E0"/>
                </a:solidFill>
                <a:latin typeface="Fira Code" pitchFamily="34" charset="0"/>
                <a:ea typeface="Fira Code" pitchFamily="34" charset="-122"/>
                <a:cs typeface="Fira Code" pitchFamily="34" charset="-120"/>
              </a:rPr>
              <a:t> </a:t>
            </a:r>
            <a:r>
              <a:rPr lang="en-US" sz="674" dirty="0">
                <a:solidFill>
                  <a:srgbClr val="FFFFFF"/>
                </a:solidFill>
                <a:latin typeface="Fira Code" pitchFamily="34" charset="0"/>
                <a:ea typeface="Fira Code" pitchFamily="34" charset="-122"/>
                <a:cs typeface="Fira Code" pitchFamily="34" charset="-120"/>
              </a:rPr>
              <a:t>nikto -h http://localhost:8080 -nossl</a:t>
            </a:r>
            <a:r>
              <a:rPr lang="en-US" sz="674" dirty="0">
                <a:solidFill>
                  <a:srgbClr val="E0E0E0"/>
                </a:solidFill>
                <a:latin typeface="Fira Code" pitchFamily="34" charset="0"/>
                <a:ea typeface="Fira Code" pitchFamily="34" charset="-122"/>
                <a:cs typeface="Fira Code" pitchFamily="34" charset="-120"/>
              </a:rPr>
              <a:t> 
</a:t>
            </a:r>
            <a:r>
              <a:rPr lang="en-US" sz="674" i="1" dirty="0">
                <a:solidFill>
                  <a:srgbClr val="666666"/>
                </a:solidFill>
                <a:latin typeface="Fira Code" pitchFamily="34" charset="0"/>
                <a:ea typeface="Fira Code" pitchFamily="34" charset="-122"/>
                <a:cs typeface="Fira Code" pitchFamily="34" charset="-120"/>
              </a:rPr>
              <a:t># Scan de vulnérabilités web automatisé</a:t>
            </a:r>
            <a:endParaRPr lang="en-US" sz="674" dirty="0"/>
          </a:p>
        </p:txBody>
      </p:sp>
      <p:sp>
        <p:nvSpPr>
          <p:cNvPr id="33" name="Text 29"/>
          <p:cNvSpPr/>
          <p:nvPr/>
        </p:nvSpPr>
        <p:spPr>
          <a:xfrm>
            <a:off x="4157663" y="622929"/>
            <a:ext cx="214313" cy="100013"/>
          </a:xfrm>
          <a:prstGeom prst="rect">
            <a:avLst/>
          </a:prstGeom>
          <a:noFill/>
          <a:ln/>
        </p:spPr>
        <p:txBody>
          <a:bodyPr wrap="none" lIns="0" tIns="0" rIns="0" bIns="0" rtlCol="0" anchor="t">
            <a:spAutoFit/>
          </a:bodyPr>
          <a:lstStyle/>
          <a:p>
            <a:pPr marL="0" indent="0" algn="l">
              <a:lnSpc>
                <a:spcPts val="800"/>
              </a:lnSpc>
              <a:buNone/>
            </a:pPr>
            <a:r>
              <a:rPr lang="en-US" sz="516" dirty="0">
                <a:solidFill>
                  <a:srgbClr val="666666"/>
                </a:solidFill>
                <a:latin typeface="Fira Code" pitchFamily="34" charset="0"/>
                <a:ea typeface="Fira Code" pitchFamily="34" charset="-122"/>
                <a:cs typeface="Fira Code" pitchFamily="34" charset="-120"/>
              </a:rPr>
              <a:t>● ● ●</a:t>
            </a:r>
            <a:endParaRPr lang="en-US" sz="516" dirty="0"/>
          </a:p>
        </p:txBody>
      </p:sp>
      <p:sp>
        <p:nvSpPr>
          <p:cNvPr id="34" name="Text 30"/>
          <p:cNvSpPr/>
          <p:nvPr/>
        </p:nvSpPr>
        <p:spPr>
          <a:xfrm>
            <a:off x="4157663" y="1204420"/>
            <a:ext cx="214313" cy="100013"/>
          </a:xfrm>
          <a:prstGeom prst="rect">
            <a:avLst/>
          </a:prstGeom>
          <a:noFill/>
          <a:ln/>
        </p:spPr>
        <p:txBody>
          <a:bodyPr wrap="none" lIns="0" tIns="0" rIns="0" bIns="0" rtlCol="0" anchor="t">
            <a:spAutoFit/>
          </a:bodyPr>
          <a:lstStyle/>
          <a:p>
            <a:pPr marL="0" indent="0" algn="l">
              <a:lnSpc>
                <a:spcPts val="800"/>
              </a:lnSpc>
              <a:buNone/>
            </a:pPr>
            <a:r>
              <a:rPr lang="en-US" sz="516" dirty="0">
                <a:solidFill>
                  <a:srgbClr val="666666"/>
                </a:solidFill>
                <a:latin typeface="Fira Code" pitchFamily="34" charset="0"/>
                <a:ea typeface="Fira Code" pitchFamily="34" charset="-122"/>
                <a:cs typeface="Fira Code" pitchFamily="34" charset="-120"/>
              </a:rPr>
              <a:t>● ● ●</a:t>
            </a:r>
            <a:endParaRPr lang="en-US" sz="516" dirty="0"/>
          </a:p>
        </p:txBody>
      </p:sp>
      <p:sp>
        <p:nvSpPr>
          <p:cNvPr id="35" name="Text 31"/>
          <p:cNvSpPr/>
          <p:nvPr/>
        </p:nvSpPr>
        <p:spPr>
          <a:xfrm>
            <a:off x="4157663" y="1785910"/>
            <a:ext cx="214313" cy="100013"/>
          </a:xfrm>
          <a:prstGeom prst="rect">
            <a:avLst/>
          </a:prstGeom>
          <a:noFill/>
          <a:ln/>
        </p:spPr>
        <p:txBody>
          <a:bodyPr wrap="none" lIns="0" tIns="0" rIns="0" bIns="0" rtlCol="0" anchor="t">
            <a:spAutoFit/>
          </a:bodyPr>
          <a:lstStyle/>
          <a:p>
            <a:pPr marL="0" indent="0" algn="l">
              <a:lnSpc>
                <a:spcPts val="800"/>
              </a:lnSpc>
              <a:buNone/>
            </a:pPr>
            <a:r>
              <a:rPr lang="en-US" sz="516" dirty="0">
                <a:solidFill>
                  <a:srgbClr val="666666"/>
                </a:solidFill>
                <a:latin typeface="Fira Code" pitchFamily="34" charset="0"/>
                <a:ea typeface="Fira Code" pitchFamily="34" charset="-122"/>
                <a:cs typeface="Fira Code" pitchFamily="34" charset="-120"/>
              </a:rPr>
              <a:t>● ● ●</a:t>
            </a:r>
            <a:endParaRPr lang="en-US" sz="516" dirty="0"/>
          </a:p>
        </p:txBody>
      </p:sp>
      <p:sp>
        <p:nvSpPr>
          <p:cNvPr id="36" name="Text 32"/>
          <p:cNvSpPr/>
          <p:nvPr/>
        </p:nvSpPr>
        <p:spPr>
          <a:xfrm>
            <a:off x="4157663" y="2497410"/>
            <a:ext cx="214313" cy="100013"/>
          </a:xfrm>
          <a:prstGeom prst="rect">
            <a:avLst/>
          </a:prstGeom>
          <a:noFill/>
          <a:ln/>
        </p:spPr>
        <p:txBody>
          <a:bodyPr wrap="none" lIns="0" tIns="0" rIns="0" bIns="0" rtlCol="0" anchor="t">
            <a:spAutoFit/>
          </a:bodyPr>
          <a:lstStyle/>
          <a:p>
            <a:pPr marL="0" indent="0" algn="l">
              <a:lnSpc>
                <a:spcPts val="800"/>
              </a:lnSpc>
              <a:buNone/>
            </a:pPr>
            <a:r>
              <a:rPr lang="en-US" sz="516" dirty="0">
                <a:solidFill>
                  <a:srgbClr val="666666"/>
                </a:solidFill>
                <a:latin typeface="Fira Code" pitchFamily="34" charset="0"/>
                <a:ea typeface="Fira Code" pitchFamily="34" charset="-122"/>
                <a:cs typeface="Fira Code" pitchFamily="34" charset="-120"/>
              </a:rPr>
              <a:t>● ● ●</a:t>
            </a:r>
            <a:endParaRPr lang="en-US" sz="516"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714375" y="285750"/>
            <a:ext cx="8001000" cy="308604"/>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A0A0A"/>
                </a:solidFill>
                <a:latin typeface="Roboto" pitchFamily="34" charset="0"/>
                <a:ea typeface="Roboto" pitchFamily="34" charset="-122"/>
                <a:cs typeface="Roboto" pitchFamily="34" charset="-120"/>
              </a:rPr>
              <a:t>ANNEXES III : DUMPS DE CONFIGURATION &amp; BASE DE DONNÉES</a:t>
            </a:r>
            <a:endParaRPr lang="en-US" sz="1808" dirty="0"/>
          </a:p>
        </p:txBody>
      </p:sp>
      <p:pic>
        <p:nvPicPr>
          <p:cNvPr id="5" name="Image 1" descr="preencoded.png"/>
          <p:cNvPicPr>
            <a:picLocks noChangeAspect="1"/>
          </p:cNvPicPr>
          <p:nvPr/>
        </p:nvPicPr>
        <p:blipFill>
          <a:blip r:embed="rId4"/>
          <a:stretch>
            <a:fillRect/>
          </a:stretch>
        </p:blipFill>
        <p:spPr>
          <a:xfrm>
            <a:off x="714375" y="744373"/>
            <a:ext cx="160734" cy="128588"/>
          </a:xfrm>
          <a:prstGeom prst="rect">
            <a:avLst/>
          </a:prstGeom>
        </p:spPr>
      </p:pic>
      <p:sp>
        <p:nvSpPr>
          <p:cNvPr id="6" name="Text 1"/>
          <p:cNvSpPr/>
          <p:nvPr/>
        </p:nvSpPr>
        <p:spPr>
          <a:xfrm>
            <a:off x="875109" y="737229"/>
            <a:ext cx="1741289"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TABLE USERS (OPENPLC.DB)</a:t>
            </a:r>
            <a:endParaRPr lang="en-US" sz="885" dirty="0"/>
          </a:p>
        </p:txBody>
      </p:sp>
      <p:sp>
        <p:nvSpPr>
          <p:cNvPr id="7" name="Shape 2"/>
          <p:cNvSpPr/>
          <p:nvPr/>
        </p:nvSpPr>
        <p:spPr>
          <a:xfrm>
            <a:off x="714375" y="996190"/>
            <a:ext cx="3857625" cy="1437122"/>
          </a:xfrm>
          <a:prstGeom prst="rect">
            <a:avLst/>
          </a:prstGeom>
          <a:solidFill>
            <a:srgbClr val="1A1A1A"/>
          </a:solidFill>
          <a:ln/>
        </p:spPr>
        <p:txBody>
          <a:bodyPr/>
          <a:lstStyle/>
          <a:p>
            <a:endParaRPr lang="fr-FR"/>
          </a:p>
        </p:txBody>
      </p:sp>
      <p:sp>
        <p:nvSpPr>
          <p:cNvPr id="8" name="Shape 3"/>
          <p:cNvSpPr/>
          <p:nvPr/>
        </p:nvSpPr>
        <p:spPr>
          <a:xfrm>
            <a:off x="714375" y="996190"/>
            <a:ext cx="3857625" cy="142875"/>
          </a:xfrm>
          <a:prstGeom prst="rect">
            <a:avLst/>
          </a:prstGeom>
          <a:solidFill>
            <a:srgbClr val="333333"/>
          </a:solidFill>
          <a:ln/>
        </p:spPr>
        <p:txBody>
          <a:bodyPr/>
          <a:lstStyle/>
          <a:p>
            <a:endParaRPr lang="fr-FR"/>
          </a:p>
        </p:txBody>
      </p:sp>
      <p:sp>
        <p:nvSpPr>
          <p:cNvPr id="9" name="Text 4"/>
          <p:cNvSpPr/>
          <p:nvPr/>
        </p:nvSpPr>
        <p:spPr>
          <a:xfrm>
            <a:off x="714375" y="996190"/>
            <a:ext cx="3857625" cy="1437122"/>
          </a:xfrm>
          <a:prstGeom prst="rect">
            <a:avLst/>
          </a:prstGeom>
          <a:noFill/>
          <a:ln/>
        </p:spPr>
        <p:txBody>
          <a:bodyPr wrap="square" lIns="127508" tIns="127508" rIns="127508" bIns="127508" rtlCol="0" anchor="t">
            <a:spAutoFit/>
          </a:bodyPr>
          <a:lstStyle/>
          <a:p>
            <a:pPr marL="0" indent="0" algn="l">
              <a:lnSpc>
                <a:spcPts val="900"/>
              </a:lnSpc>
              <a:buNone/>
            </a:pPr>
            <a:r>
              <a:rPr lang="en-US" sz="621" dirty="0">
                <a:solidFill>
                  <a:srgbClr val="4CAF50"/>
                </a:solidFill>
                <a:latin typeface="Fira Code" pitchFamily="34" charset="0"/>
                <a:ea typeface="Fira Code" pitchFamily="34" charset="-122"/>
                <a:cs typeface="Fira Code" pitchFamily="34" charset="-120"/>
              </a:rPr>
              <a:t>sqlite3 openplc.db "PRAGMA table_info(Users);"</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0 | user_id | INTEGER | 1 | | 1</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1 | name | TEXT | 1 | | 0</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2 | username| TEXT | 1 | | 0</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3 | email | TEXT | 0 | | 0</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4 | password| TEXT | 1 | | 0</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4CAF50"/>
                </a:solidFill>
                <a:latin typeface="Fira Code" pitchFamily="34" charset="0"/>
                <a:ea typeface="Fira Code" pitchFamily="34" charset="-122"/>
                <a:cs typeface="Fira Code" pitchFamily="34" charset="-120"/>
              </a:rPr>
              <a:t>sqlite3 openplc.db "SELECT * FROM Users;"</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10 | OpenPLC User | openplc | openplc@openplc.com | </a:t>
            </a:r>
            <a:r>
              <a:rPr lang="en-US" sz="584" b="1" dirty="0">
                <a:solidFill>
                  <a:srgbClr val="FF5252"/>
                </a:solidFill>
                <a:latin typeface="Fira Code" pitchFamily="34" charset="0"/>
                <a:ea typeface="Fira Code" pitchFamily="34" charset="-122"/>
                <a:cs typeface="Fira Code" pitchFamily="34" charset="-120"/>
              </a:rPr>
              <a:t>openplc</a:t>
            </a:r>
            <a:r>
              <a:rPr lang="en-US" sz="621" dirty="0">
                <a:solidFill>
                  <a:srgbClr val="FFFFFF"/>
                </a:solidFill>
                <a:latin typeface="Fira Code" pitchFamily="34" charset="0"/>
                <a:ea typeface="Fira Code" pitchFamily="34" charset="-122"/>
                <a:cs typeface="Fira Code" pitchFamily="34" charset="-120"/>
              </a:rPr>
              <a:t> |</a:t>
            </a:r>
            <a:endParaRPr lang="en-US" sz="621" dirty="0"/>
          </a:p>
        </p:txBody>
      </p:sp>
      <p:sp>
        <p:nvSpPr>
          <p:cNvPr id="10" name="Text 5"/>
          <p:cNvSpPr/>
          <p:nvPr/>
        </p:nvSpPr>
        <p:spPr>
          <a:xfrm>
            <a:off x="785813" y="881890"/>
            <a:ext cx="214313" cy="100013"/>
          </a:xfrm>
          <a:prstGeom prst="rect">
            <a:avLst/>
          </a:prstGeom>
          <a:noFill/>
          <a:ln/>
        </p:spPr>
        <p:txBody>
          <a:bodyPr wrap="none" lIns="0" tIns="0" rIns="0" bIns="0" rtlCol="0" anchor="t">
            <a:spAutoFit/>
          </a:bodyPr>
          <a:lstStyle/>
          <a:p>
            <a:pPr marL="0" indent="0" algn="l">
              <a:lnSpc>
                <a:spcPts val="800"/>
              </a:lnSpc>
              <a:buNone/>
            </a:pPr>
            <a:r>
              <a:rPr lang="en-US" sz="516" dirty="0">
                <a:solidFill>
                  <a:srgbClr val="666666"/>
                </a:solidFill>
                <a:latin typeface="Fira Code" pitchFamily="34" charset="0"/>
                <a:ea typeface="Fira Code" pitchFamily="34" charset="-122"/>
                <a:cs typeface="Fira Code" pitchFamily="34" charset="-120"/>
              </a:rPr>
              <a:t>● ● ●</a:t>
            </a:r>
            <a:endParaRPr lang="en-US" sz="516" dirty="0"/>
          </a:p>
        </p:txBody>
      </p:sp>
      <p:pic>
        <p:nvPicPr>
          <p:cNvPr id="11" name="Image 2" descr="preencoded.png"/>
          <p:cNvPicPr>
            <a:picLocks noChangeAspect="1"/>
          </p:cNvPicPr>
          <p:nvPr/>
        </p:nvPicPr>
        <p:blipFill>
          <a:blip r:embed="rId5"/>
          <a:stretch>
            <a:fillRect/>
          </a:stretch>
        </p:blipFill>
        <p:spPr>
          <a:xfrm>
            <a:off x="4857750" y="744373"/>
            <a:ext cx="160734" cy="128588"/>
          </a:xfrm>
          <a:prstGeom prst="rect">
            <a:avLst/>
          </a:prstGeom>
        </p:spPr>
      </p:pic>
      <p:sp>
        <p:nvSpPr>
          <p:cNvPr id="12" name="Text 6"/>
          <p:cNvSpPr/>
          <p:nvPr/>
        </p:nvSpPr>
        <p:spPr>
          <a:xfrm>
            <a:off x="5018484" y="737229"/>
            <a:ext cx="1952030" cy="151805"/>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242424"/>
                </a:solidFill>
                <a:latin typeface="Roboto" pitchFamily="34" charset="0"/>
                <a:ea typeface="Roboto" pitchFamily="34" charset="-122"/>
                <a:cs typeface="Roboto" pitchFamily="34" charset="-120"/>
              </a:rPr>
              <a:t>TABLE SETTINGS (OPENPLC.DB)</a:t>
            </a:r>
            <a:endParaRPr lang="en-US" sz="885" dirty="0"/>
          </a:p>
        </p:txBody>
      </p:sp>
      <p:sp>
        <p:nvSpPr>
          <p:cNvPr id="13" name="Shape 7"/>
          <p:cNvSpPr/>
          <p:nvPr/>
        </p:nvSpPr>
        <p:spPr>
          <a:xfrm>
            <a:off x="4857750" y="996190"/>
            <a:ext cx="3857625" cy="1437122"/>
          </a:xfrm>
          <a:prstGeom prst="rect">
            <a:avLst/>
          </a:prstGeom>
          <a:solidFill>
            <a:srgbClr val="1A1A1A"/>
          </a:solidFill>
          <a:ln/>
        </p:spPr>
        <p:txBody>
          <a:bodyPr/>
          <a:lstStyle/>
          <a:p>
            <a:endParaRPr lang="fr-FR"/>
          </a:p>
        </p:txBody>
      </p:sp>
      <p:sp>
        <p:nvSpPr>
          <p:cNvPr id="14" name="Shape 8"/>
          <p:cNvSpPr/>
          <p:nvPr/>
        </p:nvSpPr>
        <p:spPr>
          <a:xfrm>
            <a:off x="4857750" y="996190"/>
            <a:ext cx="3857625" cy="142875"/>
          </a:xfrm>
          <a:prstGeom prst="rect">
            <a:avLst/>
          </a:prstGeom>
          <a:solidFill>
            <a:srgbClr val="333333"/>
          </a:solidFill>
          <a:ln/>
        </p:spPr>
        <p:txBody>
          <a:bodyPr/>
          <a:lstStyle/>
          <a:p>
            <a:endParaRPr lang="fr-FR"/>
          </a:p>
        </p:txBody>
      </p:sp>
      <p:sp>
        <p:nvSpPr>
          <p:cNvPr id="15" name="Text 9"/>
          <p:cNvSpPr/>
          <p:nvPr/>
        </p:nvSpPr>
        <p:spPr>
          <a:xfrm>
            <a:off x="4857750" y="996190"/>
            <a:ext cx="3857625" cy="1437122"/>
          </a:xfrm>
          <a:prstGeom prst="rect">
            <a:avLst/>
          </a:prstGeom>
          <a:noFill/>
          <a:ln/>
        </p:spPr>
        <p:txBody>
          <a:bodyPr wrap="square" lIns="127508" tIns="127508" rIns="127508" bIns="127508" rtlCol="0" anchor="t">
            <a:spAutoFit/>
          </a:bodyPr>
          <a:lstStyle/>
          <a:p>
            <a:pPr marL="0" indent="0" algn="l">
              <a:lnSpc>
                <a:spcPts val="900"/>
              </a:lnSpc>
              <a:buNone/>
            </a:pPr>
            <a:r>
              <a:rPr lang="en-US" sz="621" dirty="0">
                <a:solidFill>
                  <a:srgbClr val="4CAF50"/>
                </a:solidFill>
                <a:latin typeface="Fira Code" pitchFamily="34" charset="0"/>
                <a:ea typeface="Fira Code" pitchFamily="34" charset="-122"/>
                <a:cs typeface="Fira Code" pitchFamily="34" charset="-120"/>
              </a:rPr>
              <a:t>sqlite3 openplc.db "SELECT * FROM Settings;"</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Modbus_port | 502</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Dnp3_port | disabled</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Start_run_mode | false</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Slave_polling | 100</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Slave_timeout | 1000</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Enip_port | 44818</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Pstorage_polling | disabled</a:t>
            </a:r>
            <a:r>
              <a:rPr lang="en-US" sz="621" dirty="0">
                <a:solidFill>
                  <a:srgbClr val="E0E0E0"/>
                </a:solidFill>
                <a:latin typeface="Fira Code" pitchFamily="34" charset="0"/>
                <a:ea typeface="Fira Code" pitchFamily="34" charset="-122"/>
                <a:cs typeface="Fira Code" pitchFamily="34" charset="-120"/>
              </a:rPr>
              <a:t> 
</a:t>
            </a:r>
            <a:r>
              <a:rPr lang="en-US" sz="621" dirty="0">
                <a:solidFill>
                  <a:srgbClr val="FFFFFF"/>
                </a:solidFill>
                <a:latin typeface="Fira Code" pitchFamily="34" charset="0"/>
                <a:ea typeface="Fira Code" pitchFamily="34" charset="-122"/>
                <a:cs typeface="Fira Code" pitchFamily="34" charset="-120"/>
              </a:rPr>
              <a:t>snap7 | true</a:t>
            </a:r>
            <a:endParaRPr lang="en-US" sz="621" dirty="0"/>
          </a:p>
        </p:txBody>
      </p:sp>
      <p:sp>
        <p:nvSpPr>
          <p:cNvPr id="16" name="Text 10"/>
          <p:cNvSpPr/>
          <p:nvPr/>
        </p:nvSpPr>
        <p:spPr>
          <a:xfrm>
            <a:off x="4929188" y="881890"/>
            <a:ext cx="214313" cy="100013"/>
          </a:xfrm>
          <a:prstGeom prst="rect">
            <a:avLst/>
          </a:prstGeom>
          <a:noFill/>
          <a:ln/>
        </p:spPr>
        <p:txBody>
          <a:bodyPr wrap="none" lIns="0" tIns="0" rIns="0" bIns="0" rtlCol="0" anchor="t">
            <a:spAutoFit/>
          </a:bodyPr>
          <a:lstStyle/>
          <a:p>
            <a:pPr marL="0" indent="0" algn="l">
              <a:lnSpc>
                <a:spcPts val="800"/>
              </a:lnSpc>
              <a:buNone/>
            </a:pPr>
            <a:r>
              <a:rPr lang="en-US" sz="516" dirty="0">
                <a:solidFill>
                  <a:srgbClr val="666666"/>
                </a:solidFill>
                <a:latin typeface="Fira Code" pitchFamily="34" charset="0"/>
                <a:ea typeface="Fira Code" pitchFamily="34" charset="-122"/>
                <a:cs typeface="Fira Code" pitchFamily="34" charset="-120"/>
              </a:rPr>
              <a:t>● ● ●</a:t>
            </a:r>
            <a:endParaRPr lang="en-US" sz="516"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4626</Words>
  <Application>Microsoft Office PowerPoint</Application>
  <PresentationFormat>Affichage à l'écran (16:9)</PresentationFormat>
  <Paragraphs>360</Paragraphs>
  <Slides>17</Slides>
  <Notes>17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17</vt:i4>
      </vt:variant>
    </vt:vector>
  </HeadingPairs>
  <TitlesOfParts>
    <vt:vector size="23" baseType="lpstr">
      <vt:lpstr>Arial</vt:lpstr>
      <vt:lpstr>Fira Code</vt:lpstr>
      <vt:lpstr>monospace</vt:lpstr>
      <vt:lpstr>Open Sans</vt:lpstr>
      <vt:lpstr>Roboto</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Jeremy Oui-Oui</cp:lastModifiedBy>
  <cp:revision>5</cp:revision>
  <dcterms:created xsi:type="dcterms:W3CDTF">2026-04-03T09:42:34Z</dcterms:created>
  <dcterms:modified xsi:type="dcterms:W3CDTF">2026-04-03T12:23:05Z</dcterms:modified>
</cp:coreProperties>
</file>